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3.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2" r:id="rId2"/>
    <p:sldMasterId id="2147483648" r:id="rId3"/>
    <p:sldMasterId id="2147483684" r:id="rId4"/>
  </p:sldMasterIdLst>
  <p:notesMasterIdLst>
    <p:notesMasterId r:id="rId23"/>
  </p:notesMasterIdLst>
  <p:sldIdLst>
    <p:sldId id="256" r:id="rId5"/>
    <p:sldId id="257" r:id="rId6"/>
    <p:sldId id="258" r:id="rId7"/>
    <p:sldId id="259" r:id="rId8"/>
    <p:sldId id="260" r:id="rId9"/>
    <p:sldId id="261" r:id="rId10"/>
    <p:sldId id="262" r:id="rId11"/>
    <p:sldId id="263" r:id="rId12"/>
    <p:sldId id="264" r:id="rId13"/>
    <p:sldId id="267" r:id="rId14"/>
    <p:sldId id="268" r:id="rId15"/>
    <p:sldId id="276" r:id="rId16"/>
    <p:sldId id="272" r:id="rId17"/>
    <p:sldId id="273" r:id="rId18"/>
    <p:sldId id="274" r:id="rId19"/>
    <p:sldId id="275" r:id="rId20"/>
    <p:sldId id="265" r:id="rId21"/>
    <p:sldId id="266" r:id="rId22"/>
  </p:sldIdLst>
  <p:sldSz cx="12192000" cy="6858000"/>
  <p:notesSz cx="6858000" cy="9144000"/>
  <p:defaultText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AEBFA"/>
    <a:srgbClr val="DAE0FA"/>
    <a:srgbClr val="66CCFF"/>
    <a:srgbClr val="33CCFF"/>
    <a:srgbClr val="237573"/>
    <a:srgbClr val="6F75EF"/>
    <a:srgbClr val="468BBA"/>
    <a:srgbClr val="A3D88E"/>
    <a:srgbClr val="66FF66"/>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slideMaster" Target="slideMasters/slideMaster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648C981-8212-464B-8924-99BB49EAE430}"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3C63AC9D-FD42-4706-A496-860A57EA1BF5}">
      <dgm:prSet/>
      <dgm:spPr/>
      <dgm:t>
        <a:bodyPr/>
        <a:lstStyle/>
        <a:p>
          <a:pPr algn="ctr"/>
          <a:r>
            <a:rPr lang="el-GR" b="1" dirty="0"/>
            <a:t>Ονοματεπώνυμο-ΑΜ μελών:</a:t>
          </a:r>
          <a:endParaRPr lang="en-US" dirty="0"/>
        </a:p>
      </dgm:t>
    </dgm:pt>
    <dgm:pt modelId="{ABE8C6EF-83EF-427C-88AB-A38F92A3F858}" type="parTrans" cxnId="{87BF8BCC-3876-4B49-B3FA-22DB6FBF8220}">
      <dgm:prSet/>
      <dgm:spPr/>
      <dgm:t>
        <a:bodyPr/>
        <a:lstStyle/>
        <a:p>
          <a:endParaRPr lang="en-US"/>
        </a:p>
      </dgm:t>
    </dgm:pt>
    <dgm:pt modelId="{60EDAE9A-BFD0-4FA8-AA4A-4F4916683ED8}" type="sibTrans" cxnId="{87BF8BCC-3876-4B49-B3FA-22DB6FBF8220}">
      <dgm:prSet/>
      <dgm:spPr/>
      <dgm:t>
        <a:bodyPr/>
        <a:lstStyle/>
        <a:p>
          <a:endParaRPr lang="en-US"/>
        </a:p>
      </dgm:t>
    </dgm:pt>
    <dgm:pt modelId="{5028D87F-E361-44E1-B8CB-48C1870C4037}">
      <dgm:prSet/>
      <dgm:spPr/>
      <dgm:t>
        <a:bodyPr/>
        <a:lstStyle/>
        <a:p>
          <a:r>
            <a:rPr lang="el-GR"/>
            <a:t>ΜΟΝΟΧΟΛΙΑΣ ΙΩΑΝΝΗΣ – 3230128</a:t>
          </a:r>
          <a:endParaRPr lang="en-US"/>
        </a:p>
      </dgm:t>
    </dgm:pt>
    <dgm:pt modelId="{64730A2C-0F62-49DA-9B96-2F03D6F1C03C}" type="parTrans" cxnId="{343D71DA-DAAA-4AF4-8AB1-EBB611D05225}">
      <dgm:prSet/>
      <dgm:spPr/>
      <dgm:t>
        <a:bodyPr/>
        <a:lstStyle/>
        <a:p>
          <a:endParaRPr lang="en-US"/>
        </a:p>
      </dgm:t>
    </dgm:pt>
    <dgm:pt modelId="{E8EC2577-66FE-42FB-81A7-ACCCDCDEDBEC}" type="sibTrans" cxnId="{343D71DA-DAAA-4AF4-8AB1-EBB611D05225}">
      <dgm:prSet/>
      <dgm:spPr/>
      <dgm:t>
        <a:bodyPr/>
        <a:lstStyle/>
        <a:p>
          <a:endParaRPr lang="en-US"/>
        </a:p>
      </dgm:t>
    </dgm:pt>
    <dgm:pt modelId="{26C641EB-0954-441F-9608-B218D7B29A8B}">
      <dgm:prSet/>
      <dgm:spPr/>
      <dgm:t>
        <a:bodyPr/>
        <a:lstStyle/>
        <a:p>
          <a:r>
            <a:rPr lang="el-GR"/>
            <a:t>ΜΠΑΝΟΣ ΒΑΣΙΛΕΙΟΣ - 3230132</a:t>
          </a:r>
          <a:endParaRPr lang="en-US"/>
        </a:p>
      </dgm:t>
    </dgm:pt>
    <dgm:pt modelId="{D178A482-84D3-4C1E-B9F2-19E43CD37C3F}" type="parTrans" cxnId="{A7F2F32D-B1C0-4B77-B34F-B869EFBB4253}">
      <dgm:prSet/>
      <dgm:spPr/>
      <dgm:t>
        <a:bodyPr/>
        <a:lstStyle/>
        <a:p>
          <a:endParaRPr lang="en-US"/>
        </a:p>
      </dgm:t>
    </dgm:pt>
    <dgm:pt modelId="{427D89FB-1899-4916-826A-F9618539449D}" type="sibTrans" cxnId="{A7F2F32D-B1C0-4B77-B34F-B869EFBB4253}">
      <dgm:prSet/>
      <dgm:spPr/>
      <dgm:t>
        <a:bodyPr/>
        <a:lstStyle/>
        <a:p>
          <a:endParaRPr lang="en-US"/>
        </a:p>
      </dgm:t>
    </dgm:pt>
    <dgm:pt modelId="{1F8F414C-505C-44EB-BF81-D52E46BE30D8}">
      <dgm:prSet/>
      <dgm:spPr/>
      <dgm:t>
        <a:bodyPr/>
        <a:lstStyle/>
        <a:p>
          <a:r>
            <a:rPr lang="el-GR"/>
            <a:t>ΤΑΣΣΟΠΟΥΛΟΣ ΔΗΜΗΤΡΙΟΣ – 3230281</a:t>
          </a:r>
          <a:endParaRPr lang="en-US"/>
        </a:p>
      </dgm:t>
    </dgm:pt>
    <dgm:pt modelId="{AE51F959-DD3A-4410-93D2-A0C80A21933F}" type="parTrans" cxnId="{6CF0C3BA-F277-4728-9E3E-F05378E8DA90}">
      <dgm:prSet/>
      <dgm:spPr/>
      <dgm:t>
        <a:bodyPr/>
        <a:lstStyle/>
        <a:p>
          <a:endParaRPr lang="en-US"/>
        </a:p>
      </dgm:t>
    </dgm:pt>
    <dgm:pt modelId="{C43105C2-07F2-47EF-98D3-2A8F19F04E47}" type="sibTrans" cxnId="{6CF0C3BA-F277-4728-9E3E-F05378E8DA90}">
      <dgm:prSet/>
      <dgm:spPr/>
      <dgm:t>
        <a:bodyPr/>
        <a:lstStyle/>
        <a:p>
          <a:endParaRPr lang="en-US"/>
        </a:p>
      </dgm:t>
    </dgm:pt>
    <dgm:pt modelId="{695536CE-B67F-4D13-8DB1-9F7F517D3E18}">
      <dgm:prSet/>
      <dgm:spPr/>
      <dgm:t>
        <a:bodyPr/>
        <a:lstStyle/>
        <a:p>
          <a:r>
            <a:rPr lang="el-GR"/>
            <a:t>ΠΑΡΑΣΚΕΥΗ ΜΑΡΙΑ ΑΝΔΡΕΑΔΗ – </a:t>
          </a:r>
          <a:r>
            <a:rPr lang="en-US"/>
            <a:t>3230009</a:t>
          </a:r>
        </a:p>
      </dgm:t>
    </dgm:pt>
    <dgm:pt modelId="{2F6242BB-5C68-434C-A491-E037CFADD3A3}" type="parTrans" cxnId="{C778A90D-99F0-4803-8EA8-DE0CB000211C}">
      <dgm:prSet/>
      <dgm:spPr/>
      <dgm:t>
        <a:bodyPr/>
        <a:lstStyle/>
        <a:p>
          <a:endParaRPr lang="en-US"/>
        </a:p>
      </dgm:t>
    </dgm:pt>
    <dgm:pt modelId="{E93084B1-2E8F-4316-9661-8B992BF7A383}" type="sibTrans" cxnId="{C778A90D-99F0-4803-8EA8-DE0CB000211C}">
      <dgm:prSet/>
      <dgm:spPr/>
      <dgm:t>
        <a:bodyPr/>
        <a:lstStyle/>
        <a:p>
          <a:endParaRPr lang="en-US"/>
        </a:p>
      </dgm:t>
    </dgm:pt>
    <dgm:pt modelId="{6C1DDEE5-762F-49ED-AB06-526EE34FC237}">
      <dgm:prSet/>
      <dgm:spPr/>
      <dgm:t>
        <a:bodyPr/>
        <a:lstStyle/>
        <a:p>
          <a:r>
            <a:rPr lang="el-GR"/>
            <a:t>ΔΩΡΟΘΕΑ ΚΑΒΒΑΔΑ – </a:t>
          </a:r>
          <a:r>
            <a:rPr lang="en-US"/>
            <a:t>3230314</a:t>
          </a:r>
        </a:p>
      </dgm:t>
    </dgm:pt>
    <dgm:pt modelId="{6AA19C22-A3D5-4966-B0D7-29E90B1EB36F}" type="parTrans" cxnId="{1960303C-10A9-49A4-96C6-64AE6D78C982}">
      <dgm:prSet/>
      <dgm:spPr/>
      <dgm:t>
        <a:bodyPr/>
        <a:lstStyle/>
        <a:p>
          <a:endParaRPr lang="en-US"/>
        </a:p>
      </dgm:t>
    </dgm:pt>
    <dgm:pt modelId="{CFBADCEB-5ADF-4DAB-A65E-10CD1A4E4D35}" type="sibTrans" cxnId="{1960303C-10A9-49A4-96C6-64AE6D78C982}">
      <dgm:prSet/>
      <dgm:spPr/>
      <dgm:t>
        <a:bodyPr/>
        <a:lstStyle/>
        <a:p>
          <a:endParaRPr lang="en-US"/>
        </a:p>
      </dgm:t>
    </dgm:pt>
    <dgm:pt modelId="{8C4ACC7A-09D5-4FF9-8DC0-9DF1ECAE179A}" type="pres">
      <dgm:prSet presAssocID="{7648C981-8212-464B-8924-99BB49EAE430}" presName="linear" presStyleCnt="0">
        <dgm:presLayoutVars>
          <dgm:animLvl val="lvl"/>
          <dgm:resizeHandles val="exact"/>
        </dgm:presLayoutVars>
      </dgm:prSet>
      <dgm:spPr/>
    </dgm:pt>
    <dgm:pt modelId="{6F1A55F5-F518-436F-B92B-B04E34B7B37A}" type="pres">
      <dgm:prSet presAssocID="{3C63AC9D-FD42-4706-A496-860A57EA1BF5}" presName="parentText" presStyleLbl="node1" presStyleIdx="0" presStyleCnt="6">
        <dgm:presLayoutVars>
          <dgm:chMax val="0"/>
          <dgm:bulletEnabled val="1"/>
        </dgm:presLayoutVars>
      </dgm:prSet>
      <dgm:spPr/>
    </dgm:pt>
    <dgm:pt modelId="{4E0C6455-FCD7-4E40-B33B-DDF8AED5D366}" type="pres">
      <dgm:prSet presAssocID="{60EDAE9A-BFD0-4FA8-AA4A-4F4916683ED8}" presName="spacer" presStyleCnt="0"/>
      <dgm:spPr/>
    </dgm:pt>
    <dgm:pt modelId="{C95E4BBD-D910-4DB7-A3FF-85274FF15AC8}" type="pres">
      <dgm:prSet presAssocID="{5028D87F-E361-44E1-B8CB-48C1870C4037}" presName="parentText" presStyleLbl="node1" presStyleIdx="1" presStyleCnt="6">
        <dgm:presLayoutVars>
          <dgm:chMax val="0"/>
          <dgm:bulletEnabled val="1"/>
        </dgm:presLayoutVars>
      </dgm:prSet>
      <dgm:spPr/>
    </dgm:pt>
    <dgm:pt modelId="{882E1176-7FC3-4B4C-B296-F3D907B927CB}" type="pres">
      <dgm:prSet presAssocID="{E8EC2577-66FE-42FB-81A7-ACCCDCDEDBEC}" presName="spacer" presStyleCnt="0"/>
      <dgm:spPr/>
    </dgm:pt>
    <dgm:pt modelId="{C65EE148-C96D-403D-BD32-7ECB0E5BCAE3}" type="pres">
      <dgm:prSet presAssocID="{26C641EB-0954-441F-9608-B218D7B29A8B}" presName="parentText" presStyleLbl="node1" presStyleIdx="2" presStyleCnt="6">
        <dgm:presLayoutVars>
          <dgm:chMax val="0"/>
          <dgm:bulletEnabled val="1"/>
        </dgm:presLayoutVars>
      </dgm:prSet>
      <dgm:spPr/>
    </dgm:pt>
    <dgm:pt modelId="{47E3612D-A6AD-4858-90CB-0634E14E44AB}" type="pres">
      <dgm:prSet presAssocID="{427D89FB-1899-4916-826A-F9618539449D}" presName="spacer" presStyleCnt="0"/>
      <dgm:spPr/>
    </dgm:pt>
    <dgm:pt modelId="{3B6AF69F-9F7C-4AB6-B73E-8A936C3D5797}" type="pres">
      <dgm:prSet presAssocID="{1F8F414C-505C-44EB-BF81-D52E46BE30D8}" presName="parentText" presStyleLbl="node1" presStyleIdx="3" presStyleCnt="6">
        <dgm:presLayoutVars>
          <dgm:chMax val="0"/>
          <dgm:bulletEnabled val="1"/>
        </dgm:presLayoutVars>
      </dgm:prSet>
      <dgm:spPr/>
    </dgm:pt>
    <dgm:pt modelId="{9BB237A1-1FEF-4200-9844-9C85FF11C642}" type="pres">
      <dgm:prSet presAssocID="{C43105C2-07F2-47EF-98D3-2A8F19F04E47}" presName="spacer" presStyleCnt="0"/>
      <dgm:spPr/>
    </dgm:pt>
    <dgm:pt modelId="{CD0AB9B8-07B0-4066-A541-492267B93025}" type="pres">
      <dgm:prSet presAssocID="{695536CE-B67F-4D13-8DB1-9F7F517D3E18}" presName="parentText" presStyleLbl="node1" presStyleIdx="4" presStyleCnt="6">
        <dgm:presLayoutVars>
          <dgm:chMax val="0"/>
          <dgm:bulletEnabled val="1"/>
        </dgm:presLayoutVars>
      </dgm:prSet>
      <dgm:spPr/>
    </dgm:pt>
    <dgm:pt modelId="{9CCA506C-DBD8-4B1C-88FE-A10145F27A97}" type="pres">
      <dgm:prSet presAssocID="{E93084B1-2E8F-4316-9661-8B992BF7A383}" presName="spacer" presStyleCnt="0"/>
      <dgm:spPr/>
    </dgm:pt>
    <dgm:pt modelId="{119DBB96-E6F2-4B3E-85DC-1BB94460FFA4}" type="pres">
      <dgm:prSet presAssocID="{6C1DDEE5-762F-49ED-AB06-526EE34FC237}" presName="parentText" presStyleLbl="node1" presStyleIdx="5" presStyleCnt="6">
        <dgm:presLayoutVars>
          <dgm:chMax val="0"/>
          <dgm:bulletEnabled val="1"/>
        </dgm:presLayoutVars>
      </dgm:prSet>
      <dgm:spPr/>
    </dgm:pt>
  </dgm:ptLst>
  <dgm:cxnLst>
    <dgm:cxn modelId="{C778A90D-99F0-4803-8EA8-DE0CB000211C}" srcId="{7648C981-8212-464B-8924-99BB49EAE430}" destId="{695536CE-B67F-4D13-8DB1-9F7F517D3E18}" srcOrd="4" destOrd="0" parTransId="{2F6242BB-5C68-434C-A491-E037CFADD3A3}" sibTransId="{E93084B1-2E8F-4316-9661-8B992BF7A383}"/>
    <dgm:cxn modelId="{F7EC181D-D6CC-4A66-863F-DC0189BF223B}" type="presOf" srcId="{26C641EB-0954-441F-9608-B218D7B29A8B}" destId="{C65EE148-C96D-403D-BD32-7ECB0E5BCAE3}" srcOrd="0" destOrd="0" presId="urn:microsoft.com/office/officeart/2005/8/layout/vList2"/>
    <dgm:cxn modelId="{A7F2F32D-B1C0-4B77-B34F-B869EFBB4253}" srcId="{7648C981-8212-464B-8924-99BB49EAE430}" destId="{26C641EB-0954-441F-9608-B218D7B29A8B}" srcOrd="2" destOrd="0" parTransId="{D178A482-84D3-4C1E-B9F2-19E43CD37C3F}" sibTransId="{427D89FB-1899-4916-826A-F9618539449D}"/>
    <dgm:cxn modelId="{1960303C-10A9-49A4-96C6-64AE6D78C982}" srcId="{7648C981-8212-464B-8924-99BB49EAE430}" destId="{6C1DDEE5-762F-49ED-AB06-526EE34FC237}" srcOrd="5" destOrd="0" parTransId="{6AA19C22-A3D5-4966-B0D7-29E90B1EB36F}" sibTransId="{CFBADCEB-5ADF-4DAB-A65E-10CD1A4E4D35}"/>
    <dgm:cxn modelId="{6343F961-5210-45CD-93A9-AEDDF6051562}" type="presOf" srcId="{5028D87F-E361-44E1-B8CB-48C1870C4037}" destId="{C95E4BBD-D910-4DB7-A3FF-85274FF15AC8}" srcOrd="0" destOrd="0" presId="urn:microsoft.com/office/officeart/2005/8/layout/vList2"/>
    <dgm:cxn modelId="{A44FB195-577E-416A-9A97-4595A584B4C9}" type="presOf" srcId="{3C63AC9D-FD42-4706-A496-860A57EA1BF5}" destId="{6F1A55F5-F518-436F-B92B-B04E34B7B37A}" srcOrd="0" destOrd="0" presId="urn:microsoft.com/office/officeart/2005/8/layout/vList2"/>
    <dgm:cxn modelId="{9BF0FAA4-94E9-48D2-A6DC-32A927EA732B}" type="presOf" srcId="{1F8F414C-505C-44EB-BF81-D52E46BE30D8}" destId="{3B6AF69F-9F7C-4AB6-B73E-8A936C3D5797}" srcOrd="0" destOrd="0" presId="urn:microsoft.com/office/officeart/2005/8/layout/vList2"/>
    <dgm:cxn modelId="{FDC292A6-BDCC-41C4-986F-9628804929C3}" type="presOf" srcId="{695536CE-B67F-4D13-8DB1-9F7F517D3E18}" destId="{CD0AB9B8-07B0-4066-A541-492267B93025}" srcOrd="0" destOrd="0" presId="urn:microsoft.com/office/officeart/2005/8/layout/vList2"/>
    <dgm:cxn modelId="{6CF0C3BA-F277-4728-9E3E-F05378E8DA90}" srcId="{7648C981-8212-464B-8924-99BB49EAE430}" destId="{1F8F414C-505C-44EB-BF81-D52E46BE30D8}" srcOrd="3" destOrd="0" parTransId="{AE51F959-DD3A-4410-93D2-A0C80A21933F}" sibTransId="{C43105C2-07F2-47EF-98D3-2A8F19F04E47}"/>
    <dgm:cxn modelId="{A9A646CC-AF94-4342-856F-6476EA18A5E0}" type="presOf" srcId="{6C1DDEE5-762F-49ED-AB06-526EE34FC237}" destId="{119DBB96-E6F2-4B3E-85DC-1BB94460FFA4}" srcOrd="0" destOrd="0" presId="urn:microsoft.com/office/officeart/2005/8/layout/vList2"/>
    <dgm:cxn modelId="{87BF8BCC-3876-4B49-B3FA-22DB6FBF8220}" srcId="{7648C981-8212-464B-8924-99BB49EAE430}" destId="{3C63AC9D-FD42-4706-A496-860A57EA1BF5}" srcOrd="0" destOrd="0" parTransId="{ABE8C6EF-83EF-427C-88AB-A38F92A3F858}" sibTransId="{60EDAE9A-BFD0-4FA8-AA4A-4F4916683ED8}"/>
    <dgm:cxn modelId="{343D71DA-DAAA-4AF4-8AB1-EBB611D05225}" srcId="{7648C981-8212-464B-8924-99BB49EAE430}" destId="{5028D87F-E361-44E1-B8CB-48C1870C4037}" srcOrd="1" destOrd="0" parTransId="{64730A2C-0F62-49DA-9B96-2F03D6F1C03C}" sibTransId="{E8EC2577-66FE-42FB-81A7-ACCCDCDEDBEC}"/>
    <dgm:cxn modelId="{E85EF8DA-5954-4940-8B7F-88DF2CFD6A28}" type="presOf" srcId="{7648C981-8212-464B-8924-99BB49EAE430}" destId="{8C4ACC7A-09D5-4FF9-8DC0-9DF1ECAE179A}" srcOrd="0" destOrd="0" presId="urn:microsoft.com/office/officeart/2005/8/layout/vList2"/>
    <dgm:cxn modelId="{6BCD69BB-A2F8-4933-B4A3-A6C48A45EDE7}" type="presParOf" srcId="{8C4ACC7A-09D5-4FF9-8DC0-9DF1ECAE179A}" destId="{6F1A55F5-F518-436F-B92B-B04E34B7B37A}" srcOrd="0" destOrd="0" presId="urn:microsoft.com/office/officeart/2005/8/layout/vList2"/>
    <dgm:cxn modelId="{0CC79D51-F389-4425-A33D-31A713CEC4F1}" type="presParOf" srcId="{8C4ACC7A-09D5-4FF9-8DC0-9DF1ECAE179A}" destId="{4E0C6455-FCD7-4E40-B33B-DDF8AED5D366}" srcOrd="1" destOrd="0" presId="urn:microsoft.com/office/officeart/2005/8/layout/vList2"/>
    <dgm:cxn modelId="{05B60EC6-38A2-4E81-84A1-96AC94CDB5A3}" type="presParOf" srcId="{8C4ACC7A-09D5-4FF9-8DC0-9DF1ECAE179A}" destId="{C95E4BBD-D910-4DB7-A3FF-85274FF15AC8}" srcOrd="2" destOrd="0" presId="urn:microsoft.com/office/officeart/2005/8/layout/vList2"/>
    <dgm:cxn modelId="{B85BCA51-B46F-4523-991E-F8D902FE938A}" type="presParOf" srcId="{8C4ACC7A-09D5-4FF9-8DC0-9DF1ECAE179A}" destId="{882E1176-7FC3-4B4C-B296-F3D907B927CB}" srcOrd="3" destOrd="0" presId="urn:microsoft.com/office/officeart/2005/8/layout/vList2"/>
    <dgm:cxn modelId="{362313EE-5A78-432B-83E6-A1799A875D26}" type="presParOf" srcId="{8C4ACC7A-09D5-4FF9-8DC0-9DF1ECAE179A}" destId="{C65EE148-C96D-403D-BD32-7ECB0E5BCAE3}" srcOrd="4" destOrd="0" presId="urn:microsoft.com/office/officeart/2005/8/layout/vList2"/>
    <dgm:cxn modelId="{F0F782EE-5FC8-4BB9-81E9-2D08F2C7E635}" type="presParOf" srcId="{8C4ACC7A-09D5-4FF9-8DC0-9DF1ECAE179A}" destId="{47E3612D-A6AD-4858-90CB-0634E14E44AB}" srcOrd="5" destOrd="0" presId="urn:microsoft.com/office/officeart/2005/8/layout/vList2"/>
    <dgm:cxn modelId="{D2319D34-B4BC-42DB-84F5-94D8FE462F30}" type="presParOf" srcId="{8C4ACC7A-09D5-4FF9-8DC0-9DF1ECAE179A}" destId="{3B6AF69F-9F7C-4AB6-B73E-8A936C3D5797}" srcOrd="6" destOrd="0" presId="urn:microsoft.com/office/officeart/2005/8/layout/vList2"/>
    <dgm:cxn modelId="{96E5480F-4CE7-432E-A323-9ADB6CAC3A68}" type="presParOf" srcId="{8C4ACC7A-09D5-4FF9-8DC0-9DF1ECAE179A}" destId="{9BB237A1-1FEF-4200-9844-9C85FF11C642}" srcOrd="7" destOrd="0" presId="urn:microsoft.com/office/officeart/2005/8/layout/vList2"/>
    <dgm:cxn modelId="{C21FA4AA-1EA8-44FB-A3FF-F0C47BE5C01F}" type="presParOf" srcId="{8C4ACC7A-09D5-4FF9-8DC0-9DF1ECAE179A}" destId="{CD0AB9B8-07B0-4066-A541-492267B93025}" srcOrd="8" destOrd="0" presId="urn:microsoft.com/office/officeart/2005/8/layout/vList2"/>
    <dgm:cxn modelId="{7AE8C8C5-69C9-49BB-81D7-F12DBF6B2BB8}" type="presParOf" srcId="{8C4ACC7A-09D5-4FF9-8DC0-9DF1ECAE179A}" destId="{9CCA506C-DBD8-4B1C-88FE-A10145F27A97}" srcOrd="9" destOrd="0" presId="urn:microsoft.com/office/officeart/2005/8/layout/vList2"/>
    <dgm:cxn modelId="{2DEFF626-0B88-411E-BEFD-5880139E3906}" type="presParOf" srcId="{8C4ACC7A-09D5-4FF9-8DC0-9DF1ECAE179A}" destId="{119DBB96-E6F2-4B3E-85DC-1BB94460FFA4}" srcOrd="10" destOrd="0" presId="urn:microsoft.com/office/officeart/2005/8/layout/vList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1A55F5-F518-436F-B92B-B04E34B7B37A}">
      <dsp:nvSpPr>
        <dsp:cNvPr id="0" name=""/>
        <dsp:cNvSpPr/>
      </dsp:nvSpPr>
      <dsp:spPr>
        <a:xfrm>
          <a:off x="0" y="55690"/>
          <a:ext cx="5932357" cy="41769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l-GR" sz="1700" b="1" kern="1200" dirty="0"/>
            <a:t>Ονοματεπώνυμο-ΑΜ μελών:</a:t>
          </a:r>
          <a:endParaRPr lang="en-US" sz="1700" kern="1200" dirty="0"/>
        </a:p>
      </dsp:txBody>
      <dsp:txXfrm>
        <a:off x="20390" y="76080"/>
        <a:ext cx="5891577" cy="376910"/>
      </dsp:txXfrm>
    </dsp:sp>
    <dsp:sp modelId="{C95E4BBD-D910-4DB7-A3FF-85274FF15AC8}">
      <dsp:nvSpPr>
        <dsp:cNvPr id="0" name=""/>
        <dsp:cNvSpPr/>
      </dsp:nvSpPr>
      <dsp:spPr>
        <a:xfrm>
          <a:off x="0" y="522340"/>
          <a:ext cx="5932357" cy="41769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l-GR" sz="1700" kern="1200"/>
            <a:t>ΜΟΝΟΧΟΛΙΑΣ ΙΩΑΝΝΗΣ – 3230128</a:t>
          </a:r>
          <a:endParaRPr lang="en-US" sz="1700" kern="1200"/>
        </a:p>
      </dsp:txBody>
      <dsp:txXfrm>
        <a:off x="20390" y="542730"/>
        <a:ext cx="5891577" cy="376910"/>
      </dsp:txXfrm>
    </dsp:sp>
    <dsp:sp modelId="{C65EE148-C96D-403D-BD32-7ECB0E5BCAE3}">
      <dsp:nvSpPr>
        <dsp:cNvPr id="0" name=""/>
        <dsp:cNvSpPr/>
      </dsp:nvSpPr>
      <dsp:spPr>
        <a:xfrm>
          <a:off x="0" y="988991"/>
          <a:ext cx="5932357" cy="41769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l-GR" sz="1700" kern="1200"/>
            <a:t>ΜΠΑΝΟΣ ΒΑΣΙΛΕΙΟΣ - 3230132</a:t>
          </a:r>
          <a:endParaRPr lang="en-US" sz="1700" kern="1200"/>
        </a:p>
      </dsp:txBody>
      <dsp:txXfrm>
        <a:off x="20390" y="1009381"/>
        <a:ext cx="5891577" cy="376910"/>
      </dsp:txXfrm>
    </dsp:sp>
    <dsp:sp modelId="{3B6AF69F-9F7C-4AB6-B73E-8A936C3D5797}">
      <dsp:nvSpPr>
        <dsp:cNvPr id="0" name=""/>
        <dsp:cNvSpPr/>
      </dsp:nvSpPr>
      <dsp:spPr>
        <a:xfrm>
          <a:off x="0" y="1455640"/>
          <a:ext cx="5932357" cy="41769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l-GR" sz="1700" kern="1200"/>
            <a:t>ΤΑΣΣΟΠΟΥΛΟΣ ΔΗΜΗΤΡΙΟΣ – 3230281</a:t>
          </a:r>
          <a:endParaRPr lang="en-US" sz="1700" kern="1200"/>
        </a:p>
      </dsp:txBody>
      <dsp:txXfrm>
        <a:off x="20390" y="1476030"/>
        <a:ext cx="5891577" cy="376910"/>
      </dsp:txXfrm>
    </dsp:sp>
    <dsp:sp modelId="{CD0AB9B8-07B0-4066-A541-492267B93025}">
      <dsp:nvSpPr>
        <dsp:cNvPr id="0" name=""/>
        <dsp:cNvSpPr/>
      </dsp:nvSpPr>
      <dsp:spPr>
        <a:xfrm>
          <a:off x="0" y="1922291"/>
          <a:ext cx="5932357" cy="41769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l-GR" sz="1700" kern="1200"/>
            <a:t>ΠΑΡΑΣΚΕΥΗ ΜΑΡΙΑ ΑΝΔΡΕΑΔΗ – </a:t>
          </a:r>
          <a:r>
            <a:rPr lang="en-US" sz="1700" kern="1200"/>
            <a:t>3230009</a:t>
          </a:r>
        </a:p>
      </dsp:txBody>
      <dsp:txXfrm>
        <a:off x="20390" y="1942681"/>
        <a:ext cx="5891577" cy="376910"/>
      </dsp:txXfrm>
    </dsp:sp>
    <dsp:sp modelId="{119DBB96-E6F2-4B3E-85DC-1BB94460FFA4}">
      <dsp:nvSpPr>
        <dsp:cNvPr id="0" name=""/>
        <dsp:cNvSpPr/>
      </dsp:nvSpPr>
      <dsp:spPr>
        <a:xfrm>
          <a:off x="0" y="2388941"/>
          <a:ext cx="5932357" cy="41769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l-GR" sz="1700" kern="1200"/>
            <a:t>ΔΩΡΟΘΕΑ ΚΑΒΒΑΔΑ – </a:t>
          </a:r>
          <a:r>
            <a:rPr lang="en-US" sz="1700" kern="1200"/>
            <a:t>3230314</a:t>
          </a:r>
        </a:p>
      </dsp:txBody>
      <dsp:txXfrm>
        <a:off x="20390" y="2409331"/>
        <a:ext cx="5891577" cy="37691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l-G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A5B28B-FB2F-4326-890A-E76035059792}" type="datetimeFigureOut">
              <a:rPr lang="el-GR" smtClean="0"/>
              <a:t>20/3/2025</a:t>
            </a:fld>
            <a:endParaRPr lang="el-G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l-G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l-G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l-G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32DF0B5-D4C4-49A8-AA82-0A3F0ED0E7B6}" type="slidenum">
              <a:rPr lang="el-GR" smtClean="0"/>
              <a:t>‹#›</a:t>
            </a:fld>
            <a:endParaRPr lang="el-GR"/>
          </a:p>
        </p:txBody>
      </p:sp>
    </p:spTree>
    <p:extLst>
      <p:ext uri="{BB962C8B-B14F-4D97-AF65-F5344CB8AC3E}">
        <p14:creationId xmlns:p14="http://schemas.microsoft.com/office/powerpoint/2010/main" val="8716469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l-GR" dirty="0"/>
          </a:p>
        </p:txBody>
      </p:sp>
      <p:sp>
        <p:nvSpPr>
          <p:cNvPr id="4" name="Slide Number Placeholder 3"/>
          <p:cNvSpPr>
            <a:spLocks noGrp="1"/>
          </p:cNvSpPr>
          <p:nvPr>
            <p:ph type="sldNum" sz="quarter" idx="5"/>
          </p:nvPr>
        </p:nvSpPr>
        <p:spPr/>
        <p:txBody>
          <a:bodyPr/>
          <a:lstStyle/>
          <a:p>
            <a:fld id="{B32DF0B5-D4C4-49A8-AA82-0A3F0ED0E7B6}" type="slidenum">
              <a:rPr lang="el-GR" smtClean="0"/>
              <a:t>5</a:t>
            </a:fld>
            <a:endParaRPr lang="el-GR"/>
          </a:p>
        </p:txBody>
      </p:sp>
    </p:spTree>
    <p:extLst>
      <p:ext uri="{BB962C8B-B14F-4D97-AF65-F5344CB8AC3E}">
        <p14:creationId xmlns:p14="http://schemas.microsoft.com/office/powerpoint/2010/main" val="9218217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8C5BCE-BAC1-DF46-83D6-447FC7069179}"/>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l-GR"/>
          </a:p>
        </p:txBody>
      </p:sp>
      <p:sp>
        <p:nvSpPr>
          <p:cNvPr id="3" name="Subtitle 2">
            <a:extLst>
              <a:ext uri="{FF2B5EF4-FFF2-40B4-BE49-F238E27FC236}">
                <a16:creationId xmlns:a16="http://schemas.microsoft.com/office/drawing/2014/main" id="{8FAB1005-5830-2702-AB49-E91320BD3F0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l-GR"/>
          </a:p>
        </p:txBody>
      </p:sp>
      <p:sp>
        <p:nvSpPr>
          <p:cNvPr id="4" name="Date Placeholder 3">
            <a:extLst>
              <a:ext uri="{FF2B5EF4-FFF2-40B4-BE49-F238E27FC236}">
                <a16:creationId xmlns:a16="http://schemas.microsoft.com/office/drawing/2014/main" id="{8A5F92D8-2872-FE19-0376-F0F403B879E7}"/>
              </a:ext>
            </a:extLst>
          </p:cNvPr>
          <p:cNvSpPr>
            <a:spLocks noGrp="1"/>
          </p:cNvSpPr>
          <p:nvPr>
            <p:ph type="dt" sz="half" idx="10"/>
          </p:nvPr>
        </p:nvSpPr>
        <p:spPr/>
        <p:txBody>
          <a:bodyPr/>
          <a:lstStyle/>
          <a:p>
            <a:fld id="{F280910A-7D55-496B-B758-A36CAE1BE687}" type="datetimeFigureOut">
              <a:rPr lang="el-GR" smtClean="0"/>
              <a:t>20/3/2025</a:t>
            </a:fld>
            <a:endParaRPr lang="el-GR"/>
          </a:p>
        </p:txBody>
      </p:sp>
      <p:sp>
        <p:nvSpPr>
          <p:cNvPr id="5" name="Footer Placeholder 4">
            <a:extLst>
              <a:ext uri="{FF2B5EF4-FFF2-40B4-BE49-F238E27FC236}">
                <a16:creationId xmlns:a16="http://schemas.microsoft.com/office/drawing/2014/main" id="{F3E7B3B9-533E-F2A2-8E17-DBE6759AC114}"/>
              </a:ext>
            </a:extLst>
          </p:cNvPr>
          <p:cNvSpPr>
            <a:spLocks noGrp="1"/>
          </p:cNvSpPr>
          <p:nvPr>
            <p:ph type="ftr" sz="quarter" idx="11"/>
          </p:nvPr>
        </p:nvSpPr>
        <p:spPr/>
        <p:txBody>
          <a:bodyPr/>
          <a:lstStyle/>
          <a:p>
            <a:endParaRPr lang="el-GR"/>
          </a:p>
        </p:txBody>
      </p:sp>
      <p:sp>
        <p:nvSpPr>
          <p:cNvPr id="6" name="Slide Number Placeholder 5">
            <a:extLst>
              <a:ext uri="{FF2B5EF4-FFF2-40B4-BE49-F238E27FC236}">
                <a16:creationId xmlns:a16="http://schemas.microsoft.com/office/drawing/2014/main" id="{E7ECEC71-A2B6-6D49-5C0F-936D0EEFE603}"/>
              </a:ext>
            </a:extLst>
          </p:cNvPr>
          <p:cNvSpPr>
            <a:spLocks noGrp="1"/>
          </p:cNvSpPr>
          <p:nvPr>
            <p:ph type="sldNum" sz="quarter" idx="12"/>
          </p:nvPr>
        </p:nvSpPr>
        <p:spPr/>
        <p:txBody>
          <a:bodyPr/>
          <a:lstStyle/>
          <a:p>
            <a:fld id="{F5DFEF04-3D3B-4261-9A33-006E044FD76C}" type="slidenum">
              <a:rPr lang="el-GR" smtClean="0"/>
              <a:t>‹#›</a:t>
            </a:fld>
            <a:endParaRPr lang="el-GR"/>
          </a:p>
        </p:txBody>
      </p:sp>
    </p:spTree>
    <p:extLst>
      <p:ext uri="{BB962C8B-B14F-4D97-AF65-F5344CB8AC3E}">
        <p14:creationId xmlns:p14="http://schemas.microsoft.com/office/powerpoint/2010/main" val="15877275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407FB-FA33-76E5-5F00-9B2D6E27286D}"/>
              </a:ext>
            </a:extLst>
          </p:cNvPr>
          <p:cNvSpPr>
            <a:spLocks noGrp="1"/>
          </p:cNvSpPr>
          <p:nvPr>
            <p:ph type="title"/>
          </p:nvPr>
        </p:nvSpPr>
        <p:spPr/>
        <p:txBody>
          <a:bodyPr/>
          <a:lstStyle/>
          <a:p>
            <a:r>
              <a:rPr lang="en-GB"/>
              <a:t>Click to edit Master title style</a:t>
            </a:r>
            <a:endParaRPr lang="el-GR"/>
          </a:p>
        </p:txBody>
      </p:sp>
      <p:sp>
        <p:nvSpPr>
          <p:cNvPr id="3" name="Content Placeholder 2">
            <a:extLst>
              <a:ext uri="{FF2B5EF4-FFF2-40B4-BE49-F238E27FC236}">
                <a16:creationId xmlns:a16="http://schemas.microsoft.com/office/drawing/2014/main" id="{4A6191D4-D791-1266-CC03-C60A9D3EA6C8}"/>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l-GR"/>
          </a:p>
        </p:txBody>
      </p:sp>
      <p:sp>
        <p:nvSpPr>
          <p:cNvPr id="4" name="Date Placeholder 3">
            <a:extLst>
              <a:ext uri="{FF2B5EF4-FFF2-40B4-BE49-F238E27FC236}">
                <a16:creationId xmlns:a16="http://schemas.microsoft.com/office/drawing/2014/main" id="{65F76A17-BD36-D007-CE1B-BAF94681C6E4}"/>
              </a:ext>
            </a:extLst>
          </p:cNvPr>
          <p:cNvSpPr>
            <a:spLocks noGrp="1"/>
          </p:cNvSpPr>
          <p:nvPr>
            <p:ph type="dt" sz="half" idx="10"/>
          </p:nvPr>
        </p:nvSpPr>
        <p:spPr/>
        <p:txBody>
          <a:bodyPr/>
          <a:lstStyle/>
          <a:p>
            <a:fld id="{F280910A-7D55-496B-B758-A36CAE1BE687}" type="datetimeFigureOut">
              <a:rPr lang="el-GR" smtClean="0"/>
              <a:t>20/3/2025</a:t>
            </a:fld>
            <a:endParaRPr lang="el-GR"/>
          </a:p>
        </p:txBody>
      </p:sp>
      <p:sp>
        <p:nvSpPr>
          <p:cNvPr id="5" name="Footer Placeholder 4">
            <a:extLst>
              <a:ext uri="{FF2B5EF4-FFF2-40B4-BE49-F238E27FC236}">
                <a16:creationId xmlns:a16="http://schemas.microsoft.com/office/drawing/2014/main" id="{28524861-7CE5-A489-327E-005B687E2162}"/>
              </a:ext>
            </a:extLst>
          </p:cNvPr>
          <p:cNvSpPr>
            <a:spLocks noGrp="1"/>
          </p:cNvSpPr>
          <p:nvPr>
            <p:ph type="ftr" sz="quarter" idx="11"/>
          </p:nvPr>
        </p:nvSpPr>
        <p:spPr/>
        <p:txBody>
          <a:bodyPr/>
          <a:lstStyle/>
          <a:p>
            <a:endParaRPr lang="el-GR"/>
          </a:p>
        </p:txBody>
      </p:sp>
      <p:sp>
        <p:nvSpPr>
          <p:cNvPr id="6" name="Slide Number Placeholder 5">
            <a:extLst>
              <a:ext uri="{FF2B5EF4-FFF2-40B4-BE49-F238E27FC236}">
                <a16:creationId xmlns:a16="http://schemas.microsoft.com/office/drawing/2014/main" id="{9ACAA50E-883E-85A6-ECC7-C74FEDEEA135}"/>
              </a:ext>
            </a:extLst>
          </p:cNvPr>
          <p:cNvSpPr>
            <a:spLocks noGrp="1"/>
          </p:cNvSpPr>
          <p:nvPr>
            <p:ph type="sldNum" sz="quarter" idx="12"/>
          </p:nvPr>
        </p:nvSpPr>
        <p:spPr/>
        <p:txBody>
          <a:bodyPr/>
          <a:lstStyle/>
          <a:p>
            <a:fld id="{F5DFEF04-3D3B-4261-9A33-006E044FD76C}" type="slidenum">
              <a:rPr lang="el-GR" smtClean="0"/>
              <a:t>‹#›</a:t>
            </a:fld>
            <a:endParaRPr lang="el-GR"/>
          </a:p>
        </p:txBody>
      </p:sp>
    </p:spTree>
    <p:extLst>
      <p:ext uri="{BB962C8B-B14F-4D97-AF65-F5344CB8AC3E}">
        <p14:creationId xmlns:p14="http://schemas.microsoft.com/office/powerpoint/2010/main" val="176644329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8A244B-BFA8-44E0-BD08-14925F5C5562}"/>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l-GR"/>
          </a:p>
        </p:txBody>
      </p:sp>
      <p:sp>
        <p:nvSpPr>
          <p:cNvPr id="3" name="Text Placeholder 2">
            <a:extLst>
              <a:ext uri="{FF2B5EF4-FFF2-40B4-BE49-F238E27FC236}">
                <a16:creationId xmlns:a16="http://schemas.microsoft.com/office/drawing/2014/main" id="{8B9FF003-392E-BC5C-4933-3584A9C20CD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87B4E6B-91FF-2E84-DC67-34CDE1A5389F}"/>
              </a:ext>
            </a:extLst>
          </p:cNvPr>
          <p:cNvSpPr>
            <a:spLocks noGrp="1"/>
          </p:cNvSpPr>
          <p:nvPr>
            <p:ph type="dt" sz="half" idx="10"/>
          </p:nvPr>
        </p:nvSpPr>
        <p:spPr/>
        <p:txBody>
          <a:bodyPr/>
          <a:lstStyle/>
          <a:p>
            <a:fld id="{F280910A-7D55-496B-B758-A36CAE1BE687}" type="datetimeFigureOut">
              <a:rPr lang="el-GR" smtClean="0"/>
              <a:t>20/3/2025</a:t>
            </a:fld>
            <a:endParaRPr lang="el-GR"/>
          </a:p>
        </p:txBody>
      </p:sp>
      <p:sp>
        <p:nvSpPr>
          <p:cNvPr id="5" name="Footer Placeholder 4">
            <a:extLst>
              <a:ext uri="{FF2B5EF4-FFF2-40B4-BE49-F238E27FC236}">
                <a16:creationId xmlns:a16="http://schemas.microsoft.com/office/drawing/2014/main" id="{34F7AD00-475E-3CB0-568B-C55D9766300F}"/>
              </a:ext>
            </a:extLst>
          </p:cNvPr>
          <p:cNvSpPr>
            <a:spLocks noGrp="1"/>
          </p:cNvSpPr>
          <p:nvPr>
            <p:ph type="ftr" sz="quarter" idx="11"/>
          </p:nvPr>
        </p:nvSpPr>
        <p:spPr/>
        <p:txBody>
          <a:bodyPr/>
          <a:lstStyle/>
          <a:p>
            <a:endParaRPr lang="el-GR"/>
          </a:p>
        </p:txBody>
      </p:sp>
      <p:sp>
        <p:nvSpPr>
          <p:cNvPr id="6" name="Slide Number Placeholder 5">
            <a:extLst>
              <a:ext uri="{FF2B5EF4-FFF2-40B4-BE49-F238E27FC236}">
                <a16:creationId xmlns:a16="http://schemas.microsoft.com/office/drawing/2014/main" id="{C7D7F356-D74E-C19C-3E8F-3BDF99D36634}"/>
              </a:ext>
            </a:extLst>
          </p:cNvPr>
          <p:cNvSpPr>
            <a:spLocks noGrp="1"/>
          </p:cNvSpPr>
          <p:nvPr>
            <p:ph type="sldNum" sz="quarter" idx="12"/>
          </p:nvPr>
        </p:nvSpPr>
        <p:spPr/>
        <p:txBody>
          <a:bodyPr/>
          <a:lstStyle/>
          <a:p>
            <a:fld id="{F5DFEF04-3D3B-4261-9A33-006E044FD76C}" type="slidenum">
              <a:rPr lang="el-GR" smtClean="0"/>
              <a:t>‹#›</a:t>
            </a:fld>
            <a:endParaRPr lang="el-GR"/>
          </a:p>
        </p:txBody>
      </p:sp>
    </p:spTree>
    <p:extLst>
      <p:ext uri="{BB962C8B-B14F-4D97-AF65-F5344CB8AC3E}">
        <p14:creationId xmlns:p14="http://schemas.microsoft.com/office/powerpoint/2010/main" val="305238860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C9A5B7-58DC-37A7-9718-DF694FA8AC42}"/>
              </a:ext>
            </a:extLst>
          </p:cNvPr>
          <p:cNvSpPr>
            <a:spLocks noGrp="1"/>
          </p:cNvSpPr>
          <p:nvPr>
            <p:ph type="title"/>
          </p:nvPr>
        </p:nvSpPr>
        <p:spPr/>
        <p:txBody>
          <a:bodyPr/>
          <a:lstStyle/>
          <a:p>
            <a:r>
              <a:rPr lang="en-GB"/>
              <a:t>Click to edit Master title style</a:t>
            </a:r>
            <a:endParaRPr lang="el-GR"/>
          </a:p>
        </p:txBody>
      </p:sp>
      <p:sp>
        <p:nvSpPr>
          <p:cNvPr id="3" name="Content Placeholder 2">
            <a:extLst>
              <a:ext uri="{FF2B5EF4-FFF2-40B4-BE49-F238E27FC236}">
                <a16:creationId xmlns:a16="http://schemas.microsoft.com/office/drawing/2014/main" id="{A5E16EEA-C88F-1C92-7BF4-0CB853ECAB00}"/>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l-GR"/>
          </a:p>
        </p:txBody>
      </p:sp>
      <p:sp>
        <p:nvSpPr>
          <p:cNvPr id="4" name="Content Placeholder 3">
            <a:extLst>
              <a:ext uri="{FF2B5EF4-FFF2-40B4-BE49-F238E27FC236}">
                <a16:creationId xmlns:a16="http://schemas.microsoft.com/office/drawing/2014/main" id="{31255C87-E693-A29D-30C7-E838BB2B61B2}"/>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l-GR"/>
          </a:p>
        </p:txBody>
      </p:sp>
      <p:sp>
        <p:nvSpPr>
          <p:cNvPr id="5" name="Date Placeholder 4">
            <a:extLst>
              <a:ext uri="{FF2B5EF4-FFF2-40B4-BE49-F238E27FC236}">
                <a16:creationId xmlns:a16="http://schemas.microsoft.com/office/drawing/2014/main" id="{5A11CB8C-681E-6EB9-2A6F-7B611A950DC3}"/>
              </a:ext>
            </a:extLst>
          </p:cNvPr>
          <p:cNvSpPr>
            <a:spLocks noGrp="1"/>
          </p:cNvSpPr>
          <p:nvPr>
            <p:ph type="dt" sz="half" idx="10"/>
          </p:nvPr>
        </p:nvSpPr>
        <p:spPr/>
        <p:txBody>
          <a:bodyPr/>
          <a:lstStyle/>
          <a:p>
            <a:fld id="{F280910A-7D55-496B-B758-A36CAE1BE687}" type="datetimeFigureOut">
              <a:rPr lang="el-GR" smtClean="0"/>
              <a:t>20/3/2025</a:t>
            </a:fld>
            <a:endParaRPr lang="el-GR"/>
          </a:p>
        </p:txBody>
      </p:sp>
      <p:sp>
        <p:nvSpPr>
          <p:cNvPr id="6" name="Footer Placeholder 5">
            <a:extLst>
              <a:ext uri="{FF2B5EF4-FFF2-40B4-BE49-F238E27FC236}">
                <a16:creationId xmlns:a16="http://schemas.microsoft.com/office/drawing/2014/main" id="{3BD118F6-85DD-E5E3-5697-CD266E10FFD0}"/>
              </a:ext>
            </a:extLst>
          </p:cNvPr>
          <p:cNvSpPr>
            <a:spLocks noGrp="1"/>
          </p:cNvSpPr>
          <p:nvPr>
            <p:ph type="ftr" sz="quarter" idx="11"/>
          </p:nvPr>
        </p:nvSpPr>
        <p:spPr/>
        <p:txBody>
          <a:bodyPr/>
          <a:lstStyle/>
          <a:p>
            <a:endParaRPr lang="el-GR"/>
          </a:p>
        </p:txBody>
      </p:sp>
      <p:sp>
        <p:nvSpPr>
          <p:cNvPr id="7" name="Slide Number Placeholder 6">
            <a:extLst>
              <a:ext uri="{FF2B5EF4-FFF2-40B4-BE49-F238E27FC236}">
                <a16:creationId xmlns:a16="http://schemas.microsoft.com/office/drawing/2014/main" id="{D3D85844-C222-5C7E-7B12-50A32DEC202F}"/>
              </a:ext>
            </a:extLst>
          </p:cNvPr>
          <p:cNvSpPr>
            <a:spLocks noGrp="1"/>
          </p:cNvSpPr>
          <p:nvPr>
            <p:ph type="sldNum" sz="quarter" idx="12"/>
          </p:nvPr>
        </p:nvSpPr>
        <p:spPr/>
        <p:txBody>
          <a:bodyPr/>
          <a:lstStyle/>
          <a:p>
            <a:fld id="{F5DFEF04-3D3B-4261-9A33-006E044FD76C}" type="slidenum">
              <a:rPr lang="el-GR" smtClean="0"/>
              <a:t>‹#›</a:t>
            </a:fld>
            <a:endParaRPr lang="el-GR"/>
          </a:p>
        </p:txBody>
      </p:sp>
    </p:spTree>
    <p:extLst>
      <p:ext uri="{BB962C8B-B14F-4D97-AF65-F5344CB8AC3E}">
        <p14:creationId xmlns:p14="http://schemas.microsoft.com/office/powerpoint/2010/main" val="131385528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2978ED-882B-57CA-05F6-038932CAFFE6}"/>
              </a:ext>
            </a:extLst>
          </p:cNvPr>
          <p:cNvSpPr>
            <a:spLocks noGrp="1"/>
          </p:cNvSpPr>
          <p:nvPr>
            <p:ph type="title"/>
          </p:nvPr>
        </p:nvSpPr>
        <p:spPr>
          <a:xfrm>
            <a:off x="839788" y="365125"/>
            <a:ext cx="10515600" cy="1325563"/>
          </a:xfrm>
        </p:spPr>
        <p:txBody>
          <a:bodyPr/>
          <a:lstStyle/>
          <a:p>
            <a:r>
              <a:rPr lang="en-GB"/>
              <a:t>Click to edit Master title style</a:t>
            </a:r>
            <a:endParaRPr lang="el-GR"/>
          </a:p>
        </p:txBody>
      </p:sp>
      <p:sp>
        <p:nvSpPr>
          <p:cNvPr id="3" name="Text Placeholder 2">
            <a:extLst>
              <a:ext uri="{FF2B5EF4-FFF2-40B4-BE49-F238E27FC236}">
                <a16:creationId xmlns:a16="http://schemas.microsoft.com/office/drawing/2014/main" id="{D0BD8822-7D28-645B-8966-1212D66F26B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0C825467-D5B9-1157-B590-EE5EE432F99D}"/>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l-GR"/>
          </a:p>
        </p:txBody>
      </p:sp>
      <p:sp>
        <p:nvSpPr>
          <p:cNvPr id="5" name="Text Placeholder 4">
            <a:extLst>
              <a:ext uri="{FF2B5EF4-FFF2-40B4-BE49-F238E27FC236}">
                <a16:creationId xmlns:a16="http://schemas.microsoft.com/office/drawing/2014/main" id="{F636A0DB-9040-CFB5-1B41-4824BAE89AD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34AA79BE-F849-AB57-B4F8-E7C53EC5F8BF}"/>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l-GR"/>
          </a:p>
        </p:txBody>
      </p:sp>
      <p:sp>
        <p:nvSpPr>
          <p:cNvPr id="7" name="Date Placeholder 6">
            <a:extLst>
              <a:ext uri="{FF2B5EF4-FFF2-40B4-BE49-F238E27FC236}">
                <a16:creationId xmlns:a16="http://schemas.microsoft.com/office/drawing/2014/main" id="{0864BC0A-BC58-11E4-777A-95E51FE93B61}"/>
              </a:ext>
            </a:extLst>
          </p:cNvPr>
          <p:cNvSpPr>
            <a:spLocks noGrp="1"/>
          </p:cNvSpPr>
          <p:nvPr>
            <p:ph type="dt" sz="half" idx="10"/>
          </p:nvPr>
        </p:nvSpPr>
        <p:spPr/>
        <p:txBody>
          <a:bodyPr/>
          <a:lstStyle/>
          <a:p>
            <a:fld id="{F280910A-7D55-496B-B758-A36CAE1BE687}" type="datetimeFigureOut">
              <a:rPr lang="el-GR" smtClean="0"/>
              <a:t>20/3/2025</a:t>
            </a:fld>
            <a:endParaRPr lang="el-GR"/>
          </a:p>
        </p:txBody>
      </p:sp>
      <p:sp>
        <p:nvSpPr>
          <p:cNvPr id="8" name="Footer Placeholder 7">
            <a:extLst>
              <a:ext uri="{FF2B5EF4-FFF2-40B4-BE49-F238E27FC236}">
                <a16:creationId xmlns:a16="http://schemas.microsoft.com/office/drawing/2014/main" id="{ADC684D0-C8DF-0AEA-EC73-49FED48B3362}"/>
              </a:ext>
            </a:extLst>
          </p:cNvPr>
          <p:cNvSpPr>
            <a:spLocks noGrp="1"/>
          </p:cNvSpPr>
          <p:nvPr>
            <p:ph type="ftr" sz="quarter" idx="11"/>
          </p:nvPr>
        </p:nvSpPr>
        <p:spPr/>
        <p:txBody>
          <a:bodyPr/>
          <a:lstStyle/>
          <a:p>
            <a:endParaRPr lang="el-GR"/>
          </a:p>
        </p:txBody>
      </p:sp>
      <p:sp>
        <p:nvSpPr>
          <p:cNvPr id="9" name="Slide Number Placeholder 8">
            <a:extLst>
              <a:ext uri="{FF2B5EF4-FFF2-40B4-BE49-F238E27FC236}">
                <a16:creationId xmlns:a16="http://schemas.microsoft.com/office/drawing/2014/main" id="{8E78704B-00EB-D694-A6B9-A4CEB00C4B0F}"/>
              </a:ext>
            </a:extLst>
          </p:cNvPr>
          <p:cNvSpPr>
            <a:spLocks noGrp="1"/>
          </p:cNvSpPr>
          <p:nvPr>
            <p:ph type="sldNum" sz="quarter" idx="12"/>
          </p:nvPr>
        </p:nvSpPr>
        <p:spPr/>
        <p:txBody>
          <a:bodyPr/>
          <a:lstStyle/>
          <a:p>
            <a:fld id="{F5DFEF04-3D3B-4261-9A33-006E044FD76C}" type="slidenum">
              <a:rPr lang="el-GR" smtClean="0"/>
              <a:t>‹#›</a:t>
            </a:fld>
            <a:endParaRPr lang="el-GR"/>
          </a:p>
        </p:txBody>
      </p:sp>
    </p:spTree>
    <p:extLst>
      <p:ext uri="{BB962C8B-B14F-4D97-AF65-F5344CB8AC3E}">
        <p14:creationId xmlns:p14="http://schemas.microsoft.com/office/powerpoint/2010/main" val="125479890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B95AF-9140-0AF7-4C3F-97926EE89CCA}"/>
              </a:ext>
            </a:extLst>
          </p:cNvPr>
          <p:cNvSpPr>
            <a:spLocks noGrp="1"/>
          </p:cNvSpPr>
          <p:nvPr>
            <p:ph type="title"/>
          </p:nvPr>
        </p:nvSpPr>
        <p:spPr/>
        <p:txBody>
          <a:bodyPr/>
          <a:lstStyle/>
          <a:p>
            <a:r>
              <a:rPr lang="en-GB"/>
              <a:t>Click to edit Master title style</a:t>
            </a:r>
            <a:endParaRPr lang="el-GR"/>
          </a:p>
        </p:txBody>
      </p:sp>
      <p:sp>
        <p:nvSpPr>
          <p:cNvPr id="3" name="Date Placeholder 2">
            <a:extLst>
              <a:ext uri="{FF2B5EF4-FFF2-40B4-BE49-F238E27FC236}">
                <a16:creationId xmlns:a16="http://schemas.microsoft.com/office/drawing/2014/main" id="{2A79B778-EA3A-6C3E-745F-86233FA07C0A}"/>
              </a:ext>
            </a:extLst>
          </p:cNvPr>
          <p:cNvSpPr>
            <a:spLocks noGrp="1"/>
          </p:cNvSpPr>
          <p:nvPr>
            <p:ph type="dt" sz="half" idx="10"/>
          </p:nvPr>
        </p:nvSpPr>
        <p:spPr/>
        <p:txBody>
          <a:bodyPr/>
          <a:lstStyle/>
          <a:p>
            <a:fld id="{F280910A-7D55-496B-B758-A36CAE1BE687}" type="datetimeFigureOut">
              <a:rPr lang="el-GR" smtClean="0"/>
              <a:t>20/3/2025</a:t>
            </a:fld>
            <a:endParaRPr lang="el-GR"/>
          </a:p>
        </p:txBody>
      </p:sp>
      <p:sp>
        <p:nvSpPr>
          <p:cNvPr id="4" name="Footer Placeholder 3">
            <a:extLst>
              <a:ext uri="{FF2B5EF4-FFF2-40B4-BE49-F238E27FC236}">
                <a16:creationId xmlns:a16="http://schemas.microsoft.com/office/drawing/2014/main" id="{0BB8DFB3-38C3-E34E-6B0F-A835B10ED71E}"/>
              </a:ext>
            </a:extLst>
          </p:cNvPr>
          <p:cNvSpPr>
            <a:spLocks noGrp="1"/>
          </p:cNvSpPr>
          <p:nvPr>
            <p:ph type="ftr" sz="quarter" idx="11"/>
          </p:nvPr>
        </p:nvSpPr>
        <p:spPr/>
        <p:txBody>
          <a:bodyPr/>
          <a:lstStyle/>
          <a:p>
            <a:endParaRPr lang="el-GR"/>
          </a:p>
        </p:txBody>
      </p:sp>
      <p:sp>
        <p:nvSpPr>
          <p:cNvPr id="5" name="Slide Number Placeholder 4">
            <a:extLst>
              <a:ext uri="{FF2B5EF4-FFF2-40B4-BE49-F238E27FC236}">
                <a16:creationId xmlns:a16="http://schemas.microsoft.com/office/drawing/2014/main" id="{AF1AD8E8-06BD-EDC5-F9B5-99FF470E4934}"/>
              </a:ext>
            </a:extLst>
          </p:cNvPr>
          <p:cNvSpPr>
            <a:spLocks noGrp="1"/>
          </p:cNvSpPr>
          <p:nvPr>
            <p:ph type="sldNum" sz="quarter" idx="12"/>
          </p:nvPr>
        </p:nvSpPr>
        <p:spPr/>
        <p:txBody>
          <a:bodyPr/>
          <a:lstStyle/>
          <a:p>
            <a:fld id="{F5DFEF04-3D3B-4261-9A33-006E044FD76C}" type="slidenum">
              <a:rPr lang="el-GR" smtClean="0"/>
              <a:t>‹#›</a:t>
            </a:fld>
            <a:endParaRPr lang="el-GR"/>
          </a:p>
        </p:txBody>
      </p:sp>
    </p:spTree>
    <p:extLst>
      <p:ext uri="{BB962C8B-B14F-4D97-AF65-F5344CB8AC3E}">
        <p14:creationId xmlns:p14="http://schemas.microsoft.com/office/powerpoint/2010/main" val="147607647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662DEA2-61DA-110C-CCB6-646C11A6B503}"/>
              </a:ext>
            </a:extLst>
          </p:cNvPr>
          <p:cNvSpPr>
            <a:spLocks noGrp="1"/>
          </p:cNvSpPr>
          <p:nvPr>
            <p:ph type="dt" sz="half" idx="10"/>
          </p:nvPr>
        </p:nvSpPr>
        <p:spPr/>
        <p:txBody>
          <a:bodyPr/>
          <a:lstStyle/>
          <a:p>
            <a:fld id="{F280910A-7D55-496B-B758-A36CAE1BE687}" type="datetimeFigureOut">
              <a:rPr lang="el-GR" smtClean="0"/>
              <a:t>20/3/2025</a:t>
            </a:fld>
            <a:endParaRPr lang="el-GR"/>
          </a:p>
        </p:txBody>
      </p:sp>
      <p:sp>
        <p:nvSpPr>
          <p:cNvPr id="3" name="Footer Placeholder 2">
            <a:extLst>
              <a:ext uri="{FF2B5EF4-FFF2-40B4-BE49-F238E27FC236}">
                <a16:creationId xmlns:a16="http://schemas.microsoft.com/office/drawing/2014/main" id="{DF56B91F-4C2F-1275-1993-9F5B623265B8}"/>
              </a:ext>
            </a:extLst>
          </p:cNvPr>
          <p:cNvSpPr>
            <a:spLocks noGrp="1"/>
          </p:cNvSpPr>
          <p:nvPr>
            <p:ph type="ftr" sz="quarter" idx="11"/>
          </p:nvPr>
        </p:nvSpPr>
        <p:spPr/>
        <p:txBody>
          <a:bodyPr/>
          <a:lstStyle/>
          <a:p>
            <a:endParaRPr lang="el-GR"/>
          </a:p>
        </p:txBody>
      </p:sp>
      <p:sp>
        <p:nvSpPr>
          <p:cNvPr id="4" name="Slide Number Placeholder 3">
            <a:extLst>
              <a:ext uri="{FF2B5EF4-FFF2-40B4-BE49-F238E27FC236}">
                <a16:creationId xmlns:a16="http://schemas.microsoft.com/office/drawing/2014/main" id="{A31F18EF-D8FD-20E6-6833-F8E8412D11E5}"/>
              </a:ext>
            </a:extLst>
          </p:cNvPr>
          <p:cNvSpPr>
            <a:spLocks noGrp="1"/>
          </p:cNvSpPr>
          <p:nvPr>
            <p:ph type="sldNum" sz="quarter" idx="12"/>
          </p:nvPr>
        </p:nvSpPr>
        <p:spPr/>
        <p:txBody>
          <a:bodyPr/>
          <a:lstStyle/>
          <a:p>
            <a:fld id="{F5DFEF04-3D3B-4261-9A33-006E044FD76C}" type="slidenum">
              <a:rPr lang="el-GR" smtClean="0"/>
              <a:t>‹#›</a:t>
            </a:fld>
            <a:endParaRPr lang="el-GR"/>
          </a:p>
        </p:txBody>
      </p:sp>
    </p:spTree>
    <p:extLst>
      <p:ext uri="{BB962C8B-B14F-4D97-AF65-F5344CB8AC3E}">
        <p14:creationId xmlns:p14="http://schemas.microsoft.com/office/powerpoint/2010/main" val="329473543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D81D56-44A6-4118-2731-C1685107E2E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l-GR"/>
          </a:p>
        </p:txBody>
      </p:sp>
      <p:sp>
        <p:nvSpPr>
          <p:cNvPr id="3" name="Content Placeholder 2">
            <a:extLst>
              <a:ext uri="{FF2B5EF4-FFF2-40B4-BE49-F238E27FC236}">
                <a16:creationId xmlns:a16="http://schemas.microsoft.com/office/drawing/2014/main" id="{994CC4FB-97C1-DC52-9BB0-4C0F2A952DA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l-GR"/>
          </a:p>
        </p:txBody>
      </p:sp>
      <p:sp>
        <p:nvSpPr>
          <p:cNvPr id="4" name="Text Placeholder 3">
            <a:extLst>
              <a:ext uri="{FF2B5EF4-FFF2-40B4-BE49-F238E27FC236}">
                <a16:creationId xmlns:a16="http://schemas.microsoft.com/office/drawing/2014/main" id="{F5C3508D-559A-2A12-1D75-EF30CD3F20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0FF3B6C7-6ED3-1579-8FA5-954E6CAB7276}"/>
              </a:ext>
            </a:extLst>
          </p:cNvPr>
          <p:cNvSpPr>
            <a:spLocks noGrp="1"/>
          </p:cNvSpPr>
          <p:nvPr>
            <p:ph type="dt" sz="half" idx="10"/>
          </p:nvPr>
        </p:nvSpPr>
        <p:spPr/>
        <p:txBody>
          <a:bodyPr/>
          <a:lstStyle/>
          <a:p>
            <a:fld id="{F280910A-7D55-496B-B758-A36CAE1BE687}" type="datetimeFigureOut">
              <a:rPr lang="el-GR" smtClean="0"/>
              <a:t>20/3/2025</a:t>
            </a:fld>
            <a:endParaRPr lang="el-GR"/>
          </a:p>
        </p:txBody>
      </p:sp>
      <p:sp>
        <p:nvSpPr>
          <p:cNvPr id="6" name="Footer Placeholder 5">
            <a:extLst>
              <a:ext uri="{FF2B5EF4-FFF2-40B4-BE49-F238E27FC236}">
                <a16:creationId xmlns:a16="http://schemas.microsoft.com/office/drawing/2014/main" id="{B7BD556F-5A64-3B4C-D102-FD53764B972B}"/>
              </a:ext>
            </a:extLst>
          </p:cNvPr>
          <p:cNvSpPr>
            <a:spLocks noGrp="1"/>
          </p:cNvSpPr>
          <p:nvPr>
            <p:ph type="ftr" sz="quarter" idx="11"/>
          </p:nvPr>
        </p:nvSpPr>
        <p:spPr/>
        <p:txBody>
          <a:bodyPr/>
          <a:lstStyle/>
          <a:p>
            <a:endParaRPr lang="el-GR"/>
          </a:p>
        </p:txBody>
      </p:sp>
      <p:sp>
        <p:nvSpPr>
          <p:cNvPr id="7" name="Slide Number Placeholder 6">
            <a:extLst>
              <a:ext uri="{FF2B5EF4-FFF2-40B4-BE49-F238E27FC236}">
                <a16:creationId xmlns:a16="http://schemas.microsoft.com/office/drawing/2014/main" id="{31A559EB-8F7E-3454-4731-6E51B8036BE2}"/>
              </a:ext>
            </a:extLst>
          </p:cNvPr>
          <p:cNvSpPr>
            <a:spLocks noGrp="1"/>
          </p:cNvSpPr>
          <p:nvPr>
            <p:ph type="sldNum" sz="quarter" idx="12"/>
          </p:nvPr>
        </p:nvSpPr>
        <p:spPr/>
        <p:txBody>
          <a:bodyPr/>
          <a:lstStyle/>
          <a:p>
            <a:fld id="{F5DFEF04-3D3B-4261-9A33-006E044FD76C}" type="slidenum">
              <a:rPr lang="el-GR" smtClean="0"/>
              <a:t>‹#›</a:t>
            </a:fld>
            <a:endParaRPr lang="el-GR"/>
          </a:p>
        </p:txBody>
      </p:sp>
    </p:spTree>
    <p:extLst>
      <p:ext uri="{BB962C8B-B14F-4D97-AF65-F5344CB8AC3E}">
        <p14:creationId xmlns:p14="http://schemas.microsoft.com/office/powerpoint/2010/main" val="362852651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848F9-2B60-D164-30B1-92363EF5021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l-GR"/>
          </a:p>
        </p:txBody>
      </p:sp>
      <p:sp>
        <p:nvSpPr>
          <p:cNvPr id="3" name="Picture Placeholder 2">
            <a:extLst>
              <a:ext uri="{FF2B5EF4-FFF2-40B4-BE49-F238E27FC236}">
                <a16:creationId xmlns:a16="http://schemas.microsoft.com/office/drawing/2014/main" id="{B816295D-E823-98B2-0B61-D2D8B1B7F2A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l-GR"/>
          </a:p>
        </p:txBody>
      </p:sp>
      <p:sp>
        <p:nvSpPr>
          <p:cNvPr id="4" name="Text Placeholder 3">
            <a:extLst>
              <a:ext uri="{FF2B5EF4-FFF2-40B4-BE49-F238E27FC236}">
                <a16:creationId xmlns:a16="http://schemas.microsoft.com/office/drawing/2014/main" id="{5BD23EBD-4021-42B4-5C6C-14CB2503E1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9DCD232-4647-7BAD-BDE3-5F01A83497F9}"/>
              </a:ext>
            </a:extLst>
          </p:cNvPr>
          <p:cNvSpPr>
            <a:spLocks noGrp="1"/>
          </p:cNvSpPr>
          <p:nvPr>
            <p:ph type="dt" sz="half" idx="10"/>
          </p:nvPr>
        </p:nvSpPr>
        <p:spPr/>
        <p:txBody>
          <a:bodyPr/>
          <a:lstStyle/>
          <a:p>
            <a:fld id="{F280910A-7D55-496B-B758-A36CAE1BE687}" type="datetimeFigureOut">
              <a:rPr lang="el-GR" smtClean="0"/>
              <a:t>20/3/2025</a:t>
            </a:fld>
            <a:endParaRPr lang="el-GR"/>
          </a:p>
        </p:txBody>
      </p:sp>
      <p:sp>
        <p:nvSpPr>
          <p:cNvPr id="6" name="Footer Placeholder 5">
            <a:extLst>
              <a:ext uri="{FF2B5EF4-FFF2-40B4-BE49-F238E27FC236}">
                <a16:creationId xmlns:a16="http://schemas.microsoft.com/office/drawing/2014/main" id="{25D92023-054E-E0ED-8773-85C360BA6C63}"/>
              </a:ext>
            </a:extLst>
          </p:cNvPr>
          <p:cNvSpPr>
            <a:spLocks noGrp="1"/>
          </p:cNvSpPr>
          <p:nvPr>
            <p:ph type="ftr" sz="quarter" idx="11"/>
          </p:nvPr>
        </p:nvSpPr>
        <p:spPr/>
        <p:txBody>
          <a:bodyPr/>
          <a:lstStyle/>
          <a:p>
            <a:endParaRPr lang="el-GR"/>
          </a:p>
        </p:txBody>
      </p:sp>
      <p:sp>
        <p:nvSpPr>
          <p:cNvPr id="7" name="Slide Number Placeholder 6">
            <a:extLst>
              <a:ext uri="{FF2B5EF4-FFF2-40B4-BE49-F238E27FC236}">
                <a16:creationId xmlns:a16="http://schemas.microsoft.com/office/drawing/2014/main" id="{5C789298-16DA-69FF-C010-799AB0FD5558}"/>
              </a:ext>
            </a:extLst>
          </p:cNvPr>
          <p:cNvSpPr>
            <a:spLocks noGrp="1"/>
          </p:cNvSpPr>
          <p:nvPr>
            <p:ph type="sldNum" sz="quarter" idx="12"/>
          </p:nvPr>
        </p:nvSpPr>
        <p:spPr/>
        <p:txBody>
          <a:bodyPr/>
          <a:lstStyle/>
          <a:p>
            <a:fld id="{F5DFEF04-3D3B-4261-9A33-006E044FD76C}" type="slidenum">
              <a:rPr lang="el-GR" smtClean="0"/>
              <a:t>‹#›</a:t>
            </a:fld>
            <a:endParaRPr lang="el-GR"/>
          </a:p>
        </p:txBody>
      </p:sp>
    </p:spTree>
    <p:extLst>
      <p:ext uri="{BB962C8B-B14F-4D97-AF65-F5344CB8AC3E}">
        <p14:creationId xmlns:p14="http://schemas.microsoft.com/office/powerpoint/2010/main" val="30451012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656B3-D2B3-81D0-8AAD-7E2D2539D63A}"/>
              </a:ext>
            </a:extLst>
          </p:cNvPr>
          <p:cNvSpPr>
            <a:spLocks noGrp="1"/>
          </p:cNvSpPr>
          <p:nvPr>
            <p:ph type="title"/>
          </p:nvPr>
        </p:nvSpPr>
        <p:spPr/>
        <p:txBody>
          <a:bodyPr/>
          <a:lstStyle/>
          <a:p>
            <a:r>
              <a:rPr lang="en-GB"/>
              <a:t>Click to edit Master title style</a:t>
            </a:r>
            <a:endParaRPr lang="el-GR"/>
          </a:p>
        </p:txBody>
      </p:sp>
      <p:sp>
        <p:nvSpPr>
          <p:cNvPr id="3" name="Vertical Text Placeholder 2">
            <a:extLst>
              <a:ext uri="{FF2B5EF4-FFF2-40B4-BE49-F238E27FC236}">
                <a16:creationId xmlns:a16="http://schemas.microsoft.com/office/drawing/2014/main" id="{AE368F34-BBAF-F9BB-368A-90AAF6C39FF0}"/>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l-GR"/>
          </a:p>
        </p:txBody>
      </p:sp>
      <p:sp>
        <p:nvSpPr>
          <p:cNvPr id="4" name="Date Placeholder 3">
            <a:extLst>
              <a:ext uri="{FF2B5EF4-FFF2-40B4-BE49-F238E27FC236}">
                <a16:creationId xmlns:a16="http://schemas.microsoft.com/office/drawing/2014/main" id="{FDEDF223-88DE-0827-2926-C8018051B7D9}"/>
              </a:ext>
            </a:extLst>
          </p:cNvPr>
          <p:cNvSpPr>
            <a:spLocks noGrp="1"/>
          </p:cNvSpPr>
          <p:nvPr>
            <p:ph type="dt" sz="half" idx="10"/>
          </p:nvPr>
        </p:nvSpPr>
        <p:spPr/>
        <p:txBody>
          <a:bodyPr/>
          <a:lstStyle/>
          <a:p>
            <a:fld id="{F280910A-7D55-496B-B758-A36CAE1BE687}" type="datetimeFigureOut">
              <a:rPr lang="el-GR" smtClean="0"/>
              <a:t>20/3/2025</a:t>
            </a:fld>
            <a:endParaRPr lang="el-GR"/>
          </a:p>
        </p:txBody>
      </p:sp>
      <p:sp>
        <p:nvSpPr>
          <p:cNvPr id="5" name="Footer Placeholder 4">
            <a:extLst>
              <a:ext uri="{FF2B5EF4-FFF2-40B4-BE49-F238E27FC236}">
                <a16:creationId xmlns:a16="http://schemas.microsoft.com/office/drawing/2014/main" id="{30711E1B-A2AC-9F4F-85E6-B9D0852AAECE}"/>
              </a:ext>
            </a:extLst>
          </p:cNvPr>
          <p:cNvSpPr>
            <a:spLocks noGrp="1"/>
          </p:cNvSpPr>
          <p:nvPr>
            <p:ph type="ftr" sz="quarter" idx="11"/>
          </p:nvPr>
        </p:nvSpPr>
        <p:spPr/>
        <p:txBody>
          <a:bodyPr/>
          <a:lstStyle/>
          <a:p>
            <a:endParaRPr lang="el-GR"/>
          </a:p>
        </p:txBody>
      </p:sp>
      <p:sp>
        <p:nvSpPr>
          <p:cNvPr id="6" name="Slide Number Placeholder 5">
            <a:extLst>
              <a:ext uri="{FF2B5EF4-FFF2-40B4-BE49-F238E27FC236}">
                <a16:creationId xmlns:a16="http://schemas.microsoft.com/office/drawing/2014/main" id="{B5E4477A-3922-E531-CF41-711D3229B6AC}"/>
              </a:ext>
            </a:extLst>
          </p:cNvPr>
          <p:cNvSpPr>
            <a:spLocks noGrp="1"/>
          </p:cNvSpPr>
          <p:nvPr>
            <p:ph type="sldNum" sz="quarter" idx="12"/>
          </p:nvPr>
        </p:nvSpPr>
        <p:spPr/>
        <p:txBody>
          <a:bodyPr/>
          <a:lstStyle/>
          <a:p>
            <a:fld id="{F5DFEF04-3D3B-4261-9A33-006E044FD76C}" type="slidenum">
              <a:rPr lang="el-GR" smtClean="0"/>
              <a:t>‹#›</a:t>
            </a:fld>
            <a:endParaRPr lang="el-GR"/>
          </a:p>
        </p:txBody>
      </p:sp>
    </p:spTree>
    <p:extLst>
      <p:ext uri="{BB962C8B-B14F-4D97-AF65-F5344CB8AC3E}">
        <p14:creationId xmlns:p14="http://schemas.microsoft.com/office/powerpoint/2010/main" val="305254166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8D1D0DD-A38B-CDAE-F033-A13515DE7318}"/>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l-GR"/>
          </a:p>
        </p:txBody>
      </p:sp>
      <p:sp>
        <p:nvSpPr>
          <p:cNvPr id="3" name="Vertical Text Placeholder 2">
            <a:extLst>
              <a:ext uri="{FF2B5EF4-FFF2-40B4-BE49-F238E27FC236}">
                <a16:creationId xmlns:a16="http://schemas.microsoft.com/office/drawing/2014/main" id="{17F40F18-4E64-B8A1-0538-72C92D730E06}"/>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l-GR"/>
          </a:p>
        </p:txBody>
      </p:sp>
      <p:sp>
        <p:nvSpPr>
          <p:cNvPr id="4" name="Date Placeholder 3">
            <a:extLst>
              <a:ext uri="{FF2B5EF4-FFF2-40B4-BE49-F238E27FC236}">
                <a16:creationId xmlns:a16="http://schemas.microsoft.com/office/drawing/2014/main" id="{59BBE1B2-4299-222B-C512-D3B3265147BB}"/>
              </a:ext>
            </a:extLst>
          </p:cNvPr>
          <p:cNvSpPr>
            <a:spLocks noGrp="1"/>
          </p:cNvSpPr>
          <p:nvPr>
            <p:ph type="dt" sz="half" idx="10"/>
          </p:nvPr>
        </p:nvSpPr>
        <p:spPr/>
        <p:txBody>
          <a:bodyPr/>
          <a:lstStyle/>
          <a:p>
            <a:fld id="{F280910A-7D55-496B-B758-A36CAE1BE687}" type="datetimeFigureOut">
              <a:rPr lang="el-GR" smtClean="0"/>
              <a:t>20/3/2025</a:t>
            </a:fld>
            <a:endParaRPr lang="el-GR"/>
          </a:p>
        </p:txBody>
      </p:sp>
      <p:sp>
        <p:nvSpPr>
          <p:cNvPr id="5" name="Footer Placeholder 4">
            <a:extLst>
              <a:ext uri="{FF2B5EF4-FFF2-40B4-BE49-F238E27FC236}">
                <a16:creationId xmlns:a16="http://schemas.microsoft.com/office/drawing/2014/main" id="{10354E0A-A081-470F-D727-1275E6699AAA}"/>
              </a:ext>
            </a:extLst>
          </p:cNvPr>
          <p:cNvSpPr>
            <a:spLocks noGrp="1"/>
          </p:cNvSpPr>
          <p:nvPr>
            <p:ph type="ftr" sz="quarter" idx="11"/>
          </p:nvPr>
        </p:nvSpPr>
        <p:spPr/>
        <p:txBody>
          <a:bodyPr/>
          <a:lstStyle/>
          <a:p>
            <a:endParaRPr lang="el-GR"/>
          </a:p>
        </p:txBody>
      </p:sp>
      <p:sp>
        <p:nvSpPr>
          <p:cNvPr id="6" name="Slide Number Placeholder 5">
            <a:extLst>
              <a:ext uri="{FF2B5EF4-FFF2-40B4-BE49-F238E27FC236}">
                <a16:creationId xmlns:a16="http://schemas.microsoft.com/office/drawing/2014/main" id="{A5044A25-11EC-4489-2D9B-DBB1ADE4BCBE}"/>
              </a:ext>
            </a:extLst>
          </p:cNvPr>
          <p:cNvSpPr>
            <a:spLocks noGrp="1"/>
          </p:cNvSpPr>
          <p:nvPr>
            <p:ph type="sldNum" sz="quarter" idx="12"/>
          </p:nvPr>
        </p:nvSpPr>
        <p:spPr/>
        <p:txBody>
          <a:bodyPr/>
          <a:lstStyle/>
          <a:p>
            <a:fld id="{F5DFEF04-3D3B-4261-9A33-006E044FD76C}" type="slidenum">
              <a:rPr lang="el-GR" smtClean="0"/>
              <a:t>‹#›</a:t>
            </a:fld>
            <a:endParaRPr lang="el-GR"/>
          </a:p>
        </p:txBody>
      </p:sp>
    </p:spTree>
    <p:extLst>
      <p:ext uri="{BB962C8B-B14F-4D97-AF65-F5344CB8AC3E}">
        <p14:creationId xmlns:p14="http://schemas.microsoft.com/office/powerpoint/2010/main" val="332536333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Κενό">
    <p:spTree>
      <p:nvGrpSpPr>
        <p:cNvPr id="1" name=""/>
        <p:cNvGrpSpPr/>
        <p:nvPr/>
      </p:nvGrpSpPr>
      <p:grpSpPr>
        <a:xfrm>
          <a:off x="0" y="0"/>
          <a:ext cx="0" cy="0"/>
          <a:chOff x="0" y="0"/>
          <a:chExt cx="0" cy="0"/>
        </a:xfrm>
      </p:grpSpPr>
      <p:sp>
        <p:nvSpPr>
          <p:cNvPr id="2" name="Θέση ημερομηνίας 1">
            <a:extLst>
              <a:ext uri="{FF2B5EF4-FFF2-40B4-BE49-F238E27FC236}">
                <a16:creationId xmlns:a16="http://schemas.microsoft.com/office/drawing/2014/main" id="{7433D8BE-1628-8A35-8F0B-14624DD7737E}"/>
              </a:ext>
            </a:extLst>
          </p:cNvPr>
          <p:cNvSpPr>
            <a:spLocks noGrp="1"/>
          </p:cNvSpPr>
          <p:nvPr>
            <p:ph type="dt" sz="half" idx="10"/>
          </p:nvPr>
        </p:nvSpPr>
        <p:spPr/>
        <p:txBody>
          <a:bodyPr/>
          <a:lstStyle/>
          <a:p>
            <a:fld id="{E9BD8CA4-83CA-49A3-8FAA-31EB3715B7F5}" type="datetimeFigureOut">
              <a:rPr lang="el-GR" smtClean="0"/>
              <a:t>20/3/2025</a:t>
            </a:fld>
            <a:endParaRPr lang="el-GR"/>
          </a:p>
        </p:txBody>
      </p:sp>
      <p:sp>
        <p:nvSpPr>
          <p:cNvPr id="3" name="Θέση υποσέλιδου 2">
            <a:extLst>
              <a:ext uri="{FF2B5EF4-FFF2-40B4-BE49-F238E27FC236}">
                <a16:creationId xmlns:a16="http://schemas.microsoft.com/office/drawing/2014/main" id="{C163F797-802C-1081-6ACE-D804E850EDF9}"/>
              </a:ext>
            </a:extLst>
          </p:cNvPr>
          <p:cNvSpPr>
            <a:spLocks noGrp="1"/>
          </p:cNvSpPr>
          <p:nvPr>
            <p:ph type="ftr" sz="quarter" idx="11"/>
          </p:nvPr>
        </p:nvSpPr>
        <p:spPr/>
        <p:txBody>
          <a:bodyPr/>
          <a:lstStyle/>
          <a:p>
            <a:endParaRPr lang="el-GR"/>
          </a:p>
        </p:txBody>
      </p:sp>
      <p:sp>
        <p:nvSpPr>
          <p:cNvPr id="4" name="Θέση αριθμού διαφάνειας 3">
            <a:extLst>
              <a:ext uri="{FF2B5EF4-FFF2-40B4-BE49-F238E27FC236}">
                <a16:creationId xmlns:a16="http://schemas.microsoft.com/office/drawing/2014/main" id="{1641148D-2C70-F78B-7280-CF285133F8A8}"/>
              </a:ext>
            </a:extLst>
          </p:cNvPr>
          <p:cNvSpPr>
            <a:spLocks noGrp="1"/>
          </p:cNvSpPr>
          <p:nvPr>
            <p:ph type="sldNum" sz="quarter" idx="12"/>
          </p:nvPr>
        </p:nvSpPr>
        <p:spPr/>
        <p:txBody>
          <a:bodyPr/>
          <a:lstStyle/>
          <a:p>
            <a:fld id="{1F23D733-D04E-4A29-B011-BE3A611FF4F9}" type="slidenum">
              <a:rPr lang="el-GR" smtClean="0"/>
              <a:t>‹#›</a:t>
            </a:fld>
            <a:endParaRPr lang="el-GR"/>
          </a:p>
        </p:txBody>
      </p:sp>
    </p:spTree>
    <p:extLst>
      <p:ext uri="{BB962C8B-B14F-4D97-AF65-F5344CB8AC3E}">
        <p14:creationId xmlns:p14="http://schemas.microsoft.com/office/powerpoint/2010/main" val="27928171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27484C-BF1A-77C9-4127-DED8B28428B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22661CA-74F1-F043-31D7-BBB3D40FAEC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74E8872-C829-82B2-B9F9-5FCD4BC6E8A5}"/>
              </a:ext>
            </a:extLst>
          </p:cNvPr>
          <p:cNvSpPr>
            <a:spLocks noGrp="1"/>
          </p:cNvSpPr>
          <p:nvPr>
            <p:ph type="dt" sz="half" idx="10"/>
          </p:nvPr>
        </p:nvSpPr>
        <p:spPr/>
        <p:txBody>
          <a:bodyPr/>
          <a:lstStyle/>
          <a:p>
            <a:fld id="{10923710-2D91-4412-BF65-82762394DFC3}" type="datetimeFigureOut">
              <a:rPr lang="en-US" smtClean="0"/>
              <a:t>20/3/2025</a:t>
            </a:fld>
            <a:endParaRPr lang="en-US"/>
          </a:p>
        </p:txBody>
      </p:sp>
      <p:sp>
        <p:nvSpPr>
          <p:cNvPr id="5" name="Footer Placeholder 4">
            <a:extLst>
              <a:ext uri="{FF2B5EF4-FFF2-40B4-BE49-F238E27FC236}">
                <a16:creationId xmlns:a16="http://schemas.microsoft.com/office/drawing/2014/main" id="{955A178E-807C-0986-0516-74C6B234F5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7B835D-494E-B5DB-4883-163D4C60FC9C}"/>
              </a:ext>
            </a:extLst>
          </p:cNvPr>
          <p:cNvSpPr>
            <a:spLocks noGrp="1"/>
          </p:cNvSpPr>
          <p:nvPr>
            <p:ph type="sldNum" sz="quarter" idx="12"/>
          </p:nvPr>
        </p:nvSpPr>
        <p:spPr/>
        <p:txBody>
          <a:bodyPr/>
          <a:lstStyle/>
          <a:p>
            <a:fld id="{3755EFD7-6636-4E08-A712-E2D8C6EF481A}" type="slidenum">
              <a:rPr lang="en-US" smtClean="0"/>
              <a:t>‹#›</a:t>
            </a:fld>
            <a:endParaRPr lang="en-US"/>
          </a:p>
        </p:txBody>
      </p:sp>
    </p:spTree>
    <p:extLst>
      <p:ext uri="{BB962C8B-B14F-4D97-AF65-F5344CB8AC3E}">
        <p14:creationId xmlns:p14="http://schemas.microsoft.com/office/powerpoint/2010/main" val="24353715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C8B0B-55D9-48FB-B195-CA4A81ED39D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B784FAC-4150-4AF6-224D-065B1F60519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4BCAC5B-0D4C-F861-F8E0-AAEA07F2A9B9}"/>
              </a:ext>
            </a:extLst>
          </p:cNvPr>
          <p:cNvSpPr>
            <a:spLocks noGrp="1"/>
          </p:cNvSpPr>
          <p:nvPr>
            <p:ph type="dt" sz="half" idx="10"/>
          </p:nvPr>
        </p:nvSpPr>
        <p:spPr/>
        <p:txBody>
          <a:bodyPr/>
          <a:lstStyle/>
          <a:p>
            <a:fld id="{10923710-2D91-4412-BF65-82762394DFC3}" type="datetimeFigureOut">
              <a:rPr lang="en-US" smtClean="0"/>
              <a:t>20/3/2025</a:t>
            </a:fld>
            <a:endParaRPr lang="en-US"/>
          </a:p>
        </p:txBody>
      </p:sp>
      <p:sp>
        <p:nvSpPr>
          <p:cNvPr id="5" name="Footer Placeholder 4">
            <a:extLst>
              <a:ext uri="{FF2B5EF4-FFF2-40B4-BE49-F238E27FC236}">
                <a16:creationId xmlns:a16="http://schemas.microsoft.com/office/drawing/2014/main" id="{67F27FCA-A41B-20B0-D93A-C4D59E0BFD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ABFC91-D32B-E3A2-9AA1-B31BE147BBB3}"/>
              </a:ext>
            </a:extLst>
          </p:cNvPr>
          <p:cNvSpPr>
            <a:spLocks noGrp="1"/>
          </p:cNvSpPr>
          <p:nvPr>
            <p:ph type="sldNum" sz="quarter" idx="12"/>
          </p:nvPr>
        </p:nvSpPr>
        <p:spPr/>
        <p:txBody>
          <a:bodyPr/>
          <a:lstStyle/>
          <a:p>
            <a:fld id="{3755EFD7-6636-4E08-A712-E2D8C6EF481A}" type="slidenum">
              <a:rPr lang="en-US" smtClean="0"/>
              <a:t>‹#›</a:t>
            </a:fld>
            <a:endParaRPr lang="en-US"/>
          </a:p>
        </p:txBody>
      </p:sp>
    </p:spTree>
    <p:extLst>
      <p:ext uri="{BB962C8B-B14F-4D97-AF65-F5344CB8AC3E}">
        <p14:creationId xmlns:p14="http://schemas.microsoft.com/office/powerpoint/2010/main" val="5677271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Δύο περιεχόμενα">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l-GR"/>
              <a:t>Κάντε κλικ για να επεξεργαστείτε τον τίτλο υποδείγματος</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dirty="0"/>
          </a:p>
        </p:txBody>
      </p:sp>
      <p:sp>
        <p:nvSpPr>
          <p:cNvPr id="5" name="Date Placeholder 4"/>
          <p:cNvSpPr>
            <a:spLocks noGrp="1"/>
          </p:cNvSpPr>
          <p:nvPr>
            <p:ph type="dt" sz="half" idx="10"/>
          </p:nvPr>
        </p:nvSpPr>
        <p:spPr/>
        <p:txBody>
          <a:bodyPr/>
          <a:lstStyle/>
          <a:p>
            <a:fld id="{45F8C5D9-83F3-4AAE-970E-8AB6765513FC}" type="datetimeFigureOut">
              <a:rPr lang="en-US" smtClean="0"/>
              <a:t>20/3/2025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DF7B2FC-6B20-4FA0-B556-991368F424BF}" type="slidenum">
              <a:rPr lang="en-US" smtClean="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7446703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Τίτλος και περιεχόμεν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l-GR"/>
              <a:t>Κάντε κλικ για να επεξεργαστείτε τον τίτλο υποδείγματος</a:t>
            </a:r>
            <a:endParaRPr lang="en-US" dirty="0"/>
          </a:p>
        </p:txBody>
      </p:sp>
      <p:sp>
        <p:nvSpPr>
          <p:cNvPr id="3" name="Content Placeholder 2"/>
          <p:cNvSpPr>
            <a:spLocks noGrp="1"/>
          </p:cNvSpPr>
          <p:nvPr>
            <p:ph idx="1"/>
          </p:nvPr>
        </p:nvSpPr>
        <p:spPr/>
        <p:txBody>
          <a:bodyPr anchor="t"/>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dirty="0"/>
          </a:p>
        </p:txBody>
      </p:sp>
      <p:sp>
        <p:nvSpPr>
          <p:cNvPr id="4" name="Date Placeholder 3"/>
          <p:cNvSpPr>
            <a:spLocks noGrp="1"/>
          </p:cNvSpPr>
          <p:nvPr>
            <p:ph type="dt" sz="half" idx="10"/>
          </p:nvPr>
        </p:nvSpPr>
        <p:spPr/>
        <p:txBody>
          <a:bodyPr/>
          <a:lstStyle/>
          <a:p>
            <a:fld id="{45F8C5D9-83F3-4AAE-970E-8AB6765513FC}" type="datetimeFigureOut">
              <a:rPr lang="en-US" smtClean="0"/>
              <a:t>20/3/2025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F7B2FC-6B20-4FA0-B556-991368F424BF}" type="slidenum">
              <a:rPr lang="en-US" smtClean="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3885845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4.xml"/><Relationship Id="rId1" Type="http://schemas.openxmlformats.org/officeDocument/2006/relationships/slideLayout" Target="../slideLayouts/slideLayout13.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16.xml"/><Relationship Id="rId1" Type="http://schemas.openxmlformats.org/officeDocument/2006/relationships/slideLayout" Target="../slideLayouts/slideLayout15.xml"/><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1295BF8-E2D4-50E9-C2E0-F3B341BF8C0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l-GR"/>
          </a:p>
        </p:txBody>
      </p:sp>
      <p:sp>
        <p:nvSpPr>
          <p:cNvPr id="3" name="Text Placeholder 2">
            <a:extLst>
              <a:ext uri="{FF2B5EF4-FFF2-40B4-BE49-F238E27FC236}">
                <a16:creationId xmlns:a16="http://schemas.microsoft.com/office/drawing/2014/main" id="{33FAE609-7EAB-3162-4364-A0760D4BD01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l-GR"/>
          </a:p>
        </p:txBody>
      </p:sp>
      <p:sp>
        <p:nvSpPr>
          <p:cNvPr id="4" name="Date Placeholder 3">
            <a:extLst>
              <a:ext uri="{FF2B5EF4-FFF2-40B4-BE49-F238E27FC236}">
                <a16:creationId xmlns:a16="http://schemas.microsoft.com/office/drawing/2014/main" id="{58D9D135-A76B-28C2-5C1A-A83DF036FE3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280910A-7D55-496B-B758-A36CAE1BE687}" type="datetimeFigureOut">
              <a:rPr lang="el-GR" smtClean="0"/>
              <a:t>20/3/2025</a:t>
            </a:fld>
            <a:endParaRPr lang="el-GR"/>
          </a:p>
        </p:txBody>
      </p:sp>
      <p:sp>
        <p:nvSpPr>
          <p:cNvPr id="5" name="Footer Placeholder 4">
            <a:extLst>
              <a:ext uri="{FF2B5EF4-FFF2-40B4-BE49-F238E27FC236}">
                <a16:creationId xmlns:a16="http://schemas.microsoft.com/office/drawing/2014/main" id="{0224E754-7771-BF81-63E9-DE4F91F04F4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l-GR"/>
          </a:p>
        </p:txBody>
      </p:sp>
      <p:sp>
        <p:nvSpPr>
          <p:cNvPr id="6" name="Slide Number Placeholder 5">
            <a:extLst>
              <a:ext uri="{FF2B5EF4-FFF2-40B4-BE49-F238E27FC236}">
                <a16:creationId xmlns:a16="http://schemas.microsoft.com/office/drawing/2014/main" id="{9FEBE344-491D-1AB8-17A9-CF012ED9C43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5DFEF04-3D3B-4261-9A33-006E044FD76C}" type="slidenum">
              <a:rPr lang="el-GR" smtClean="0"/>
              <a:t>‹#›</a:t>
            </a:fld>
            <a:endParaRPr lang="el-GR"/>
          </a:p>
        </p:txBody>
      </p:sp>
    </p:spTree>
    <p:extLst>
      <p:ext uri="{BB962C8B-B14F-4D97-AF65-F5344CB8AC3E}">
        <p14:creationId xmlns:p14="http://schemas.microsoft.com/office/powerpoint/2010/main" val="130591568"/>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51" r:id="rId3"/>
    <p:sldLayoutId id="2147483652" r:id="rId4"/>
    <p:sldLayoutId id="2147483653" r:id="rId5"/>
    <p:sldLayoutId id="2147483654" r:id="rId6"/>
    <p:sldLayoutId id="2147483661"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p14:dur="10"/>
    </mc:Choice>
    <mc:Fallback xmlns="">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Θέση τίτλου 1">
            <a:extLst>
              <a:ext uri="{FF2B5EF4-FFF2-40B4-BE49-F238E27FC236}">
                <a16:creationId xmlns:a16="http://schemas.microsoft.com/office/drawing/2014/main" id="{DD4D2611-AB5F-D682-82FD-3D3877A1875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l-GR"/>
              <a:t>Κάντε κλικ για να επεξεργαστείτε τον τίτλο υποδείγματος</a:t>
            </a:r>
          </a:p>
        </p:txBody>
      </p:sp>
      <p:sp>
        <p:nvSpPr>
          <p:cNvPr id="3" name="Θέση κειμένου 2">
            <a:extLst>
              <a:ext uri="{FF2B5EF4-FFF2-40B4-BE49-F238E27FC236}">
                <a16:creationId xmlns:a16="http://schemas.microsoft.com/office/drawing/2014/main" id="{2BE7CDB5-2FCF-A163-E9AC-FE64131EB4C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4" name="Θέση ημερομηνίας 3">
            <a:extLst>
              <a:ext uri="{FF2B5EF4-FFF2-40B4-BE49-F238E27FC236}">
                <a16:creationId xmlns:a16="http://schemas.microsoft.com/office/drawing/2014/main" id="{100FAF55-3833-AC64-C9AE-8D8E9529389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BD8CA4-83CA-49A3-8FAA-31EB3715B7F5}" type="datetimeFigureOut">
              <a:rPr lang="el-GR" smtClean="0"/>
              <a:t>20/3/2025</a:t>
            </a:fld>
            <a:endParaRPr lang="el-GR"/>
          </a:p>
        </p:txBody>
      </p:sp>
      <p:sp>
        <p:nvSpPr>
          <p:cNvPr id="5" name="Θέση υποσέλιδου 4">
            <a:extLst>
              <a:ext uri="{FF2B5EF4-FFF2-40B4-BE49-F238E27FC236}">
                <a16:creationId xmlns:a16="http://schemas.microsoft.com/office/drawing/2014/main" id="{A500EBB8-BE9F-A047-912C-C46F0C794BE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l-GR"/>
          </a:p>
        </p:txBody>
      </p:sp>
      <p:sp>
        <p:nvSpPr>
          <p:cNvPr id="6" name="Θέση αριθμού διαφάνειας 5">
            <a:extLst>
              <a:ext uri="{FF2B5EF4-FFF2-40B4-BE49-F238E27FC236}">
                <a16:creationId xmlns:a16="http://schemas.microsoft.com/office/drawing/2014/main" id="{710C901E-9E1A-92B9-E215-435026F358C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23D733-D04E-4A29-B011-BE3A611FF4F9}" type="slidenum">
              <a:rPr lang="el-GR" smtClean="0"/>
              <a:t>‹#›</a:t>
            </a:fld>
            <a:endParaRPr lang="el-GR"/>
          </a:p>
        </p:txBody>
      </p:sp>
    </p:spTree>
    <p:extLst>
      <p:ext uri="{BB962C8B-B14F-4D97-AF65-F5344CB8AC3E}">
        <p14:creationId xmlns:p14="http://schemas.microsoft.com/office/powerpoint/2010/main" val="3641733057"/>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67D4B8B-66D6-393D-FBB7-7A54CB578EC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B481AAB-3452-F6D8-1547-C7C851F6179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FDBD348-2986-E066-DB7B-BEFA4E503E8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0923710-2D91-4412-BF65-82762394DFC3}" type="datetimeFigureOut">
              <a:rPr lang="en-US" smtClean="0"/>
              <a:t>20/3/2025</a:t>
            </a:fld>
            <a:endParaRPr lang="en-US"/>
          </a:p>
        </p:txBody>
      </p:sp>
      <p:sp>
        <p:nvSpPr>
          <p:cNvPr id="5" name="Footer Placeholder 4">
            <a:extLst>
              <a:ext uri="{FF2B5EF4-FFF2-40B4-BE49-F238E27FC236}">
                <a16:creationId xmlns:a16="http://schemas.microsoft.com/office/drawing/2014/main" id="{D60EEE43-3D5E-4EAB-68AF-466827B3E7D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782A7AD-7981-5BA8-D2F8-92AC7295692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755EFD7-6636-4E08-A712-E2D8C6EF481A}" type="slidenum">
              <a:rPr lang="en-US" smtClean="0"/>
              <a:t>‹#›</a:t>
            </a:fld>
            <a:endParaRPr lang="en-US"/>
          </a:p>
        </p:txBody>
      </p:sp>
    </p:spTree>
    <p:extLst>
      <p:ext uri="{BB962C8B-B14F-4D97-AF65-F5344CB8AC3E}">
        <p14:creationId xmlns:p14="http://schemas.microsoft.com/office/powerpoint/2010/main" val="2447920518"/>
      </p:ext>
    </p:extLst>
  </p:cSld>
  <p:clrMap bg1="lt1" tx1="dk1" bg2="lt2" tx2="dk2" accent1="accent1" accent2="accent2" accent3="accent3" accent4="accent4" accent5="accent5" accent6="accent6" hlink="hlink" folHlink="folHlink"/>
  <p:sldLayoutIdLst>
    <p:sldLayoutId id="2147483650" r:id="rId1"/>
    <p:sldLayoutId id="2147483649"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4">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l-GR"/>
              <a:t>Κάντε κλικ για να επεξεργαστείτε τον τίτλο υποδείγματος</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5F8C5D9-83F3-4AAE-970E-8AB6765513FC}" type="datetimeFigureOut">
              <a:rPr lang="en-US" smtClean="0"/>
              <a:t>20/3/2025</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1DF7B2FC-6B20-4FA0-B556-991368F424BF}" type="slidenum">
              <a:rPr lang="en-US" smtClean="0"/>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35055630"/>
      </p:ext>
    </p:extLst>
  </p:cSld>
  <p:clrMap bg1="lt1" tx1="dk1" bg2="lt2" tx2="dk2" accent1="accent1" accent2="accent2" accent3="accent3" accent4="accent4" accent5="accent5" accent6="accent6" hlink="hlink" folHlink="folHlink"/>
  <p:sldLayoutIdLst>
    <p:sldLayoutId id="2147483688" r:id="rId1"/>
    <p:sldLayoutId id="2147483686" r:id="rId2"/>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3.png"/><Relationship Id="rId7" Type="http://schemas.openxmlformats.org/officeDocument/2006/relationships/diagramQuickStyle" Target="../diagrams/quickStyle1.xml"/><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diagramLayout" Target="../diagrams/layout1.xml"/><Relationship Id="rId11" Type="http://schemas.openxmlformats.org/officeDocument/2006/relationships/image" Target="../media/image6.jpeg"/><Relationship Id="rId5" Type="http://schemas.openxmlformats.org/officeDocument/2006/relationships/diagramData" Target="../diagrams/data1.xml"/><Relationship Id="rId10" Type="http://schemas.openxmlformats.org/officeDocument/2006/relationships/image" Target="../media/image5.jpeg"/><Relationship Id="rId4" Type="http://schemas.openxmlformats.org/officeDocument/2006/relationships/image" Target="../media/image4.jpeg"/><Relationship Id="rId9" Type="http://schemas.microsoft.com/office/2007/relationships/diagramDrawing" Target="../diagrams/drawing1.xml"/></Relationships>
</file>

<file path=ppt/slides/_rels/slide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7.xml"/><Relationship Id="rId4" Type="http://schemas.openxmlformats.org/officeDocument/2006/relationships/image" Target="../media/image9.jpeg"/></Relationships>
</file>

<file path=ppt/slides/_rels/slide3.xml.rels><?xml version="1.0" encoding="UTF-8" standalone="yes"?>
<Relationships xmlns="http://schemas.openxmlformats.org/package/2006/relationships"><Relationship Id="rId3" Type="http://schemas.openxmlformats.org/officeDocument/2006/relationships/hyperlink" Target="https://www.picpedia.org/highway-signs/m/mission.html" TargetMode="External"/><Relationship Id="rId2" Type="http://schemas.openxmlformats.org/officeDocument/2006/relationships/image" Target="../media/image10.jpg"/><Relationship Id="rId1" Type="http://schemas.openxmlformats.org/officeDocument/2006/relationships/slideLayout" Target="../slideLayouts/slideLayout7.xml"/><Relationship Id="rId4" Type="http://schemas.openxmlformats.org/officeDocument/2006/relationships/hyperlink" Target="https://creativecommons.org/licenses/by-sa/3.0/" TargetMode="External"/></Relationships>
</file>

<file path=ppt/slides/_rels/slide4.xml.rels><?xml version="1.0" encoding="UTF-8" standalone="yes"?>
<Relationships xmlns="http://schemas.openxmlformats.org/package/2006/relationships"><Relationship Id="rId8" Type="http://schemas.openxmlformats.org/officeDocument/2006/relationships/image" Target="../media/image17.jpeg"/><Relationship Id="rId3" Type="http://schemas.openxmlformats.org/officeDocument/2006/relationships/image" Target="../media/image12.jpeg"/><Relationship Id="rId7" Type="http://schemas.openxmlformats.org/officeDocument/2006/relationships/image" Target="../media/image16.jpeg"/><Relationship Id="rId2" Type="http://schemas.openxmlformats.org/officeDocument/2006/relationships/image" Target="../media/image11.jpeg"/><Relationship Id="rId1" Type="http://schemas.openxmlformats.org/officeDocument/2006/relationships/slideLayout" Target="../slideLayouts/slideLayout7.xml"/><Relationship Id="rId6" Type="http://schemas.openxmlformats.org/officeDocument/2006/relationships/image" Target="../media/image15.jpeg"/><Relationship Id="rId11" Type="http://schemas.openxmlformats.org/officeDocument/2006/relationships/image" Target="../media/image20.jpeg"/><Relationship Id="rId5" Type="http://schemas.openxmlformats.org/officeDocument/2006/relationships/image" Target="../media/image14.jpeg"/><Relationship Id="rId10" Type="http://schemas.openxmlformats.org/officeDocument/2006/relationships/image" Target="../media/image19.jpeg"/><Relationship Id="rId4" Type="http://schemas.openxmlformats.org/officeDocument/2006/relationships/image" Target="../media/image13.jpeg"/><Relationship Id="rId9" Type="http://schemas.openxmlformats.org/officeDocument/2006/relationships/image" Target="../media/image18.jpeg"/></Relationships>
</file>

<file path=ppt/slides/_rels/slide5.xml.rels><?xml version="1.0" encoding="UTF-8" standalone="yes"?>
<Relationships xmlns="http://schemas.openxmlformats.org/package/2006/relationships"><Relationship Id="rId8" Type="http://schemas.openxmlformats.org/officeDocument/2006/relationships/image" Target="../media/image26.jpeg"/><Relationship Id="rId3" Type="http://schemas.openxmlformats.org/officeDocument/2006/relationships/image" Target="../media/image21.jpeg"/><Relationship Id="rId7" Type="http://schemas.openxmlformats.org/officeDocument/2006/relationships/image" Target="../media/image25.jpe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24.jpeg"/><Relationship Id="rId5" Type="http://schemas.openxmlformats.org/officeDocument/2006/relationships/image" Target="../media/image23.jpeg"/><Relationship Id="rId4" Type="http://schemas.openxmlformats.org/officeDocument/2006/relationships/image" Target="../media/image22.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30.png"/><Relationship Id="rId4" Type="http://schemas.openxmlformats.org/officeDocument/2006/relationships/image" Target="../media/image29.png"/></Relationships>
</file>

<file path=ppt/slides/_rels/slide9.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2.png"/><Relationship Id="rId7" Type="http://schemas.openxmlformats.org/officeDocument/2006/relationships/hyperlink" Target="https://www.wallpaperflare.com/brown-cows-sunlight-farm-fence-landscape-animals-field-wallpaper-pwrbz" TargetMode="External"/><Relationship Id="rId2" Type="http://schemas.openxmlformats.org/officeDocument/2006/relationships/image" Target="../media/image31.png"/><Relationship Id="rId1" Type="http://schemas.openxmlformats.org/officeDocument/2006/relationships/slideLayout" Target="../slideLayouts/slideLayout7.xml"/><Relationship Id="rId6" Type="http://schemas.openxmlformats.org/officeDocument/2006/relationships/image" Target="../media/image35.jpg"/><Relationship Id="rId5" Type="http://schemas.openxmlformats.org/officeDocument/2006/relationships/image" Target="../media/image34.png"/><Relationship Id="rId4" Type="http://schemas.openxmlformats.org/officeDocument/2006/relationships/image" Target="../media/image33.png"/><Relationship Id="rId9" Type="http://schemas.openxmlformats.org/officeDocument/2006/relationships/image" Target="../media/image37.jpeg"/></Relationships>
</file>

<file path=ppt/slides/_rels/slide10.xml.rels><?xml version="1.0" encoding="UTF-8" standalone="yes"?>
<Relationships xmlns="http://schemas.openxmlformats.org/package/2006/relationships"><Relationship Id="rId2" Type="http://schemas.openxmlformats.org/officeDocument/2006/relationships/image" Target="../media/image38.jp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40.jp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1.jpg"/><Relationship Id="rId1" Type="http://schemas.openxmlformats.org/officeDocument/2006/relationships/slideLayout" Target="../slideLayouts/slideLayout15.xml"/><Relationship Id="rId6" Type="http://schemas.openxmlformats.org/officeDocument/2006/relationships/image" Target="../media/image44.svg"/><Relationship Id="rId5" Type="http://schemas.openxmlformats.org/officeDocument/2006/relationships/image" Target="../media/image43.png"/><Relationship Id="rId4" Type="http://schemas.openxmlformats.org/officeDocument/2006/relationships/image" Target="../media/image42.svg"/></Relationships>
</file>

<file path=ppt/slides/_rels/slide17.xml.rels><?xml version="1.0" encoding="UTF-8" standalone="yes"?>
<Relationships xmlns="http://schemas.openxmlformats.org/package/2006/relationships"><Relationship Id="rId8" Type="http://schemas.openxmlformats.org/officeDocument/2006/relationships/hyperlink" Target="https://www.pngall.com/plastic-png/download/54449" TargetMode="External"/><Relationship Id="rId3" Type="http://schemas.openxmlformats.org/officeDocument/2006/relationships/hyperlink" Target="https://malat-webspace.royalroads.ca/rru0011/the-continuing-growth-and-education-of-marshall-hartlen-digital-savant/" TargetMode="External"/><Relationship Id="rId7" Type="http://schemas.openxmlformats.org/officeDocument/2006/relationships/image" Target="../media/image48.png"/><Relationship Id="rId2" Type="http://schemas.openxmlformats.org/officeDocument/2006/relationships/image" Target="../media/image45.jpg"/><Relationship Id="rId1" Type="http://schemas.openxmlformats.org/officeDocument/2006/relationships/slideLayout" Target="../slideLayouts/slideLayout7.xml"/><Relationship Id="rId6" Type="http://schemas.openxmlformats.org/officeDocument/2006/relationships/hyperlink" Target="https://www.eea.europa.eu/el/articles/energeia-apo-ananeosimes-piges-basikos?utm_source=EEASubscriptions&amp;utm_medium=RSSFeeds&amp;utm_campaign=Generic" TargetMode="External"/><Relationship Id="rId5" Type="http://schemas.openxmlformats.org/officeDocument/2006/relationships/image" Target="../media/image47.jpeg"/><Relationship Id="rId4" Type="http://schemas.openxmlformats.org/officeDocument/2006/relationships/image" Target="../media/image46.jpeg"/><Relationship Id="rId9" Type="http://schemas.openxmlformats.org/officeDocument/2006/relationships/image" Target="../media/image49.jpeg"/></Relationships>
</file>

<file path=ppt/slides/_rels/slide18.xml.rels><?xml version="1.0" encoding="UTF-8" standalone="yes"?>
<Relationships xmlns="http://schemas.openxmlformats.org/package/2006/relationships"><Relationship Id="rId3" Type="http://schemas.openxmlformats.org/officeDocument/2006/relationships/hyperlink" Target="https://malat-webspace.royalroads.ca/rru0011/the-continuing-growth-and-education-of-marshall-hartlen-digital-savant/" TargetMode="External"/><Relationship Id="rId2" Type="http://schemas.openxmlformats.org/officeDocument/2006/relationships/image" Target="../media/image45.jpg"/><Relationship Id="rId1" Type="http://schemas.openxmlformats.org/officeDocument/2006/relationships/slideLayout" Target="../slideLayouts/slideLayout7.xml"/><Relationship Id="rId5" Type="http://schemas.openxmlformats.org/officeDocument/2006/relationships/hyperlink" Target="https://www.votewatch.eu/blog/capitals-circle-group-vote-watch-europe-join-forces-announce-strategic-cooperation-in-eu-public-policy-analysis-intelligence/" TargetMode="External"/><Relationship Id="rId4" Type="http://schemas.openxmlformats.org/officeDocument/2006/relationships/image" Target="../media/image50.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red white and blue logo">
            <a:extLst>
              <a:ext uri="{FF2B5EF4-FFF2-40B4-BE49-F238E27FC236}">
                <a16:creationId xmlns:a16="http://schemas.microsoft.com/office/drawing/2014/main" id="{216B721F-A2D2-A76E-AFE5-EA7C3E925B60}"/>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974679" y="809743"/>
            <a:ext cx="4080062" cy="2474001"/>
          </a:xfrm>
          <a:prstGeom prst="rect">
            <a:avLst/>
          </a:prstGeom>
          <a:noFill/>
          <a:ln>
            <a:noFill/>
          </a:ln>
        </p:spPr>
      </p:pic>
      <p:grpSp>
        <p:nvGrpSpPr>
          <p:cNvPr id="8" name="Group 7">
            <a:extLst>
              <a:ext uri="{FF2B5EF4-FFF2-40B4-BE49-F238E27FC236}">
                <a16:creationId xmlns:a16="http://schemas.microsoft.com/office/drawing/2014/main" id="{CB48BA88-69F9-4955-3C5D-84F583C41CDC}"/>
              </a:ext>
            </a:extLst>
          </p:cNvPr>
          <p:cNvGrpSpPr/>
          <p:nvPr/>
        </p:nvGrpSpPr>
        <p:grpSpPr>
          <a:xfrm>
            <a:off x="0" y="0"/>
            <a:ext cx="12192000" cy="1278194"/>
            <a:chOff x="0" y="0"/>
            <a:chExt cx="6268085" cy="1071880"/>
          </a:xfrm>
        </p:grpSpPr>
        <p:pic>
          <p:nvPicPr>
            <p:cNvPr id="10" name="Picture 9" descr="A blue and white sign">
              <a:extLst>
                <a:ext uri="{FF2B5EF4-FFF2-40B4-BE49-F238E27FC236}">
                  <a16:creationId xmlns:a16="http://schemas.microsoft.com/office/drawing/2014/main" id="{464BA3A7-5B22-7621-62EF-9BD08691DC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77360" y="0"/>
              <a:ext cx="1990725" cy="1068070"/>
            </a:xfrm>
            <a:prstGeom prst="rect">
              <a:avLst/>
            </a:prstGeom>
          </p:spPr>
        </p:pic>
        <p:pic>
          <p:nvPicPr>
            <p:cNvPr id="12" name="Picture 11" descr="A statue of a person">
              <a:extLst>
                <a:ext uri="{FF2B5EF4-FFF2-40B4-BE49-F238E27FC236}">
                  <a16:creationId xmlns:a16="http://schemas.microsoft.com/office/drawing/2014/main" id="{27A66120-1BFE-B03D-9CDC-B7268FC0CA7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20320"/>
              <a:ext cx="4210050" cy="1051560"/>
            </a:xfrm>
            <a:prstGeom prst="rect">
              <a:avLst/>
            </a:prstGeom>
          </p:spPr>
        </p:pic>
      </p:grpSp>
      <p:graphicFrame>
        <p:nvGraphicFramePr>
          <p:cNvPr id="17" name="TextBox 13">
            <a:extLst>
              <a:ext uri="{FF2B5EF4-FFF2-40B4-BE49-F238E27FC236}">
                <a16:creationId xmlns:a16="http://schemas.microsoft.com/office/drawing/2014/main" id="{3C0256D8-2A8F-C8EE-21F8-79AE1CAF7913}"/>
              </a:ext>
            </a:extLst>
          </p:cNvPr>
          <p:cNvGraphicFramePr/>
          <p:nvPr>
            <p:extLst>
              <p:ext uri="{D42A27DB-BD31-4B8C-83A1-F6EECF244321}">
                <p14:modId xmlns:p14="http://schemas.microsoft.com/office/powerpoint/2010/main" val="3649560870"/>
              </p:ext>
            </p:extLst>
          </p:nvPr>
        </p:nvGraphicFramePr>
        <p:xfrm>
          <a:off x="163643" y="3067665"/>
          <a:ext cx="5932357" cy="2862322"/>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28" name="Rectangle: Rounded Corners 27">
            <a:extLst>
              <a:ext uri="{FF2B5EF4-FFF2-40B4-BE49-F238E27FC236}">
                <a16:creationId xmlns:a16="http://schemas.microsoft.com/office/drawing/2014/main" id="{9C6E4065-9D79-D3FE-D336-6278F3AF77FD}"/>
              </a:ext>
            </a:extLst>
          </p:cNvPr>
          <p:cNvSpPr/>
          <p:nvPr/>
        </p:nvSpPr>
        <p:spPr>
          <a:xfrm>
            <a:off x="1052052" y="1681316"/>
            <a:ext cx="3923071" cy="105205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b="1" u="sng" dirty="0"/>
              <a:t>ΘΕΜΑ:</a:t>
            </a:r>
            <a:endParaRPr lang="el-GR" sz="1800" b="1" u="sng" kern="1200" dirty="0"/>
          </a:p>
          <a:p>
            <a:pPr algn="ctr"/>
            <a:r>
              <a:rPr lang="el-GR" sz="1800" b="1" kern="1200" dirty="0"/>
              <a:t>ΑΝΑΛΥΣΗ ΚΑΙ ΠΑΡΟΥΣΙΑΣΗ</a:t>
            </a:r>
            <a:r>
              <a:rPr lang="en-US" sz="1800" b="1" kern="1200" dirty="0"/>
              <a:t> </a:t>
            </a:r>
            <a:r>
              <a:rPr lang="el-GR" sz="1800" b="1" kern="1200" dirty="0"/>
              <a:t>ΛΕΙΤΟΥΡΓΙΑΣ</a:t>
            </a:r>
            <a:r>
              <a:rPr lang="en-US" sz="1800" b="1" kern="1200" dirty="0"/>
              <a:t> </a:t>
            </a:r>
            <a:r>
              <a:rPr lang="el-GR" sz="1800" b="1" kern="1200" dirty="0"/>
              <a:t>ΤΗΣ</a:t>
            </a:r>
            <a:endParaRPr lang="en-US" sz="1800" kern="1200" dirty="0"/>
          </a:p>
          <a:p>
            <a:pPr algn="ctr"/>
            <a:endParaRPr lang="el-GR" dirty="0"/>
          </a:p>
        </p:txBody>
      </p:sp>
      <p:sp>
        <p:nvSpPr>
          <p:cNvPr id="29" name="Arrow: Right 28">
            <a:extLst>
              <a:ext uri="{FF2B5EF4-FFF2-40B4-BE49-F238E27FC236}">
                <a16:creationId xmlns:a16="http://schemas.microsoft.com/office/drawing/2014/main" id="{7D68DF62-75F1-C4D6-F408-4842F56E2813}"/>
              </a:ext>
            </a:extLst>
          </p:cNvPr>
          <p:cNvSpPr/>
          <p:nvPr/>
        </p:nvSpPr>
        <p:spPr>
          <a:xfrm>
            <a:off x="5394731" y="1922741"/>
            <a:ext cx="884904" cy="50226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l-GR"/>
          </a:p>
        </p:txBody>
      </p:sp>
      <p:grpSp>
        <p:nvGrpSpPr>
          <p:cNvPr id="30" name="Group 29">
            <a:extLst>
              <a:ext uri="{FF2B5EF4-FFF2-40B4-BE49-F238E27FC236}">
                <a16:creationId xmlns:a16="http://schemas.microsoft.com/office/drawing/2014/main" id="{9E121209-F017-E59E-48BE-B89C569B4DC9}"/>
              </a:ext>
            </a:extLst>
          </p:cNvPr>
          <p:cNvGrpSpPr/>
          <p:nvPr/>
        </p:nvGrpSpPr>
        <p:grpSpPr>
          <a:xfrm>
            <a:off x="6658957" y="3067665"/>
            <a:ext cx="5031596" cy="3059926"/>
            <a:chOff x="6658957" y="3067665"/>
            <a:chExt cx="5031596" cy="3059926"/>
          </a:xfrm>
        </p:grpSpPr>
        <p:pic>
          <p:nvPicPr>
            <p:cNvPr id="18" name="Picture 6" descr="Με καπνιστό μεγαλώνει το Τρικαλινό της ...">
              <a:extLst>
                <a:ext uri="{FF2B5EF4-FFF2-40B4-BE49-F238E27FC236}">
                  <a16:creationId xmlns:a16="http://schemas.microsoft.com/office/drawing/2014/main" id="{5AAAF8BE-019F-3EDE-BFC6-B40D87685CF4}"/>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658957" y="3067665"/>
              <a:ext cx="3271624" cy="2039005"/>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the Netherlands ...">
              <a:extLst>
                <a:ext uri="{FF2B5EF4-FFF2-40B4-BE49-F238E27FC236}">
                  <a16:creationId xmlns:a16="http://schemas.microsoft.com/office/drawing/2014/main" id="{A55A3717-FC80-4A80-5320-708709E101FE}"/>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418930" y="4088587"/>
              <a:ext cx="3271623" cy="2039004"/>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173028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grpId="0" nodeType="clickEffect">
                                  <p:stCondLst>
                                    <p:cond delay="0"/>
                                  </p:stCondLst>
                                  <p:childTnLst>
                                    <p:set>
                                      <p:cBhvr>
                                        <p:cTn id="11" dur="1" fill="hold">
                                          <p:stCondLst>
                                            <p:cond delay="0"/>
                                          </p:stCondLst>
                                        </p:cTn>
                                        <p:tgtEl>
                                          <p:spTgt spid="29"/>
                                        </p:tgtEl>
                                        <p:attrNameLst>
                                          <p:attrName>style.visibility</p:attrName>
                                        </p:attrNameLst>
                                      </p:cBhvr>
                                      <p:to>
                                        <p:strVal val="visible"/>
                                      </p:to>
                                    </p:set>
                                    <p:anim calcmode="lin" valueType="num">
                                      <p:cBhvr>
                                        <p:cTn id="12" dur="500" fill="hold"/>
                                        <p:tgtEl>
                                          <p:spTgt spid="29"/>
                                        </p:tgtEl>
                                        <p:attrNameLst>
                                          <p:attrName>ppt_w</p:attrName>
                                        </p:attrNameLst>
                                      </p:cBhvr>
                                      <p:tavLst>
                                        <p:tav tm="0">
                                          <p:val>
                                            <p:fltVal val="0"/>
                                          </p:val>
                                        </p:tav>
                                        <p:tav tm="100000">
                                          <p:val>
                                            <p:strVal val="#ppt_w"/>
                                          </p:val>
                                        </p:tav>
                                      </p:tavLst>
                                    </p:anim>
                                    <p:anim calcmode="lin" valueType="num">
                                      <p:cBhvr>
                                        <p:cTn id="13" dur="500" fill="hold"/>
                                        <p:tgtEl>
                                          <p:spTgt spid="29"/>
                                        </p:tgtEl>
                                        <p:attrNameLst>
                                          <p:attrName>ppt_h</p:attrName>
                                        </p:attrNameLst>
                                      </p:cBhvr>
                                      <p:tavLst>
                                        <p:tav tm="0">
                                          <p:val>
                                            <p:fltVal val="0"/>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5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30"/>
                                        </p:tgtEl>
                                        <p:attrNameLst>
                                          <p:attrName>style.visibility</p:attrName>
                                        </p:attrNameLst>
                                      </p:cBhvr>
                                      <p:to>
                                        <p:strVal val="visible"/>
                                      </p:to>
                                    </p:set>
                                    <p:animEffect transition="in" filter="fade">
                                      <p:cBhvr>
                                        <p:cTn id="27" dur="1000"/>
                                        <p:tgtEl>
                                          <p:spTgt spid="30"/>
                                        </p:tgtEl>
                                      </p:cBhvr>
                                    </p:animEffect>
                                    <p:anim calcmode="lin" valueType="num">
                                      <p:cBhvr>
                                        <p:cTn id="28" dur="1000" fill="hold"/>
                                        <p:tgtEl>
                                          <p:spTgt spid="30"/>
                                        </p:tgtEl>
                                        <p:attrNameLst>
                                          <p:attrName>ppt_x</p:attrName>
                                        </p:attrNameLst>
                                      </p:cBhvr>
                                      <p:tavLst>
                                        <p:tav tm="0">
                                          <p:val>
                                            <p:strVal val="#ppt_x"/>
                                          </p:val>
                                        </p:tav>
                                        <p:tav tm="100000">
                                          <p:val>
                                            <p:strVal val="#ppt_x"/>
                                          </p:val>
                                        </p:tav>
                                      </p:tavLst>
                                    </p:anim>
                                    <p:anim calcmode="lin" valueType="num">
                                      <p:cBhvr>
                                        <p:cTn id="29"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7" grpId="0">
        <p:bldAsOne/>
      </p:bldGraphic>
      <p:bldP spid="28" grpId="0" animBg="1"/>
      <p:bldP spid="29"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ADDB919-643C-753A-07A7-BEC8917A59D7}"/>
              </a:ext>
            </a:extLst>
          </p:cNvPr>
          <p:cNvSpPr txBox="1"/>
          <p:nvPr/>
        </p:nvSpPr>
        <p:spPr>
          <a:xfrm>
            <a:off x="2615381" y="127819"/>
            <a:ext cx="6892413" cy="477054"/>
          </a:xfrm>
          <a:prstGeom prst="rect">
            <a:avLst/>
          </a:prstGeom>
          <a:noFill/>
        </p:spPr>
        <p:txBody>
          <a:bodyPr wrap="square" rtlCol="0">
            <a:spAutoFit/>
          </a:bodyPr>
          <a:lstStyle/>
          <a:p>
            <a:pPr algn="ctr"/>
            <a:r>
              <a:rPr lang="el-GR" sz="2500" b="1" dirty="0">
                <a:solidFill>
                  <a:schemeClr val="tx2">
                    <a:lumMod val="75000"/>
                    <a:lumOff val="25000"/>
                  </a:schemeClr>
                </a:solidFill>
              </a:rPr>
              <a:t>ΠΟΙΑ ΕΊΝΑΙ Η ΦΑΓΕ</a:t>
            </a:r>
            <a:r>
              <a:rPr lang="en-US" sz="2500" b="1" dirty="0">
                <a:solidFill>
                  <a:schemeClr val="tx2">
                    <a:lumMod val="75000"/>
                    <a:lumOff val="25000"/>
                  </a:schemeClr>
                </a:solidFill>
              </a:rPr>
              <a:t>;</a:t>
            </a:r>
            <a:endParaRPr lang="el-GR" sz="2500" b="1" dirty="0">
              <a:solidFill>
                <a:schemeClr val="tx2">
                  <a:lumMod val="75000"/>
                  <a:lumOff val="25000"/>
                </a:schemeClr>
              </a:solidFill>
            </a:endParaRPr>
          </a:p>
        </p:txBody>
      </p:sp>
      <p:grpSp>
        <p:nvGrpSpPr>
          <p:cNvPr id="36" name="Group 35">
            <a:extLst>
              <a:ext uri="{FF2B5EF4-FFF2-40B4-BE49-F238E27FC236}">
                <a16:creationId xmlns:a16="http://schemas.microsoft.com/office/drawing/2014/main" id="{E514C9CF-49A8-0E1A-5DE0-75D0BA019040}"/>
              </a:ext>
            </a:extLst>
          </p:cNvPr>
          <p:cNvGrpSpPr/>
          <p:nvPr/>
        </p:nvGrpSpPr>
        <p:grpSpPr>
          <a:xfrm>
            <a:off x="596061" y="443704"/>
            <a:ext cx="3205316" cy="1298653"/>
            <a:chOff x="712838" y="1002889"/>
            <a:chExt cx="3205316" cy="1298653"/>
          </a:xfrm>
        </p:grpSpPr>
        <p:sp>
          <p:nvSpPr>
            <p:cNvPr id="8" name="Rectangle: Rounded Corners 7">
              <a:extLst>
                <a:ext uri="{FF2B5EF4-FFF2-40B4-BE49-F238E27FC236}">
                  <a16:creationId xmlns:a16="http://schemas.microsoft.com/office/drawing/2014/main" id="{93631D6D-628C-F7C4-6B6C-7B7DD7620F1D}"/>
                </a:ext>
              </a:extLst>
            </p:cNvPr>
            <p:cNvSpPr/>
            <p:nvPr/>
          </p:nvSpPr>
          <p:spPr>
            <a:xfrm>
              <a:off x="727587" y="1002889"/>
              <a:ext cx="2802194" cy="1298653"/>
            </a:xfrm>
            <a:prstGeom prst="roundRect">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10" name="TextBox 9">
              <a:extLst>
                <a:ext uri="{FF2B5EF4-FFF2-40B4-BE49-F238E27FC236}">
                  <a16:creationId xmlns:a16="http://schemas.microsoft.com/office/drawing/2014/main" id="{97408293-6279-7B4D-85CC-FF64E1915866}"/>
                </a:ext>
              </a:extLst>
            </p:cNvPr>
            <p:cNvSpPr txBox="1"/>
            <p:nvPr/>
          </p:nvSpPr>
          <p:spPr>
            <a:xfrm>
              <a:off x="712838" y="1101213"/>
              <a:ext cx="3205316" cy="1200329"/>
            </a:xfrm>
            <a:prstGeom prst="rect">
              <a:avLst/>
            </a:prstGeom>
            <a:noFill/>
          </p:spPr>
          <p:txBody>
            <a:bodyPr wrap="square" rtlCol="0">
              <a:spAutoFit/>
            </a:bodyPr>
            <a:lstStyle/>
            <a:p>
              <a:r>
                <a:rPr lang="el-GR" dirty="0">
                  <a:solidFill>
                    <a:srgbClr val="0D0D0D"/>
                  </a:solidFill>
                  <a:latin typeface="Aptos" panose="020B0004020202020204" pitchFamily="34" charset="0"/>
                  <a:ea typeface="Aptos" panose="020B0004020202020204" pitchFamily="34" charset="0"/>
                  <a:cs typeface="Calibri" panose="020F0502020204030204" pitchFamily="34" charset="0"/>
                </a:rPr>
                <a:t>Μ</a:t>
              </a:r>
              <a:r>
                <a:rPr lang="el-GR" sz="1800" dirty="0">
                  <a:solidFill>
                    <a:srgbClr val="0D0D0D"/>
                  </a:solidFill>
                  <a:effectLst/>
                  <a:latin typeface="Aptos" panose="020B0004020202020204" pitchFamily="34" charset="0"/>
                  <a:ea typeface="Aptos" panose="020B0004020202020204" pitchFamily="34" charset="0"/>
                  <a:cs typeface="Calibri" panose="020F0502020204030204" pitchFamily="34" charset="0"/>
                </a:rPr>
                <a:t>ία από τις μεγαλύτερες Ελληνικές εταιρείες  γαλακτοκομικών, με διεθνή αναγνώριση</a:t>
              </a:r>
            </a:p>
          </p:txBody>
        </p:sp>
      </p:grpSp>
      <p:grpSp>
        <p:nvGrpSpPr>
          <p:cNvPr id="16" name="Group 15">
            <a:extLst>
              <a:ext uri="{FF2B5EF4-FFF2-40B4-BE49-F238E27FC236}">
                <a16:creationId xmlns:a16="http://schemas.microsoft.com/office/drawing/2014/main" id="{F6BC6B18-11ED-C238-A65D-9565DD0793B1}"/>
              </a:ext>
            </a:extLst>
          </p:cNvPr>
          <p:cNvGrpSpPr/>
          <p:nvPr/>
        </p:nvGrpSpPr>
        <p:grpSpPr>
          <a:xfrm>
            <a:off x="8661011" y="366133"/>
            <a:ext cx="2851354" cy="1298653"/>
            <a:chOff x="8008375" y="1052049"/>
            <a:chExt cx="2851354" cy="1298653"/>
          </a:xfrm>
        </p:grpSpPr>
        <p:sp>
          <p:nvSpPr>
            <p:cNvPr id="13" name="Rectangle: Rounded Corners 12">
              <a:extLst>
                <a:ext uri="{FF2B5EF4-FFF2-40B4-BE49-F238E27FC236}">
                  <a16:creationId xmlns:a16="http://schemas.microsoft.com/office/drawing/2014/main" id="{DC37655C-820E-C05A-BFC8-93760DE207D0}"/>
                </a:ext>
              </a:extLst>
            </p:cNvPr>
            <p:cNvSpPr/>
            <p:nvPr/>
          </p:nvSpPr>
          <p:spPr>
            <a:xfrm>
              <a:off x="8008375" y="1052049"/>
              <a:ext cx="2802194" cy="1298653"/>
            </a:xfrm>
            <a:prstGeom prst="roundRect">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l-GR" dirty="0"/>
            </a:p>
          </p:txBody>
        </p:sp>
        <p:sp>
          <p:nvSpPr>
            <p:cNvPr id="15" name="TextBox 14">
              <a:extLst>
                <a:ext uri="{FF2B5EF4-FFF2-40B4-BE49-F238E27FC236}">
                  <a16:creationId xmlns:a16="http://schemas.microsoft.com/office/drawing/2014/main" id="{97FCCEC5-7D88-B8F0-4CC2-B78EF04AE0D5}"/>
                </a:ext>
              </a:extLst>
            </p:cNvPr>
            <p:cNvSpPr txBox="1"/>
            <p:nvPr/>
          </p:nvSpPr>
          <p:spPr>
            <a:xfrm>
              <a:off x="8155858" y="1101213"/>
              <a:ext cx="2703871" cy="923330"/>
            </a:xfrm>
            <a:prstGeom prst="rect">
              <a:avLst/>
            </a:prstGeom>
            <a:noFill/>
          </p:spPr>
          <p:txBody>
            <a:bodyPr wrap="square" rtlCol="0">
              <a:spAutoFit/>
            </a:bodyPr>
            <a:lstStyle/>
            <a:p>
              <a:r>
                <a:rPr lang="el-GR" dirty="0"/>
                <a:t>Συνεχής παρουσία στον κλάδο γαλακτοκομικών από το 1926</a:t>
              </a:r>
            </a:p>
          </p:txBody>
        </p:sp>
      </p:grpSp>
      <p:sp>
        <p:nvSpPr>
          <p:cNvPr id="17" name="TextBox 16">
            <a:extLst>
              <a:ext uri="{FF2B5EF4-FFF2-40B4-BE49-F238E27FC236}">
                <a16:creationId xmlns:a16="http://schemas.microsoft.com/office/drawing/2014/main" id="{0D5F8AE0-D248-1B2B-F13F-D77BA0B089C5}"/>
              </a:ext>
            </a:extLst>
          </p:cNvPr>
          <p:cNvSpPr txBox="1"/>
          <p:nvPr/>
        </p:nvSpPr>
        <p:spPr>
          <a:xfrm>
            <a:off x="5051323" y="816077"/>
            <a:ext cx="1868129" cy="430887"/>
          </a:xfrm>
          <a:prstGeom prst="rect">
            <a:avLst/>
          </a:prstGeom>
          <a:noFill/>
        </p:spPr>
        <p:txBody>
          <a:bodyPr wrap="square" rtlCol="0">
            <a:spAutoFit/>
          </a:bodyPr>
          <a:lstStyle/>
          <a:p>
            <a:pPr algn="ctr"/>
            <a:r>
              <a:rPr lang="el-GR" sz="2200" b="1" dirty="0"/>
              <a:t>Φ.Α.Γ.Ε.</a:t>
            </a:r>
          </a:p>
        </p:txBody>
      </p:sp>
      <p:cxnSp>
        <p:nvCxnSpPr>
          <p:cNvPr id="20" name="Straight Arrow Connector 19">
            <a:extLst>
              <a:ext uri="{FF2B5EF4-FFF2-40B4-BE49-F238E27FC236}">
                <a16:creationId xmlns:a16="http://schemas.microsoft.com/office/drawing/2014/main" id="{A7E95E30-9CE9-C8AD-8315-7DA5078890ED}"/>
              </a:ext>
            </a:extLst>
          </p:cNvPr>
          <p:cNvCxnSpPr/>
          <p:nvPr/>
        </p:nvCxnSpPr>
        <p:spPr>
          <a:xfrm flipV="1">
            <a:off x="5289755" y="1170039"/>
            <a:ext cx="226142" cy="53133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B27D9D0F-62A5-4DD4-7FC8-90DFEA3B7FAE}"/>
              </a:ext>
            </a:extLst>
          </p:cNvPr>
          <p:cNvCxnSpPr>
            <a:cxnSpLocks/>
          </p:cNvCxnSpPr>
          <p:nvPr/>
        </p:nvCxnSpPr>
        <p:spPr>
          <a:xfrm flipV="1">
            <a:off x="5851423" y="1237330"/>
            <a:ext cx="20894" cy="80387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0096DE5C-D79A-B1CD-FB80-B926863B3215}"/>
              </a:ext>
            </a:extLst>
          </p:cNvPr>
          <p:cNvCxnSpPr>
            <a:cxnSpLocks/>
          </p:cNvCxnSpPr>
          <p:nvPr/>
        </p:nvCxnSpPr>
        <p:spPr>
          <a:xfrm flipH="1" flipV="1">
            <a:off x="6129186" y="1231495"/>
            <a:ext cx="376698" cy="74808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8CD4F011-50B5-7C93-DECB-B71C2F8FE502}"/>
              </a:ext>
            </a:extLst>
          </p:cNvPr>
          <p:cNvCxnSpPr>
            <a:cxnSpLocks/>
          </p:cNvCxnSpPr>
          <p:nvPr/>
        </p:nvCxnSpPr>
        <p:spPr>
          <a:xfrm flipH="1" flipV="1">
            <a:off x="6555044" y="1126607"/>
            <a:ext cx="482396" cy="4067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1C58581A-B723-12D8-743D-DA0499231F96}"/>
              </a:ext>
            </a:extLst>
          </p:cNvPr>
          <p:cNvSpPr txBox="1"/>
          <p:nvPr/>
        </p:nvSpPr>
        <p:spPr>
          <a:xfrm>
            <a:off x="4494573" y="1671877"/>
            <a:ext cx="1160206" cy="369332"/>
          </a:xfrm>
          <a:prstGeom prst="rect">
            <a:avLst/>
          </a:prstGeom>
          <a:noFill/>
        </p:spPr>
        <p:txBody>
          <a:bodyPr wrap="square" rtlCol="0">
            <a:spAutoFit/>
          </a:bodyPr>
          <a:lstStyle/>
          <a:p>
            <a:r>
              <a:rPr lang="el-GR" sz="1800" dirty="0">
                <a:solidFill>
                  <a:srgbClr val="202122"/>
                </a:solidFill>
                <a:effectLst/>
                <a:highlight>
                  <a:srgbClr val="FFFFFF"/>
                </a:highlight>
                <a:latin typeface="Aptos" panose="020B0004020202020204" pitchFamily="34" charset="0"/>
                <a:ea typeface="Aptos" panose="020B0004020202020204" pitchFamily="34" charset="0"/>
                <a:cs typeface="Calibri" panose="020F0502020204030204" pitchFamily="34" charset="0"/>
              </a:rPr>
              <a:t>Φιλίππου</a:t>
            </a:r>
            <a:endParaRPr lang="el-GR" dirty="0"/>
          </a:p>
        </p:txBody>
      </p:sp>
      <p:sp>
        <p:nvSpPr>
          <p:cNvPr id="29" name="TextBox 28">
            <a:extLst>
              <a:ext uri="{FF2B5EF4-FFF2-40B4-BE49-F238E27FC236}">
                <a16:creationId xmlns:a16="http://schemas.microsoft.com/office/drawing/2014/main" id="{EE1C5C44-B9C0-AB1F-A7D0-B866E8FED68B}"/>
              </a:ext>
            </a:extLst>
          </p:cNvPr>
          <p:cNvSpPr txBox="1"/>
          <p:nvPr/>
        </p:nvSpPr>
        <p:spPr>
          <a:xfrm>
            <a:off x="5289755" y="2050626"/>
            <a:ext cx="1021320" cy="369332"/>
          </a:xfrm>
          <a:prstGeom prst="rect">
            <a:avLst/>
          </a:prstGeom>
          <a:noFill/>
        </p:spPr>
        <p:txBody>
          <a:bodyPr wrap="square" rtlCol="0">
            <a:spAutoFit/>
          </a:bodyPr>
          <a:lstStyle/>
          <a:p>
            <a:r>
              <a:rPr lang="el-GR" sz="1800" dirty="0">
                <a:solidFill>
                  <a:srgbClr val="202122"/>
                </a:solidFill>
                <a:effectLst/>
                <a:highlight>
                  <a:srgbClr val="FFFFFF"/>
                </a:highlight>
                <a:latin typeface="Aptos" panose="020B0004020202020204" pitchFamily="34" charset="0"/>
                <a:ea typeface="Aptos" panose="020B0004020202020204" pitchFamily="34" charset="0"/>
                <a:cs typeface="Calibri" panose="020F0502020204030204" pitchFamily="34" charset="0"/>
              </a:rPr>
              <a:t>Αδελφοί </a:t>
            </a:r>
            <a:endParaRPr lang="el-GR" dirty="0"/>
          </a:p>
        </p:txBody>
      </p:sp>
      <p:sp>
        <p:nvSpPr>
          <p:cNvPr id="32" name="TextBox 31">
            <a:extLst>
              <a:ext uri="{FF2B5EF4-FFF2-40B4-BE49-F238E27FC236}">
                <a16:creationId xmlns:a16="http://schemas.microsoft.com/office/drawing/2014/main" id="{497580B2-AADC-E082-38F0-36497151739D}"/>
              </a:ext>
            </a:extLst>
          </p:cNvPr>
          <p:cNvSpPr txBox="1"/>
          <p:nvPr/>
        </p:nvSpPr>
        <p:spPr>
          <a:xfrm>
            <a:off x="6261614" y="1951872"/>
            <a:ext cx="1787632" cy="369332"/>
          </a:xfrm>
          <a:prstGeom prst="rect">
            <a:avLst/>
          </a:prstGeom>
          <a:noFill/>
        </p:spPr>
        <p:txBody>
          <a:bodyPr wrap="square" rtlCol="0">
            <a:spAutoFit/>
          </a:bodyPr>
          <a:lstStyle/>
          <a:p>
            <a:r>
              <a:rPr lang="el-GR" sz="1800" dirty="0">
                <a:solidFill>
                  <a:srgbClr val="202122"/>
                </a:solidFill>
                <a:effectLst/>
                <a:highlight>
                  <a:srgbClr val="FFFFFF"/>
                </a:highlight>
                <a:latin typeface="Aptos" panose="020B0004020202020204" pitchFamily="34" charset="0"/>
                <a:ea typeface="Aptos" panose="020B0004020202020204" pitchFamily="34" charset="0"/>
                <a:cs typeface="Calibri" panose="020F0502020204030204" pitchFamily="34" charset="0"/>
              </a:rPr>
              <a:t>Γαλακτοκομικές  </a:t>
            </a:r>
            <a:endParaRPr lang="el-GR" dirty="0"/>
          </a:p>
        </p:txBody>
      </p:sp>
      <p:sp>
        <p:nvSpPr>
          <p:cNvPr id="33" name="TextBox 32">
            <a:extLst>
              <a:ext uri="{FF2B5EF4-FFF2-40B4-BE49-F238E27FC236}">
                <a16:creationId xmlns:a16="http://schemas.microsoft.com/office/drawing/2014/main" id="{FAC73636-7D06-96E2-1543-1D69B2DFA163}"/>
              </a:ext>
            </a:extLst>
          </p:cNvPr>
          <p:cNvSpPr txBox="1"/>
          <p:nvPr/>
        </p:nvSpPr>
        <p:spPr>
          <a:xfrm>
            <a:off x="6696995" y="1547860"/>
            <a:ext cx="1552888" cy="369332"/>
          </a:xfrm>
          <a:prstGeom prst="rect">
            <a:avLst/>
          </a:prstGeom>
          <a:noFill/>
        </p:spPr>
        <p:txBody>
          <a:bodyPr wrap="square" rtlCol="0">
            <a:spAutoFit/>
          </a:bodyPr>
          <a:lstStyle/>
          <a:p>
            <a:r>
              <a:rPr lang="el-GR" sz="1800" dirty="0">
                <a:solidFill>
                  <a:srgbClr val="202122"/>
                </a:solidFill>
                <a:effectLst/>
                <a:highlight>
                  <a:srgbClr val="FFFFFF"/>
                </a:highlight>
                <a:latin typeface="Aptos" panose="020B0004020202020204" pitchFamily="34" charset="0"/>
                <a:ea typeface="Aptos" panose="020B0004020202020204" pitchFamily="34" charset="0"/>
                <a:cs typeface="Calibri" panose="020F0502020204030204" pitchFamily="34" charset="0"/>
              </a:rPr>
              <a:t>Επιχειρήσεις  </a:t>
            </a:r>
            <a:endParaRPr lang="el-GR" dirty="0"/>
          </a:p>
        </p:txBody>
      </p:sp>
      <p:sp>
        <p:nvSpPr>
          <p:cNvPr id="37" name="TextBox 36">
            <a:extLst>
              <a:ext uri="{FF2B5EF4-FFF2-40B4-BE49-F238E27FC236}">
                <a16:creationId xmlns:a16="http://schemas.microsoft.com/office/drawing/2014/main" id="{3B16A2A9-B3D7-869C-79EF-DF8D403B0075}"/>
              </a:ext>
            </a:extLst>
          </p:cNvPr>
          <p:cNvSpPr txBox="1"/>
          <p:nvPr/>
        </p:nvSpPr>
        <p:spPr>
          <a:xfrm>
            <a:off x="3943965" y="3601132"/>
            <a:ext cx="3814916" cy="400110"/>
          </a:xfrm>
          <a:prstGeom prst="rect">
            <a:avLst/>
          </a:prstGeom>
          <a:noFill/>
        </p:spPr>
        <p:txBody>
          <a:bodyPr wrap="square" rtlCol="0">
            <a:spAutoFit/>
          </a:bodyPr>
          <a:lstStyle/>
          <a:p>
            <a:pPr algn="ctr"/>
            <a:r>
              <a:rPr lang="el-GR" sz="2000" b="1" dirty="0">
                <a:solidFill>
                  <a:schemeClr val="tx2">
                    <a:lumMod val="75000"/>
                    <a:lumOff val="25000"/>
                  </a:schemeClr>
                </a:solidFill>
              </a:rPr>
              <a:t>ΙΣΤΟΡΙΚΗ ΔΙΑΔΡΟΜΗ</a:t>
            </a:r>
          </a:p>
        </p:txBody>
      </p:sp>
      <p:sp>
        <p:nvSpPr>
          <p:cNvPr id="40" name="Oval 39">
            <a:extLst>
              <a:ext uri="{FF2B5EF4-FFF2-40B4-BE49-F238E27FC236}">
                <a16:creationId xmlns:a16="http://schemas.microsoft.com/office/drawing/2014/main" id="{D6954ABE-366E-20F1-3775-16FD642F0FEB}"/>
              </a:ext>
            </a:extLst>
          </p:cNvPr>
          <p:cNvSpPr/>
          <p:nvPr/>
        </p:nvSpPr>
        <p:spPr>
          <a:xfrm>
            <a:off x="994041" y="4297680"/>
            <a:ext cx="548640" cy="5486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50" dirty="0"/>
              <a:t>1926</a:t>
            </a:r>
            <a:endParaRPr lang="el-GR" sz="750" dirty="0"/>
          </a:p>
        </p:txBody>
      </p:sp>
      <p:sp>
        <p:nvSpPr>
          <p:cNvPr id="42" name="Oval 41">
            <a:extLst>
              <a:ext uri="{FF2B5EF4-FFF2-40B4-BE49-F238E27FC236}">
                <a16:creationId xmlns:a16="http://schemas.microsoft.com/office/drawing/2014/main" id="{BF2927B4-B65E-07FD-F933-0B0D0D1E952E}"/>
              </a:ext>
            </a:extLst>
          </p:cNvPr>
          <p:cNvSpPr/>
          <p:nvPr/>
        </p:nvSpPr>
        <p:spPr>
          <a:xfrm>
            <a:off x="2593912" y="4297680"/>
            <a:ext cx="548640" cy="5486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50" dirty="0"/>
              <a:t>1954</a:t>
            </a:r>
            <a:endParaRPr lang="el-GR" sz="750" dirty="0"/>
          </a:p>
        </p:txBody>
      </p:sp>
      <p:sp>
        <p:nvSpPr>
          <p:cNvPr id="43" name="Oval 42">
            <a:extLst>
              <a:ext uri="{FF2B5EF4-FFF2-40B4-BE49-F238E27FC236}">
                <a16:creationId xmlns:a16="http://schemas.microsoft.com/office/drawing/2014/main" id="{C1FE7E7C-0524-EDAE-6835-65DC7FEA55A1}"/>
              </a:ext>
            </a:extLst>
          </p:cNvPr>
          <p:cNvSpPr/>
          <p:nvPr/>
        </p:nvSpPr>
        <p:spPr>
          <a:xfrm>
            <a:off x="4126679" y="4297680"/>
            <a:ext cx="548640" cy="5486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50" dirty="0"/>
              <a:t>1974</a:t>
            </a:r>
            <a:endParaRPr lang="el-GR" sz="750" dirty="0"/>
          </a:p>
        </p:txBody>
      </p:sp>
      <p:sp>
        <p:nvSpPr>
          <p:cNvPr id="44" name="Oval 43">
            <a:extLst>
              <a:ext uri="{FF2B5EF4-FFF2-40B4-BE49-F238E27FC236}">
                <a16:creationId xmlns:a16="http://schemas.microsoft.com/office/drawing/2014/main" id="{D21820E5-45F3-50CE-EACD-CBEAD39498C4}"/>
              </a:ext>
            </a:extLst>
          </p:cNvPr>
          <p:cNvSpPr/>
          <p:nvPr/>
        </p:nvSpPr>
        <p:spPr>
          <a:xfrm>
            <a:off x="5700371" y="4297680"/>
            <a:ext cx="548640" cy="5486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50" dirty="0"/>
              <a:t>1980</a:t>
            </a:r>
            <a:endParaRPr lang="el-GR" sz="750" dirty="0"/>
          </a:p>
        </p:txBody>
      </p:sp>
      <p:sp>
        <p:nvSpPr>
          <p:cNvPr id="45" name="Oval 44">
            <a:extLst>
              <a:ext uri="{FF2B5EF4-FFF2-40B4-BE49-F238E27FC236}">
                <a16:creationId xmlns:a16="http://schemas.microsoft.com/office/drawing/2014/main" id="{446A03A2-FD52-7AD7-5FD8-7FFC4588FD25}"/>
              </a:ext>
            </a:extLst>
          </p:cNvPr>
          <p:cNvSpPr/>
          <p:nvPr/>
        </p:nvSpPr>
        <p:spPr>
          <a:xfrm>
            <a:off x="7256984" y="4297680"/>
            <a:ext cx="548640" cy="5486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50" dirty="0"/>
              <a:t>1990</a:t>
            </a:r>
            <a:endParaRPr lang="el-GR" sz="750" dirty="0"/>
          </a:p>
        </p:txBody>
      </p:sp>
      <p:sp>
        <p:nvSpPr>
          <p:cNvPr id="46" name="Oval 45">
            <a:extLst>
              <a:ext uri="{FF2B5EF4-FFF2-40B4-BE49-F238E27FC236}">
                <a16:creationId xmlns:a16="http://schemas.microsoft.com/office/drawing/2014/main" id="{261F3C31-F718-15BC-5507-0CB4FF685551}"/>
              </a:ext>
            </a:extLst>
          </p:cNvPr>
          <p:cNvSpPr/>
          <p:nvPr/>
        </p:nvSpPr>
        <p:spPr>
          <a:xfrm>
            <a:off x="9007988" y="4297680"/>
            <a:ext cx="548640" cy="5486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sz="750" dirty="0"/>
              <a:t>2005</a:t>
            </a:r>
          </a:p>
        </p:txBody>
      </p:sp>
      <p:sp>
        <p:nvSpPr>
          <p:cNvPr id="47" name="Oval 46">
            <a:extLst>
              <a:ext uri="{FF2B5EF4-FFF2-40B4-BE49-F238E27FC236}">
                <a16:creationId xmlns:a16="http://schemas.microsoft.com/office/drawing/2014/main" id="{766AFA32-0ADF-BA11-F3CA-D8DBD22B48B8}"/>
              </a:ext>
            </a:extLst>
          </p:cNvPr>
          <p:cNvSpPr/>
          <p:nvPr/>
        </p:nvSpPr>
        <p:spPr>
          <a:xfrm>
            <a:off x="10743709" y="4297680"/>
            <a:ext cx="548640" cy="5486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sz="750" dirty="0"/>
              <a:t>2012</a:t>
            </a:r>
          </a:p>
        </p:txBody>
      </p:sp>
      <p:cxnSp>
        <p:nvCxnSpPr>
          <p:cNvPr id="53" name="Straight Arrow Connector 52">
            <a:extLst>
              <a:ext uri="{FF2B5EF4-FFF2-40B4-BE49-F238E27FC236}">
                <a16:creationId xmlns:a16="http://schemas.microsoft.com/office/drawing/2014/main" id="{3ADEE4D8-39D9-73B5-2213-392A9F3BC983}"/>
              </a:ext>
            </a:extLst>
          </p:cNvPr>
          <p:cNvCxnSpPr>
            <a:cxnSpLocks/>
            <a:stCxn id="40" idx="6"/>
            <a:endCxn id="42" idx="2"/>
          </p:cNvCxnSpPr>
          <p:nvPr/>
        </p:nvCxnSpPr>
        <p:spPr>
          <a:xfrm>
            <a:off x="1542681" y="4572000"/>
            <a:ext cx="105123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6" name="Straight Arrow Connector 55">
            <a:extLst>
              <a:ext uri="{FF2B5EF4-FFF2-40B4-BE49-F238E27FC236}">
                <a16:creationId xmlns:a16="http://schemas.microsoft.com/office/drawing/2014/main" id="{78D9DEC1-DCF8-35FD-C904-8EB5357578E2}"/>
              </a:ext>
            </a:extLst>
          </p:cNvPr>
          <p:cNvCxnSpPr>
            <a:cxnSpLocks/>
            <a:stCxn id="42" idx="6"/>
            <a:endCxn id="43" idx="2"/>
          </p:cNvCxnSpPr>
          <p:nvPr/>
        </p:nvCxnSpPr>
        <p:spPr>
          <a:xfrm>
            <a:off x="3142552" y="4572000"/>
            <a:ext cx="98412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8" name="Straight Arrow Connector 57">
            <a:extLst>
              <a:ext uri="{FF2B5EF4-FFF2-40B4-BE49-F238E27FC236}">
                <a16:creationId xmlns:a16="http://schemas.microsoft.com/office/drawing/2014/main" id="{D73EC286-6271-59D9-6052-C3057BC3415B}"/>
              </a:ext>
            </a:extLst>
          </p:cNvPr>
          <p:cNvCxnSpPr>
            <a:cxnSpLocks/>
            <a:stCxn id="43" idx="6"/>
            <a:endCxn id="44" idx="2"/>
          </p:cNvCxnSpPr>
          <p:nvPr/>
        </p:nvCxnSpPr>
        <p:spPr>
          <a:xfrm>
            <a:off x="4675319" y="4572000"/>
            <a:ext cx="102505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0" name="Straight Arrow Connector 59">
            <a:extLst>
              <a:ext uri="{FF2B5EF4-FFF2-40B4-BE49-F238E27FC236}">
                <a16:creationId xmlns:a16="http://schemas.microsoft.com/office/drawing/2014/main" id="{EEF98276-5C81-766D-11DD-9B7250175D1C}"/>
              </a:ext>
            </a:extLst>
          </p:cNvPr>
          <p:cNvCxnSpPr>
            <a:cxnSpLocks/>
            <a:stCxn id="44" idx="6"/>
            <a:endCxn id="45" idx="2"/>
          </p:cNvCxnSpPr>
          <p:nvPr/>
        </p:nvCxnSpPr>
        <p:spPr>
          <a:xfrm>
            <a:off x="6249011" y="4572000"/>
            <a:ext cx="100797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2" name="Straight Arrow Connector 61">
            <a:extLst>
              <a:ext uri="{FF2B5EF4-FFF2-40B4-BE49-F238E27FC236}">
                <a16:creationId xmlns:a16="http://schemas.microsoft.com/office/drawing/2014/main" id="{2A582527-B75F-F2A0-64F7-FCB04069F66E}"/>
              </a:ext>
            </a:extLst>
          </p:cNvPr>
          <p:cNvCxnSpPr>
            <a:cxnSpLocks/>
            <a:stCxn id="45" idx="6"/>
            <a:endCxn id="46" idx="2"/>
          </p:cNvCxnSpPr>
          <p:nvPr/>
        </p:nvCxnSpPr>
        <p:spPr>
          <a:xfrm>
            <a:off x="7805624" y="4572000"/>
            <a:ext cx="120236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4" name="Straight Arrow Connector 63">
            <a:extLst>
              <a:ext uri="{FF2B5EF4-FFF2-40B4-BE49-F238E27FC236}">
                <a16:creationId xmlns:a16="http://schemas.microsoft.com/office/drawing/2014/main" id="{C6922E52-9242-3291-9203-9221661631AF}"/>
              </a:ext>
            </a:extLst>
          </p:cNvPr>
          <p:cNvCxnSpPr>
            <a:cxnSpLocks/>
            <a:stCxn id="46" idx="6"/>
            <a:endCxn id="47" idx="2"/>
          </p:cNvCxnSpPr>
          <p:nvPr/>
        </p:nvCxnSpPr>
        <p:spPr>
          <a:xfrm>
            <a:off x="9556628" y="4572000"/>
            <a:ext cx="118708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nvGrpSpPr>
          <p:cNvPr id="95" name="Group 94">
            <a:extLst>
              <a:ext uri="{FF2B5EF4-FFF2-40B4-BE49-F238E27FC236}">
                <a16:creationId xmlns:a16="http://schemas.microsoft.com/office/drawing/2014/main" id="{821401D6-077F-E4DA-546B-F9A64132CDFB}"/>
              </a:ext>
            </a:extLst>
          </p:cNvPr>
          <p:cNvGrpSpPr/>
          <p:nvPr/>
        </p:nvGrpSpPr>
        <p:grpSpPr>
          <a:xfrm>
            <a:off x="558961" y="4886960"/>
            <a:ext cx="1473200" cy="1541484"/>
            <a:chOff x="558961" y="4886960"/>
            <a:chExt cx="1473200" cy="1541484"/>
          </a:xfrm>
        </p:grpSpPr>
        <p:pic>
          <p:nvPicPr>
            <p:cNvPr id="2050" name="Picture 2" descr="φαγε 1926 from gr.fage">
              <a:extLst>
                <a:ext uri="{FF2B5EF4-FFF2-40B4-BE49-F238E27FC236}">
                  <a16:creationId xmlns:a16="http://schemas.microsoft.com/office/drawing/2014/main" id="{CFC34D17-CDE4-3CBC-4FC1-FB85F55A8C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7586" y="5398351"/>
              <a:ext cx="1030093" cy="1030093"/>
            </a:xfrm>
            <a:prstGeom prst="rect">
              <a:avLst/>
            </a:prstGeom>
            <a:noFill/>
            <a:extLst>
              <a:ext uri="{909E8E84-426E-40DD-AFC4-6F175D3DCCD1}">
                <a14:hiddenFill xmlns:a14="http://schemas.microsoft.com/office/drawing/2010/main">
                  <a:solidFill>
                    <a:srgbClr val="FFFFFF"/>
                  </a:solidFill>
                </a14:hiddenFill>
              </a:ext>
            </a:extLst>
          </p:spPr>
        </p:pic>
        <p:sp>
          <p:nvSpPr>
            <p:cNvPr id="94" name="TextBox 93">
              <a:extLst>
                <a:ext uri="{FF2B5EF4-FFF2-40B4-BE49-F238E27FC236}">
                  <a16:creationId xmlns:a16="http://schemas.microsoft.com/office/drawing/2014/main" id="{923A0280-0ACF-7B96-337A-3D36939607F8}"/>
                </a:ext>
              </a:extLst>
            </p:cNvPr>
            <p:cNvSpPr txBox="1"/>
            <p:nvPr/>
          </p:nvSpPr>
          <p:spPr>
            <a:xfrm>
              <a:off x="558961" y="4886960"/>
              <a:ext cx="1473200" cy="646331"/>
            </a:xfrm>
            <a:prstGeom prst="rect">
              <a:avLst/>
            </a:prstGeom>
            <a:noFill/>
          </p:spPr>
          <p:txBody>
            <a:bodyPr wrap="square" rtlCol="0">
              <a:spAutoFit/>
            </a:bodyPr>
            <a:lstStyle/>
            <a:p>
              <a:r>
                <a:rPr lang="el-GR" sz="1200" dirty="0"/>
                <a:t>Ίδρυση της ΦΑΓΕ από τον Αθανάσιο Φιλίππου</a:t>
              </a:r>
            </a:p>
          </p:txBody>
        </p:sp>
      </p:grpSp>
      <p:sp>
        <p:nvSpPr>
          <p:cNvPr id="96" name="TextBox 95">
            <a:extLst>
              <a:ext uri="{FF2B5EF4-FFF2-40B4-BE49-F238E27FC236}">
                <a16:creationId xmlns:a16="http://schemas.microsoft.com/office/drawing/2014/main" id="{1FBEC73E-7AD8-B696-DC35-025AB4EA2872}"/>
              </a:ext>
            </a:extLst>
          </p:cNvPr>
          <p:cNvSpPr txBox="1"/>
          <p:nvPr/>
        </p:nvSpPr>
        <p:spPr>
          <a:xfrm>
            <a:off x="2286000" y="4886960"/>
            <a:ext cx="1357672" cy="1200329"/>
          </a:xfrm>
          <a:prstGeom prst="rect">
            <a:avLst/>
          </a:prstGeom>
          <a:noFill/>
        </p:spPr>
        <p:txBody>
          <a:bodyPr wrap="square" rtlCol="0">
            <a:spAutoFit/>
          </a:bodyPr>
          <a:lstStyle/>
          <a:p>
            <a:r>
              <a:rPr lang="el-GR" sz="1200" dirty="0"/>
              <a:t>Δημιουργία πρώτου δικτύου χονδρικής πώλησης γιαουρτιού στην Ελλάδα</a:t>
            </a:r>
          </a:p>
        </p:txBody>
      </p:sp>
      <p:grpSp>
        <p:nvGrpSpPr>
          <p:cNvPr id="109" name="Group 108">
            <a:extLst>
              <a:ext uri="{FF2B5EF4-FFF2-40B4-BE49-F238E27FC236}">
                <a16:creationId xmlns:a16="http://schemas.microsoft.com/office/drawing/2014/main" id="{DE5292FF-0476-20C0-0546-FAA9DF5F5034}"/>
              </a:ext>
            </a:extLst>
          </p:cNvPr>
          <p:cNvGrpSpPr/>
          <p:nvPr/>
        </p:nvGrpSpPr>
        <p:grpSpPr>
          <a:xfrm>
            <a:off x="3816234" y="4886960"/>
            <a:ext cx="1567625" cy="1843221"/>
            <a:chOff x="3816234" y="4886960"/>
            <a:chExt cx="1567625" cy="1843221"/>
          </a:xfrm>
        </p:grpSpPr>
        <p:sp>
          <p:nvSpPr>
            <p:cNvPr id="97" name="TextBox 96">
              <a:extLst>
                <a:ext uri="{FF2B5EF4-FFF2-40B4-BE49-F238E27FC236}">
                  <a16:creationId xmlns:a16="http://schemas.microsoft.com/office/drawing/2014/main" id="{ECA864C6-0F92-CEF8-A4AC-7D0DE83D6A18}"/>
                </a:ext>
              </a:extLst>
            </p:cNvPr>
            <p:cNvSpPr txBox="1"/>
            <p:nvPr/>
          </p:nvSpPr>
          <p:spPr>
            <a:xfrm>
              <a:off x="3918154" y="4886960"/>
              <a:ext cx="1465705" cy="830997"/>
            </a:xfrm>
            <a:prstGeom prst="rect">
              <a:avLst/>
            </a:prstGeom>
            <a:noFill/>
          </p:spPr>
          <p:txBody>
            <a:bodyPr wrap="square" rtlCol="0">
              <a:spAutoFit/>
            </a:bodyPr>
            <a:lstStyle/>
            <a:p>
              <a:r>
                <a:rPr lang="el-GR" sz="1200" dirty="0"/>
                <a:t>Κατασκευή του σημερινού εργοστασίου στη Μεταμόρφωση</a:t>
              </a:r>
            </a:p>
          </p:txBody>
        </p:sp>
        <p:pic>
          <p:nvPicPr>
            <p:cNvPr id="2052" name="Picture 4" descr="Αποχωρεί από την αγορά του γάλακτος η ΦΑΓΕ - Εστιάζει στο γιαούρτι">
              <a:extLst>
                <a:ext uri="{FF2B5EF4-FFF2-40B4-BE49-F238E27FC236}">
                  <a16:creationId xmlns:a16="http://schemas.microsoft.com/office/drawing/2014/main" id="{A04E2FEB-A42C-75AB-2131-26B1D7558C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6234" y="5753175"/>
              <a:ext cx="1567625" cy="977006"/>
            </a:xfrm>
            <a:prstGeom prst="rect">
              <a:avLst/>
            </a:prstGeom>
            <a:noFill/>
            <a:extLst>
              <a:ext uri="{909E8E84-426E-40DD-AFC4-6F175D3DCCD1}">
                <a14:hiddenFill xmlns:a14="http://schemas.microsoft.com/office/drawing/2010/main">
                  <a:solidFill>
                    <a:srgbClr val="FFFFFF"/>
                  </a:solidFill>
                </a14:hiddenFill>
              </a:ext>
            </a:extLst>
          </p:spPr>
        </p:pic>
      </p:grpSp>
      <p:sp>
        <p:nvSpPr>
          <p:cNvPr id="98" name="TextBox 97">
            <a:extLst>
              <a:ext uri="{FF2B5EF4-FFF2-40B4-BE49-F238E27FC236}">
                <a16:creationId xmlns:a16="http://schemas.microsoft.com/office/drawing/2014/main" id="{BBEC5758-4184-ECE8-E98D-8127CE5A14C6}"/>
              </a:ext>
            </a:extLst>
          </p:cNvPr>
          <p:cNvSpPr txBox="1"/>
          <p:nvPr/>
        </p:nvSpPr>
        <p:spPr>
          <a:xfrm>
            <a:off x="5552504" y="4886781"/>
            <a:ext cx="1255639" cy="1015663"/>
          </a:xfrm>
          <a:prstGeom prst="rect">
            <a:avLst/>
          </a:prstGeom>
          <a:noFill/>
        </p:spPr>
        <p:txBody>
          <a:bodyPr wrap="square" rtlCol="0">
            <a:spAutoFit/>
          </a:bodyPr>
          <a:lstStyle/>
          <a:p>
            <a:r>
              <a:rPr lang="el-GR" sz="1200" dirty="0"/>
              <a:t>Πρώτη προσπάθεια διεθνοποίησης σε Αγγλία και Ιταλία</a:t>
            </a:r>
          </a:p>
        </p:txBody>
      </p:sp>
      <p:sp>
        <p:nvSpPr>
          <p:cNvPr id="99" name="TextBox 98">
            <a:extLst>
              <a:ext uri="{FF2B5EF4-FFF2-40B4-BE49-F238E27FC236}">
                <a16:creationId xmlns:a16="http://schemas.microsoft.com/office/drawing/2014/main" id="{48D8A6D0-F8CE-E889-575F-F588E0928530}"/>
              </a:ext>
            </a:extLst>
          </p:cNvPr>
          <p:cNvSpPr txBox="1"/>
          <p:nvPr/>
        </p:nvSpPr>
        <p:spPr>
          <a:xfrm>
            <a:off x="6994323" y="4886781"/>
            <a:ext cx="1117563" cy="646331"/>
          </a:xfrm>
          <a:prstGeom prst="rect">
            <a:avLst/>
          </a:prstGeom>
          <a:noFill/>
        </p:spPr>
        <p:txBody>
          <a:bodyPr wrap="square" rtlCol="0">
            <a:spAutoFit/>
          </a:bodyPr>
          <a:lstStyle/>
          <a:p>
            <a:r>
              <a:rPr lang="el-GR" sz="1200" dirty="0"/>
              <a:t>Είσοδος στην αμερικανική αγορά</a:t>
            </a:r>
          </a:p>
        </p:txBody>
      </p:sp>
      <p:grpSp>
        <p:nvGrpSpPr>
          <p:cNvPr id="110" name="Group 109">
            <a:extLst>
              <a:ext uri="{FF2B5EF4-FFF2-40B4-BE49-F238E27FC236}">
                <a16:creationId xmlns:a16="http://schemas.microsoft.com/office/drawing/2014/main" id="{8BABD7EF-339C-C747-E731-1603B7B3453F}"/>
              </a:ext>
            </a:extLst>
          </p:cNvPr>
          <p:cNvGrpSpPr/>
          <p:nvPr/>
        </p:nvGrpSpPr>
        <p:grpSpPr>
          <a:xfrm>
            <a:off x="8298066" y="4863353"/>
            <a:ext cx="1902574" cy="1895308"/>
            <a:chOff x="8298066" y="4863353"/>
            <a:chExt cx="1902574" cy="1895308"/>
          </a:xfrm>
        </p:grpSpPr>
        <p:sp>
          <p:nvSpPr>
            <p:cNvPr id="100" name="TextBox 99">
              <a:extLst>
                <a:ext uri="{FF2B5EF4-FFF2-40B4-BE49-F238E27FC236}">
                  <a16:creationId xmlns:a16="http://schemas.microsoft.com/office/drawing/2014/main" id="{BAC711F2-F042-3B3C-C8FE-F9FFFB17BB79}"/>
                </a:ext>
              </a:extLst>
            </p:cNvPr>
            <p:cNvSpPr txBox="1"/>
            <p:nvPr/>
          </p:nvSpPr>
          <p:spPr>
            <a:xfrm>
              <a:off x="8318150" y="4863353"/>
              <a:ext cx="1882490" cy="646331"/>
            </a:xfrm>
            <a:prstGeom prst="rect">
              <a:avLst/>
            </a:prstGeom>
            <a:noFill/>
          </p:spPr>
          <p:txBody>
            <a:bodyPr wrap="square" rtlCol="0">
              <a:spAutoFit/>
            </a:bodyPr>
            <a:lstStyle/>
            <a:p>
              <a:r>
                <a:rPr lang="el-GR" sz="1200" dirty="0"/>
                <a:t>Δημιουργία παραγωγικής μονάδας στο </a:t>
              </a:r>
              <a:r>
                <a:rPr lang="en-US" sz="1200" dirty="0"/>
                <a:t>Johnstown </a:t>
              </a:r>
              <a:r>
                <a:rPr lang="el-GR" sz="1200" dirty="0"/>
                <a:t>των ΗΠΑ</a:t>
              </a:r>
            </a:p>
          </p:txBody>
        </p:sp>
        <p:pic>
          <p:nvPicPr>
            <p:cNvPr id="2056" name="Picture 8" descr="ΦΑΓΕ: Υποβάθμιση της πιστοληπτικής ...">
              <a:extLst>
                <a:ext uri="{FF2B5EF4-FFF2-40B4-BE49-F238E27FC236}">
                  <a16:creationId xmlns:a16="http://schemas.microsoft.com/office/drawing/2014/main" id="{D82D88C8-43EA-1548-F0A2-7934BC52314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98066" y="5454863"/>
              <a:ext cx="1882490" cy="1303798"/>
            </a:xfrm>
            <a:prstGeom prst="rect">
              <a:avLst/>
            </a:prstGeom>
            <a:noFill/>
            <a:extLst>
              <a:ext uri="{909E8E84-426E-40DD-AFC4-6F175D3DCCD1}">
                <a14:hiddenFill xmlns:a14="http://schemas.microsoft.com/office/drawing/2010/main">
                  <a:solidFill>
                    <a:srgbClr val="FFFFFF"/>
                  </a:solidFill>
                </a14:hiddenFill>
              </a:ext>
            </a:extLst>
          </p:spPr>
        </p:pic>
      </p:grpSp>
      <p:sp>
        <p:nvSpPr>
          <p:cNvPr id="108" name="TextBox 107">
            <a:extLst>
              <a:ext uri="{FF2B5EF4-FFF2-40B4-BE49-F238E27FC236}">
                <a16:creationId xmlns:a16="http://schemas.microsoft.com/office/drawing/2014/main" id="{9B586D12-790A-8A9B-4A34-9DAC64C49B27}"/>
              </a:ext>
            </a:extLst>
          </p:cNvPr>
          <p:cNvSpPr txBox="1"/>
          <p:nvPr/>
        </p:nvSpPr>
        <p:spPr>
          <a:xfrm>
            <a:off x="10546080" y="4988560"/>
            <a:ext cx="1320800" cy="1015663"/>
          </a:xfrm>
          <a:prstGeom prst="rect">
            <a:avLst/>
          </a:prstGeom>
          <a:noFill/>
        </p:spPr>
        <p:txBody>
          <a:bodyPr wrap="square" rtlCol="0">
            <a:spAutoFit/>
          </a:bodyPr>
          <a:lstStyle/>
          <a:p>
            <a:r>
              <a:rPr lang="el-GR" sz="1200" dirty="0"/>
              <a:t>Μεταφορά της έδρας της εταιρείας στο </a:t>
            </a:r>
            <a:r>
              <a:rPr lang="el-GR" sz="1200" dirty="0" err="1"/>
              <a:t>Στράσσεν</a:t>
            </a:r>
            <a:r>
              <a:rPr lang="el-GR" sz="1200" dirty="0"/>
              <a:t> του Λουξεμβούργου</a:t>
            </a:r>
          </a:p>
        </p:txBody>
      </p:sp>
      <p:grpSp>
        <p:nvGrpSpPr>
          <p:cNvPr id="28" name="Group 27">
            <a:extLst>
              <a:ext uri="{FF2B5EF4-FFF2-40B4-BE49-F238E27FC236}">
                <a16:creationId xmlns:a16="http://schemas.microsoft.com/office/drawing/2014/main" id="{23967838-8299-5280-312C-773A88F973C4}"/>
              </a:ext>
            </a:extLst>
          </p:cNvPr>
          <p:cNvGrpSpPr/>
          <p:nvPr/>
        </p:nvGrpSpPr>
        <p:grpSpPr>
          <a:xfrm>
            <a:off x="610918" y="2033434"/>
            <a:ext cx="3883655" cy="1298653"/>
            <a:chOff x="712838" y="1002889"/>
            <a:chExt cx="3190459" cy="1298653"/>
          </a:xfrm>
        </p:grpSpPr>
        <p:sp>
          <p:nvSpPr>
            <p:cNvPr id="30" name="Rectangle: Rounded Corners 29">
              <a:extLst>
                <a:ext uri="{FF2B5EF4-FFF2-40B4-BE49-F238E27FC236}">
                  <a16:creationId xmlns:a16="http://schemas.microsoft.com/office/drawing/2014/main" id="{9E9C7DA8-7F79-46BC-814A-F913041AEEA8}"/>
                </a:ext>
              </a:extLst>
            </p:cNvPr>
            <p:cNvSpPr/>
            <p:nvPr/>
          </p:nvSpPr>
          <p:spPr>
            <a:xfrm>
              <a:off x="727587" y="1002889"/>
              <a:ext cx="2802194" cy="1298653"/>
            </a:xfrm>
            <a:prstGeom prst="roundRect">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31" name="TextBox 30">
              <a:extLst>
                <a:ext uri="{FF2B5EF4-FFF2-40B4-BE49-F238E27FC236}">
                  <a16:creationId xmlns:a16="http://schemas.microsoft.com/office/drawing/2014/main" id="{4AB6DE61-43EF-F35C-647C-27FEBA4D46B9}"/>
                </a:ext>
              </a:extLst>
            </p:cNvPr>
            <p:cNvSpPr txBox="1"/>
            <p:nvPr/>
          </p:nvSpPr>
          <p:spPr>
            <a:xfrm>
              <a:off x="712838" y="1101213"/>
              <a:ext cx="3190459" cy="923330"/>
            </a:xfrm>
            <a:prstGeom prst="rect">
              <a:avLst/>
            </a:prstGeom>
            <a:noFill/>
          </p:spPr>
          <p:txBody>
            <a:bodyPr wrap="square" rtlCol="0">
              <a:spAutoFit/>
            </a:bodyPr>
            <a:lstStyle/>
            <a:p>
              <a:r>
                <a:rPr lang="el-GR" dirty="0">
                  <a:solidFill>
                    <a:srgbClr val="0D0D0D"/>
                  </a:solidFill>
                  <a:latin typeface="Aptos" panose="020B0004020202020204" pitchFamily="34" charset="0"/>
                  <a:ea typeface="Aptos" panose="020B0004020202020204" pitchFamily="34" charset="0"/>
                  <a:cs typeface="Calibri" panose="020F0502020204030204" pitchFamily="34" charset="0"/>
                </a:rPr>
                <a:t>Απασχολείται </a:t>
              </a:r>
              <a:r>
                <a:rPr lang="en-US" dirty="0">
                  <a:solidFill>
                    <a:srgbClr val="0D0D0D"/>
                  </a:solidFill>
                  <a:latin typeface="Aptos" panose="020B0004020202020204" pitchFamily="34" charset="0"/>
                  <a:ea typeface="Aptos" panose="020B0004020202020204" pitchFamily="34" charset="0"/>
                  <a:cs typeface="Calibri" panose="020F0502020204030204" pitchFamily="34" charset="0"/>
                </a:rPr>
                <a:t>-</a:t>
              </a:r>
              <a:r>
                <a:rPr lang="el-GR" dirty="0">
                  <a:solidFill>
                    <a:srgbClr val="0D0D0D"/>
                  </a:solidFill>
                  <a:latin typeface="Aptos" panose="020B0004020202020204" pitchFamily="34" charset="0"/>
                  <a:ea typeface="Aptos" panose="020B0004020202020204" pitchFamily="34" charset="0"/>
                  <a:cs typeface="Calibri" panose="020F0502020204030204" pitchFamily="34" charset="0"/>
                </a:rPr>
                <a:t>κυρίως- με την</a:t>
              </a:r>
            </a:p>
            <a:p>
              <a:r>
                <a:rPr lang="el-GR" sz="1800" dirty="0">
                  <a:solidFill>
                    <a:srgbClr val="0D0D0D"/>
                  </a:solidFill>
                  <a:effectLst/>
                  <a:latin typeface="Aptos" panose="020B0004020202020204" pitchFamily="34" charset="0"/>
                  <a:ea typeface="Aptos" panose="020B0004020202020204" pitchFamily="34" charset="0"/>
                  <a:cs typeface="Calibri" panose="020F0502020204030204" pitchFamily="34" charset="0"/>
                </a:rPr>
                <a:t>Παραγω</a:t>
              </a:r>
              <a:r>
                <a:rPr lang="el-GR" dirty="0">
                  <a:solidFill>
                    <a:srgbClr val="0D0D0D"/>
                  </a:solidFill>
                  <a:latin typeface="Aptos" panose="020B0004020202020204" pitchFamily="34" charset="0"/>
                  <a:ea typeface="Aptos" panose="020B0004020202020204" pitchFamily="34" charset="0"/>
                  <a:cs typeface="Calibri" panose="020F0502020204030204" pitchFamily="34" charset="0"/>
                </a:rPr>
                <a:t>γή γιαουρτιού, τυριού,</a:t>
              </a:r>
            </a:p>
            <a:p>
              <a:r>
                <a:rPr lang="el-GR" dirty="0">
                  <a:solidFill>
                    <a:srgbClr val="0D0D0D"/>
                  </a:solidFill>
                  <a:latin typeface="Aptos" panose="020B0004020202020204" pitchFamily="34" charset="0"/>
                  <a:ea typeface="Aptos" panose="020B0004020202020204" pitchFamily="34" charset="0"/>
                  <a:cs typeface="Calibri" panose="020F0502020204030204" pitchFamily="34" charset="0"/>
                </a:rPr>
                <a:t>επιδορπίων και κρεμών γάλακτος </a:t>
              </a:r>
            </a:p>
          </p:txBody>
        </p:sp>
      </p:grpSp>
    </p:spTree>
    <p:extLst>
      <p:ext uri="{BB962C8B-B14F-4D97-AF65-F5344CB8AC3E}">
        <p14:creationId xmlns:p14="http://schemas.microsoft.com/office/powerpoint/2010/main" val="6807841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fade">
                                      <p:cBhvr>
                                        <p:cTn id="12" dur="500"/>
                                        <p:tgtEl>
                                          <p:spTgt spid="3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fade">
                                      <p:cBhvr>
                                        <p:cTn id="22" dur="500"/>
                                        <p:tgtEl>
                                          <p:spTgt spid="2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500"/>
                                        <p:tgtEl>
                                          <p:spTgt spid="17"/>
                                        </p:tgtEl>
                                      </p:cBhvr>
                                    </p:animEffect>
                                  </p:childTnLst>
                                </p:cTn>
                              </p:par>
                            </p:childTnLst>
                          </p:cTn>
                        </p:par>
                        <p:par>
                          <p:cTn id="28" fill="hold">
                            <p:stCondLst>
                              <p:cond delay="500"/>
                            </p:stCondLst>
                            <p:childTnLst>
                              <p:par>
                                <p:cTn id="29" presetID="10" presetClass="entr" presetSubtype="0" fill="hold" nodeType="after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fade">
                                      <p:cBhvr>
                                        <p:cTn id="31" dur="500"/>
                                        <p:tgtEl>
                                          <p:spTgt spid="20"/>
                                        </p:tgtEl>
                                      </p:cBhvr>
                                    </p:animEffect>
                                  </p:childTnLst>
                                </p:cTn>
                              </p:par>
                            </p:childTnLst>
                          </p:cTn>
                        </p:par>
                        <p:par>
                          <p:cTn id="32" fill="hold">
                            <p:stCondLst>
                              <p:cond delay="1000"/>
                            </p:stCondLst>
                            <p:childTnLst>
                              <p:par>
                                <p:cTn id="33" presetID="2" presetClass="entr" presetSubtype="4" fill="hold" grpId="0" nodeType="afterEffect">
                                  <p:stCondLst>
                                    <p:cond delay="0"/>
                                  </p:stCondLst>
                                  <p:childTnLst>
                                    <p:set>
                                      <p:cBhvr>
                                        <p:cTn id="34" dur="1" fill="hold">
                                          <p:stCondLst>
                                            <p:cond delay="0"/>
                                          </p:stCondLst>
                                        </p:cTn>
                                        <p:tgtEl>
                                          <p:spTgt spid="27"/>
                                        </p:tgtEl>
                                        <p:attrNameLst>
                                          <p:attrName>style.visibility</p:attrName>
                                        </p:attrNameLst>
                                      </p:cBhvr>
                                      <p:to>
                                        <p:strVal val="visible"/>
                                      </p:to>
                                    </p:set>
                                    <p:anim calcmode="lin" valueType="num">
                                      <p:cBhvr additive="base">
                                        <p:cTn id="35" dur="500" fill="hold"/>
                                        <p:tgtEl>
                                          <p:spTgt spid="27"/>
                                        </p:tgtEl>
                                        <p:attrNameLst>
                                          <p:attrName>ppt_x</p:attrName>
                                        </p:attrNameLst>
                                      </p:cBhvr>
                                      <p:tavLst>
                                        <p:tav tm="0">
                                          <p:val>
                                            <p:strVal val="#ppt_x"/>
                                          </p:val>
                                        </p:tav>
                                        <p:tav tm="100000">
                                          <p:val>
                                            <p:strVal val="#ppt_x"/>
                                          </p:val>
                                        </p:tav>
                                      </p:tavLst>
                                    </p:anim>
                                    <p:anim calcmode="lin" valueType="num">
                                      <p:cBhvr additive="base">
                                        <p:cTn id="36" dur="500" fill="hold"/>
                                        <p:tgtEl>
                                          <p:spTgt spid="27"/>
                                        </p:tgtEl>
                                        <p:attrNameLst>
                                          <p:attrName>ppt_y</p:attrName>
                                        </p:attrNameLst>
                                      </p:cBhvr>
                                      <p:tavLst>
                                        <p:tav tm="0">
                                          <p:val>
                                            <p:strVal val="1+#ppt_h/2"/>
                                          </p:val>
                                        </p:tav>
                                        <p:tav tm="100000">
                                          <p:val>
                                            <p:strVal val="#ppt_y"/>
                                          </p:val>
                                        </p:tav>
                                      </p:tavLst>
                                    </p:anim>
                                  </p:childTnLst>
                                </p:cTn>
                              </p:par>
                            </p:childTnLst>
                          </p:cTn>
                        </p:par>
                        <p:par>
                          <p:cTn id="37" fill="hold">
                            <p:stCondLst>
                              <p:cond delay="1500"/>
                            </p:stCondLst>
                            <p:childTnLst>
                              <p:par>
                                <p:cTn id="38" presetID="10" presetClass="entr" presetSubtype="0" fill="hold" nodeType="after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500"/>
                                        <p:tgtEl>
                                          <p:spTgt spid="21"/>
                                        </p:tgtEl>
                                      </p:cBhvr>
                                    </p:animEffect>
                                  </p:childTnLst>
                                </p:cTn>
                              </p:par>
                            </p:childTnLst>
                          </p:cTn>
                        </p:par>
                        <p:par>
                          <p:cTn id="41" fill="hold">
                            <p:stCondLst>
                              <p:cond delay="2000"/>
                            </p:stCondLst>
                            <p:childTnLst>
                              <p:par>
                                <p:cTn id="42" presetID="2" presetClass="entr" presetSubtype="4" fill="hold" grpId="0" nodeType="afterEffect">
                                  <p:stCondLst>
                                    <p:cond delay="0"/>
                                  </p:stCondLst>
                                  <p:childTnLst>
                                    <p:set>
                                      <p:cBhvr>
                                        <p:cTn id="43" dur="1" fill="hold">
                                          <p:stCondLst>
                                            <p:cond delay="0"/>
                                          </p:stCondLst>
                                        </p:cTn>
                                        <p:tgtEl>
                                          <p:spTgt spid="29"/>
                                        </p:tgtEl>
                                        <p:attrNameLst>
                                          <p:attrName>style.visibility</p:attrName>
                                        </p:attrNameLst>
                                      </p:cBhvr>
                                      <p:to>
                                        <p:strVal val="visible"/>
                                      </p:to>
                                    </p:set>
                                    <p:anim calcmode="lin" valueType="num">
                                      <p:cBhvr additive="base">
                                        <p:cTn id="44" dur="500" fill="hold"/>
                                        <p:tgtEl>
                                          <p:spTgt spid="29"/>
                                        </p:tgtEl>
                                        <p:attrNameLst>
                                          <p:attrName>ppt_x</p:attrName>
                                        </p:attrNameLst>
                                      </p:cBhvr>
                                      <p:tavLst>
                                        <p:tav tm="0">
                                          <p:val>
                                            <p:strVal val="#ppt_x"/>
                                          </p:val>
                                        </p:tav>
                                        <p:tav tm="100000">
                                          <p:val>
                                            <p:strVal val="#ppt_x"/>
                                          </p:val>
                                        </p:tav>
                                      </p:tavLst>
                                    </p:anim>
                                    <p:anim calcmode="lin" valueType="num">
                                      <p:cBhvr additive="base">
                                        <p:cTn id="45" dur="500" fill="hold"/>
                                        <p:tgtEl>
                                          <p:spTgt spid="29"/>
                                        </p:tgtEl>
                                        <p:attrNameLst>
                                          <p:attrName>ppt_y</p:attrName>
                                        </p:attrNameLst>
                                      </p:cBhvr>
                                      <p:tavLst>
                                        <p:tav tm="0">
                                          <p:val>
                                            <p:strVal val="1+#ppt_h/2"/>
                                          </p:val>
                                        </p:tav>
                                        <p:tav tm="100000">
                                          <p:val>
                                            <p:strVal val="#ppt_y"/>
                                          </p:val>
                                        </p:tav>
                                      </p:tavLst>
                                    </p:anim>
                                  </p:childTnLst>
                                </p:cTn>
                              </p:par>
                            </p:childTnLst>
                          </p:cTn>
                        </p:par>
                        <p:par>
                          <p:cTn id="46" fill="hold">
                            <p:stCondLst>
                              <p:cond delay="2500"/>
                            </p:stCondLst>
                            <p:childTnLst>
                              <p:par>
                                <p:cTn id="47" presetID="10" presetClass="entr" presetSubtype="0" fill="hold" nodeType="afterEffect">
                                  <p:stCondLst>
                                    <p:cond delay="0"/>
                                  </p:stCondLst>
                                  <p:childTnLst>
                                    <p:set>
                                      <p:cBhvr>
                                        <p:cTn id="48" dur="1" fill="hold">
                                          <p:stCondLst>
                                            <p:cond delay="0"/>
                                          </p:stCondLst>
                                        </p:cTn>
                                        <p:tgtEl>
                                          <p:spTgt spid="22"/>
                                        </p:tgtEl>
                                        <p:attrNameLst>
                                          <p:attrName>style.visibility</p:attrName>
                                        </p:attrNameLst>
                                      </p:cBhvr>
                                      <p:to>
                                        <p:strVal val="visible"/>
                                      </p:to>
                                    </p:set>
                                    <p:animEffect transition="in" filter="fade">
                                      <p:cBhvr>
                                        <p:cTn id="49" dur="500"/>
                                        <p:tgtEl>
                                          <p:spTgt spid="22"/>
                                        </p:tgtEl>
                                      </p:cBhvr>
                                    </p:animEffect>
                                  </p:childTnLst>
                                </p:cTn>
                              </p:par>
                            </p:childTnLst>
                          </p:cTn>
                        </p:par>
                        <p:par>
                          <p:cTn id="50" fill="hold">
                            <p:stCondLst>
                              <p:cond delay="3000"/>
                            </p:stCondLst>
                            <p:childTnLst>
                              <p:par>
                                <p:cTn id="51" presetID="2" presetClass="entr" presetSubtype="4" fill="hold" grpId="0" nodeType="afterEffect">
                                  <p:stCondLst>
                                    <p:cond delay="0"/>
                                  </p:stCondLst>
                                  <p:childTnLst>
                                    <p:set>
                                      <p:cBhvr>
                                        <p:cTn id="52" dur="1" fill="hold">
                                          <p:stCondLst>
                                            <p:cond delay="0"/>
                                          </p:stCondLst>
                                        </p:cTn>
                                        <p:tgtEl>
                                          <p:spTgt spid="32"/>
                                        </p:tgtEl>
                                        <p:attrNameLst>
                                          <p:attrName>style.visibility</p:attrName>
                                        </p:attrNameLst>
                                      </p:cBhvr>
                                      <p:to>
                                        <p:strVal val="visible"/>
                                      </p:to>
                                    </p:set>
                                    <p:anim calcmode="lin" valueType="num">
                                      <p:cBhvr additive="base">
                                        <p:cTn id="53" dur="500" fill="hold"/>
                                        <p:tgtEl>
                                          <p:spTgt spid="32"/>
                                        </p:tgtEl>
                                        <p:attrNameLst>
                                          <p:attrName>ppt_x</p:attrName>
                                        </p:attrNameLst>
                                      </p:cBhvr>
                                      <p:tavLst>
                                        <p:tav tm="0">
                                          <p:val>
                                            <p:strVal val="#ppt_x"/>
                                          </p:val>
                                        </p:tav>
                                        <p:tav tm="100000">
                                          <p:val>
                                            <p:strVal val="#ppt_x"/>
                                          </p:val>
                                        </p:tav>
                                      </p:tavLst>
                                    </p:anim>
                                    <p:anim calcmode="lin" valueType="num">
                                      <p:cBhvr additive="base">
                                        <p:cTn id="54" dur="500" fill="hold"/>
                                        <p:tgtEl>
                                          <p:spTgt spid="32"/>
                                        </p:tgtEl>
                                        <p:attrNameLst>
                                          <p:attrName>ppt_y</p:attrName>
                                        </p:attrNameLst>
                                      </p:cBhvr>
                                      <p:tavLst>
                                        <p:tav tm="0">
                                          <p:val>
                                            <p:strVal val="1+#ppt_h/2"/>
                                          </p:val>
                                        </p:tav>
                                        <p:tav tm="100000">
                                          <p:val>
                                            <p:strVal val="#ppt_y"/>
                                          </p:val>
                                        </p:tav>
                                      </p:tavLst>
                                    </p:anim>
                                  </p:childTnLst>
                                </p:cTn>
                              </p:par>
                            </p:childTnLst>
                          </p:cTn>
                        </p:par>
                        <p:par>
                          <p:cTn id="55" fill="hold">
                            <p:stCondLst>
                              <p:cond delay="3500"/>
                            </p:stCondLst>
                            <p:childTnLst>
                              <p:par>
                                <p:cTn id="56" presetID="10" presetClass="entr" presetSubtype="0" fill="hold" nodeType="afterEffect">
                                  <p:stCondLst>
                                    <p:cond delay="0"/>
                                  </p:stCondLst>
                                  <p:childTnLst>
                                    <p:set>
                                      <p:cBhvr>
                                        <p:cTn id="57" dur="1" fill="hold">
                                          <p:stCondLst>
                                            <p:cond delay="0"/>
                                          </p:stCondLst>
                                        </p:cTn>
                                        <p:tgtEl>
                                          <p:spTgt spid="23"/>
                                        </p:tgtEl>
                                        <p:attrNameLst>
                                          <p:attrName>style.visibility</p:attrName>
                                        </p:attrNameLst>
                                      </p:cBhvr>
                                      <p:to>
                                        <p:strVal val="visible"/>
                                      </p:to>
                                    </p:set>
                                    <p:animEffect transition="in" filter="fade">
                                      <p:cBhvr>
                                        <p:cTn id="58" dur="500"/>
                                        <p:tgtEl>
                                          <p:spTgt spid="23"/>
                                        </p:tgtEl>
                                      </p:cBhvr>
                                    </p:animEffect>
                                  </p:childTnLst>
                                </p:cTn>
                              </p:par>
                            </p:childTnLst>
                          </p:cTn>
                        </p:par>
                        <p:par>
                          <p:cTn id="59" fill="hold">
                            <p:stCondLst>
                              <p:cond delay="4000"/>
                            </p:stCondLst>
                            <p:childTnLst>
                              <p:par>
                                <p:cTn id="60" presetID="2" presetClass="entr" presetSubtype="4" fill="hold" grpId="0" nodeType="afterEffect">
                                  <p:stCondLst>
                                    <p:cond delay="0"/>
                                  </p:stCondLst>
                                  <p:childTnLst>
                                    <p:set>
                                      <p:cBhvr>
                                        <p:cTn id="61" dur="1" fill="hold">
                                          <p:stCondLst>
                                            <p:cond delay="0"/>
                                          </p:stCondLst>
                                        </p:cTn>
                                        <p:tgtEl>
                                          <p:spTgt spid="33"/>
                                        </p:tgtEl>
                                        <p:attrNameLst>
                                          <p:attrName>style.visibility</p:attrName>
                                        </p:attrNameLst>
                                      </p:cBhvr>
                                      <p:to>
                                        <p:strVal val="visible"/>
                                      </p:to>
                                    </p:set>
                                    <p:anim calcmode="lin" valueType="num">
                                      <p:cBhvr additive="base">
                                        <p:cTn id="62" dur="500" fill="hold"/>
                                        <p:tgtEl>
                                          <p:spTgt spid="33"/>
                                        </p:tgtEl>
                                        <p:attrNameLst>
                                          <p:attrName>ppt_x</p:attrName>
                                        </p:attrNameLst>
                                      </p:cBhvr>
                                      <p:tavLst>
                                        <p:tav tm="0">
                                          <p:val>
                                            <p:strVal val="#ppt_x"/>
                                          </p:val>
                                        </p:tav>
                                        <p:tav tm="100000">
                                          <p:val>
                                            <p:strVal val="#ppt_x"/>
                                          </p:val>
                                        </p:tav>
                                      </p:tavLst>
                                    </p:anim>
                                    <p:anim calcmode="lin" valueType="num">
                                      <p:cBhvr additive="base">
                                        <p:cTn id="63"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37"/>
                                        </p:tgtEl>
                                        <p:attrNameLst>
                                          <p:attrName>style.visibility</p:attrName>
                                        </p:attrNameLst>
                                      </p:cBhvr>
                                      <p:to>
                                        <p:strVal val="visible"/>
                                      </p:to>
                                    </p:set>
                                    <p:animEffect transition="in" filter="fade">
                                      <p:cBhvr>
                                        <p:cTn id="68" dur="500"/>
                                        <p:tgtEl>
                                          <p:spTgt spid="37"/>
                                        </p:tgtEl>
                                      </p:cBhvr>
                                    </p:animEffect>
                                  </p:childTnLst>
                                </p:cTn>
                              </p:par>
                            </p:childTnLst>
                          </p:cTn>
                        </p:par>
                        <p:par>
                          <p:cTn id="69" fill="hold">
                            <p:stCondLst>
                              <p:cond delay="500"/>
                            </p:stCondLst>
                            <p:childTnLst>
                              <p:par>
                                <p:cTn id="70" presetID="1" presetClass="entr" presetSubtype="0" fill="hold" grpId="0" nodeType="afterEffect">
                                  <p:stCondLst>
                                    <p:cond delay="0"/>
                                  </p:stCondLst>
                                  <p:childTnLst>
                                    <p:set>
                                      <p:cBhvr>
                                        <p:cTn id="71" dur="1" fill="hold">
                                          <p:stCondLst>
                                            <p:cond delay="0"/>
                                          </p:stCondLst>
                                        </p:cTn>
                                        <p:tgtEl>
                                          <p:spTgt spid="40"/>
                                        </p:tgtEl>
                                        <p:attrNameLst>
                                          <p:attrName>style.visibility</p:attrName>
                                        </p:attrNameLst>
                                      </p:cBhvr>
                                      <p:to>
                                        <p:strVal val="visible"/>
                                      </p:to>
                                    </p:set>
                                  </p:childTnLst>
                                </p:cTn>
                              </p:par>
                            </p:childTnLst>
                          </p:cTn>
                        </p:par>
                        <p:par>
                          <p:cTn id="72" fill="hold">
                            <p:stCondLst>
                              <p:cond delay="500"/>
                            </p:stCondLst>
                            <p:childTnLst>
                              <p:par>
                                <p:cTn id="73" presetID="2" presetClass="entr" presetSubtype="4" fill="hold" nodeType="afterEffect">
                                  <p:stCondLst>
                                    <p:cond delay="0"/>
                                  </p:stCondLst>
                                  <p:childTnLst>
                                    <p:set>
                                      <p:cBhvr>
                                        <p:cTn id="74" dur="1" fill="hold">
                                          <p:stCondLst>
                                            <p:cond delay="0"/>
                                          </p:stCondLst>
                                        </p:cTn>
                                        <p:tgtEl>
                                          <p:spTgt spid="95"/>
                                        </p:tgtEl>
                                        <p:attrNameLst>
                                          <p:attrName>style.visibility</p:attrName>
                                        </p:attrNameLst>
                                      </p:cBhvr>
                                      <p:to>
                                        <p:strVal val="visible"/>
                                      </p:to>
                                    </p:set>
                                    <p:anim calcmode="lin" valueType="num">
                                      <p:cBhvr additive="base">
                                        <p:cTn id="75" dur="1500" fill="hold"/>
                                        <p:tgtEl>
                                          <p:spTgt spid="95"/>
                                        </p:tgtEl>
                                        <p:attrNameLst>
                                          <p:attrName>ppt_x</p:attrName>
                                        </p:attrNameLst>
                                      </p:cBhvr>
                                      <p:tavLst>
                                        <p:tav tm="0">
                                          <p:val>
                                            <p:strVal val="#ppt_x"/>
                                          </p:val>
                                        </p:tav>
                                        <p:tav tm="100000">
                                          <p:val>
                                            <p:strVal val="#ppt_x"/>
                                          </p:val>
                                        </p:tav>
                                      </p:tavLst>
                                    </p:anim>
                                    <p:anim calcmode="lin" valueType="num">
                                      <p:cBhvr additive="base">
                                        <p:cTn id="76" dur="1500" fill="hold"/>
                                        <p:tgtEl>
                                          <p:spTgt spid="95"/>
                                        </p:tgtEl>
                                        <p:attrNameLst>
                                          <p:attrName>ppt_y</p:attrName>
                                        </p:attrNameLst>
                                      </p:cBhvr>
                                      <p:tavLst>
                                        <p:tav tm="0">
                                          <p:val>
                                            <p:strVal val="1+#ppt_h/2"/>
                                          </p:val>
                                        </p:tav>
                                        <p:tav tm="100000">
                                          <p:val>
                                            <p:strVal val="#ppt_y"/>
                                          </p:val>
                                        </p:tav>
                                      </p:tavLst>
                                    </p:anim>
                                  </p:childTnLst>
                                </p:cTn>
                              </p:par>
                            </p:childTnLst>
                          </p:cTn>
                        </p:par>
                        <p:par>
                          <p:cTn id="77" fill="hold">
                            <p:stCondLst>
                              <p:cond delay="2000"/>
                            </p:stCondLst>
                            <p:childTnLst>
                              <p:par>
                                <p:cTn id="78" presetID="55" presetClass="entr" presetSubtype="0" fill="hold" nodeType="afterEffect">
                                  <p:stCondLst>
                                    <p:cond delay="0"/>
                                  </p:stCondLst>
                                  <p:childTnLst>
                                    <p:set>
                                      <p:cBhvr>
                                        <p:cTn id="79" dur="1" fill="hold">
                                          <p:stCondLst>
                                            <p:cond delay="0"/>
                                          </p:stCondLst>
                                        </p:cTn>
                                        <p:tgtEl>
                                          <p:spTgt spid="53"/>
                                        </p:tgtEl>
                                        <p:attrNameLst>
                                          <p:attrName>style.visibility</p:attrName>
                                        </p:attrNameLst>
                                      </p:cBhvr>
                                      <p:to>
                                        <p:strVal val="visible"/>
                                      </p:to>
                                    </p:set>
                                    <p:anim calcmode="lin" valueType="num">
                                      <p:cBhvr>
                                        <p:cTn id="80" dur="1000" fill="hold"/>
                                        <p:tgtEl>
                                          <p:spTgt spid="53"/>
                                        </p:tgtEl>
                                        <p:attrNameLst>
                                          <p:attrName>ppt_w</p:attrName>
                                        </p:attrNameLst>
                                      </p:cBhvr>
                                      <p:tavLst>
                                        <p:tav tm="0">
                                          <p:val>
                                            <p:strVal val="#ppt_w*0.70"/>
                                          </p:val>
                                        </p:tav>
                                        <p:tav tm="100000">
                                          <p:val>
                                            <p:strVal val="#ppt_w"/>
                                          </p:val>
                                        </p:tav>
                                      </p:tavLst>
                                    </p:anim>
                                    <p:anim calcmode="lin" valueType="num">
                                      <p:cBhvr>
                                        <p:cTn id="81" dur="1000" fill="hold"/>
                                        <p:tgtEl>
                                          <p:spTgt spid="53"/>
                                        </p:tgtEl>
                                        <p:attrNameLst>
                                          <p:attrName>ppt_h</p:attrName>
                                        </p:attrNameLst>
                                      </p:cBhvr>
                                      <p:tavLst>
                                        <p:tav tm="0">
                                          <p:val>
                                            <p:strVal val="#ppt_h"/>
                                          </p:val>
                                        </p:tav>
                                        <p:tav tm="100000">
                                          <p:val>
                                            <p:strVal val="#ppt_h"/>
                                          </p:val>
                                        </p:tav>
                                      </p:tavLst>
                                    </p:anim>
                                    <p:animEffect transition="in" filter="fade">
                                      <p:cBhvr>
                                        <p:cTn id="82" dur="1000"/>
                                        <p:tgtEl>
                                          <p:spTgt spid="53"/>
                                        </p:tgtEl>
                                      </p:cBhvr>
                                    </p:animEffect>
                                  </p:childTnLst>
                                </p:cTn>
                              </p:par>
                            </p:childTnLst>
                          </p:cTn>
                        </p:par>
                        <p:par>
                          <p:cTn id="83" fill="hold">
                            <p:stCondLst>
                              <p:cond delay="3000"/>
                            </p:stCondLst>
                            <p:childTnLst>
                              <p:par>
                                <p:cTn id="84" presetID="1" presetClass="entr" presetSubtype="0" fill="hold" grpId="0" nodeType="afterEffect">
                                  <p:stCondLst>
                                    <p:cond delay="0"/>
                                  </p:stCondLst>
                                  <p:childTnLst>
                                    <p:set>
                                      <p:cBhvr>
                                        <p:cTn id="85" dur="1" fill="hold">
                                          <p:stCondLst>
                                            <p:cond delay="0"/>
                                          </p:stCondLst>
                                        </p:cTn>
                                        <p:tgtEl>
                                          <p:spTgt spid="42"/>
                                        </p:tgtEl>
                                        <p:attrNameLst>
                                          <p:attrName>style.visibility</p:attrName>
                                        </p:attrNameLst>
                                      </p:cBhvr>
                                      <p:to>
                                        <p:strVal val="visible"/>
                                      </p:to>
                                    </p:set>
                                  </p:childTnLst>
                                </p:cTn>
                              </p:par>
                            </p:childTnLst>
                          </p:cTn>
                        </p:par>
                        <p:par>
                          <p:cTn id="86" fill="hold">
                            <p:stCondLst>
                              <p:cond delay="3000"/>
                            </p:stCondLst>
                            <p:childTnLst>
                              <p:par>
                                <p:cTn id="87" presetID="2" presetClass="entr" presetSubtype="4" fill="hold" grpId="0" nodeType="afterEffect">
                                  <p:stCondLst>
                                    <p:cond delay="0"/>
                                  </p:stCondLst>
                                  <p:childTnLst>
                                    <p:set>
                                      <p:cBhvr>
                                        <p:cTn id="88" dur="1" fill="hold">
                                          <p:stCondLst>
                                            <p:cond delay="0"/>
                                          </p:stCondLst>
                                        </p:cTn>
                                        <p:tgtEl>
                                          <p:spTgt spid="96"/>
                                        </p:tgtEl>
                                        <p:attrNameLst>
                                          <p:attrName>style.visibility</p:attrName>
                                        </p:attrNameLst>
                                      </p:cBhvr>
                                      <p:to>
                                        <p:strVal val="visible"/>
                                      </p:to>
                                    </p:set>
                                    <p:anim calcmode="lin" valueType="num">
                                      <p:cBhvr additive="base">
                                        <p:cTn id="89" dur="1500" fill="hold"/>
                                        <p:tgtEl>
                                          <p:spTgt spid="96"/>
                                        </p:tgtEl>
                                        <p:attrNameLst>
                                          <p:attrName>ppt_x</p:attrName>
                                        </p:attrNameLst>
                                      </p:cBhvr>
                                      <p:tavLst>
                                        <p:tav tm="0">
                                          <p:val>
                                            <p:strVal val="#ppt_x"/>
                                          </p:val>
                                        </p:tav>
                                        <p:tav tm="100000">
                                          <p:val>
                                            <p:strVal val="#ppt_x"/>
                                          </p:val>
                                        </p:tav>
                                      </p:tavLst>
                                    </p:anim>
                                    <p:anim calcmode="lin" valueType="num">
                                      <p:cBhvr additive="base">
                                        <p:cTn id="90" dur="1500" fill="hold"/>
                                        <p:tgtEl>
                                          <p:spTgt spid="96"/>
                                        </p:tgtEl>
                                        <p:attrNameLst>
                                          <p:attrName>ppt_y</p:attrName>
                                        </p:attrNameLst>
                                      </p:cBhvr>
                                      <p:tavLst>
                                        <p:tav tm="0">
                                          <p:val>
                                            <p:strVal val="1+#ppt_h/2"/>
                                          </p:val>
                                        </p:tav>
                                        <p:tav tm="100000">
                                          <p:val>
                                            <p:strVal val="#ppt_y"/>
                                          </p:val>
                                        </p:tav>
                                      </p:tavLst>
                                    </p:anim>
                                  </p:childTnLst>
                                </p:cTn>
                              </p:par>
                            </p:childTnLst>
                          </p:cTn>
                        </p:par>
                        <p:par>
                          <p:cTn id="91" fill="hold">
                            <p:stCondLst>
                              <p:cond delay="4500"/>
                            </p:stCondLst>
                            <p:childTnLst>
                              <p:par>
                                <p:cTn id="92" presetID="55" presetClass="entr" presetSubtype="0" fill="hold" nodeType="afterEffect">
                                  <p:stCondLst>
                                    <p:cond delay="0"/>
                                  </p:stCondLst>
                                  <p:childTnLst>
                                    <p:set>
                                      <p:cBhvr>
                                        <p:cTn id="93" dur="1" fill="hold">
                                          <p:stCondLst>
                                            <p:cond delay="0"/>
                                          </p:stCondLst>
                                        </p:cTn>
                                        <p:tgtEl>
                                          <p:spTgt spid="56"/>
                                        </p:tgtEl>
                                        <p:attrNameLst>
                                          <p:attrName>style.visibility</p:attrName>
                                        </p:attrNameLst>
                                      </p:cBhvr>
                                      <p:to>
                                        <p:strVal val="visible"/>
                                      </p:to>
                                    </p:set>
                                    <p:anim calcmode="lin" valueType="num">
                                      <p:cBhvr>
                                        <p:cTn id="94" dur="1000" fill="hold"/>
                                        <p:tgtEl>
                                          <p:spTgt spid="56"/>
                                        </p:tgtEl>
                                        <p:attrNameLst>
                                          <p:attrName>ppt_w</p:attrName>
                                        </p:attrNameLst>
                                      </p:cBhvr>
                                      <p:tavLst>
                                        <p:tav tm="0">
                                          <p:val>
                                            <p:strVal val="#ppt_w*0.70"/>
                                          </p:val>
                                        </p:tav>
                                        <p:tav tm="100000">
                                          <p:val>
                                            <p:strVal val="#ppt_w"/>
                                          </p:val>
                                        </p:tav>
                                      </p:tavLst>
                                    </p:anim>
                                    <p:anim calcmode="lin" valueType="num">
                                      <p:cBhvr>
                                        <p:cTn id="95" dur="1000" fill="hold"/>
                                        <p:tgtEl>
                                          <p:spTgt spid="56"/>
                                        </p:tgtEl>
                                        <p:attrNameLst>
                                          <p:attrName>ppt_h</p:attrName>
                                        </p:attrNameLst>
                                      </p:cBhvr>
                                      <p:tavLst>
                                        <p:tav tm="0">
                                          <p:val>
                                            <p:strVal val="#ppt_h"/>
                                          </p:val>
                                        </p:tav>
                                        <p:tav tm="100000">
                                          <p:val>
                                            <p:strVal val="#ppt_h"/>
                                          </p:val>
                                        </p:tav>
                                      </p:tavLst>
                                    </p:anim>
                                    <p:animEffect transition="in" filter="fade">
                                      <p:cBhvr>
                                        <p:cTn id="96" dur="1000"/>
                                        <p:tgtEl>
                                          <p:spTgt spid="56"/>
                                        </p:tgtEl>
                                      </p:cBhvr>
                                    </p:animEffect>
                                  </p:childTnLst>
                                </p:cTn>
                              </p:par>
                            </p:childTnLst>
                          </p:cTn>
                        </p:par>
                        <p:par>
                          <p:cTn id="97" fill="hold">
                            <p:stCondLst>
                              <p:cond delay="5500"/>
                            </p:stCondLst>
                            <p:childTnLst>
                              <p:par>
                                <p:cTn id="98" presetID="1" presetClass="entr" presetSubtype="0" fill="hold" grpId="0" nodeType="afterEffect">
                                  <p:stCondLst>
                                    <p:cond delay="0"/>
                                  </p:stCondLst>
                                  <p:childTnLst>
                                    <p:set>
                                      <p:cBhvr>
                                        <p:cTn id="99" dur="1" fill="hold">
                                          <p:stCondLst>
                                            <p:cond delay="0"/>
                                          </p:stCondLst>
                                        </p:cTn>
                                        <p:tgtEl>
                                          <p:spTgt spid="43"/>
                                        </p:tgtEl>
                                        <p:attrNameLst>
                                          <p:attrName>style.visibility</p:attrName>
                                        </p:attrNameLst>
                                      </p:cBhvr>
                                      <p:to>
                                        <p:strVal val="visible"/>
                                      </p:to>
                                    </p:set>
                                  </p:childTnLst>
                                </p:cTn>
                              </p:par>
                            </p:childTnLst>
                          </p:cTn>
                        </p:par>
                        <p:par>
                          <p:cTn id="100" fill="hold">
                            <p:stCondLst>
                              <p:cond delay="5500"/>
                            </p:stCondLst>
                            <p:childTnLst>
                              <p:par>
                                <p:cTn id="101" presetID="2" presetClass="entr" presetSubtype="4" fill="hold" nodeType="afterEffect">
                                  <p:stCondLst>
                                    <p:cond delay="0"/>
                                  </p:stCondLst>
                                  <p:childTnLst>
                                    <p:set>
                                      <p:cBhvr>
                                        <p:cTn id="102" dur="1" fill="hold">
                                          <p:stCondLst>
                                            <p:cond delay="0"/>
                                          </p:stCondLst>
                                        </p:cTn>
                                        <p:tgtEl>
                                          <p:spTgt spid="109"/>
                                        </p:tgtEl>
                                        <p:attrNameLst>
                                          <p:attrName>style.visibility</p:attrName>
                                        </p:attrNameLst>
                                      </p:cBhvr>
                                      <p:to>
                                        <p:strVal val="visible"/>
                                      </p:to>
                                    </p:set>
                                    <p:anim calcmode="lin" valueType="num">
                                      <p:cBhvr additive="base">
                                        <p:cTn id="103" dur="1500" fill="hold"/>
                                        <p:tgtEl>
                                          <p:spTgt spid="109"/>
                                        </p:tgtEl>
                                        <p:attrNameLst>
                                          <p:attrName>ppt_x</p:attrName>
                                        </p:attrNameLst>
                                      </p:cBhvr>
                                      <p:tavLst>
                                        <p:tav tm="0">
                                          <p:val>
                                            <p:strVal val="#ppt_x"/>
                                          </p:val>
                                        </p:tav>
                                        <p:tav tm="100000">
                                          <p:val>
                                            <p:strVal val="#ppt_x"/>
                                          </p:val>
                                        </p:tav>
                                      </p:tavLst>
                                    </p:anim>
                                    <p:anim calcmode="lin" valueType="num">
                                      <p:cBhvr additive="base">
                                        <p:cTn id="104" dur="1500" fill="hold"/>
                                        <p:tgtEl>
                                          <p:spTgt spid="109"/>
                                        </p:tgtEl>
                                        <p:attrNameLst>
                                          <p:attrName>ppt_y</p:attrName>
                                        </p:attrNameLst>
                                      </p:cBhvr>
                                      <p:tavLst>
                                        <p:tav tm="0">
                                          <p:val>
                                            <p:strVal val="1+#ppt_h/2"/>
                                          </p:val>
                                        </p:tav>
                                        <p:tav tm="100000">
                                          <p:val>
                                            <p:strVal val="#ppt_y"/>
                                          </p:val>
                                        </p:tav>
                                      </p:tavLst>
                                    </p:anim>
                                  </p:childTnLst>
                                </p:cTn>
                              </p:par>
                            </p:childTnLst>
                          </p:cTn>
                        </p:par>
                        <p:par>
                          <p:cTn id="105" fill="hold">
                            <p:stCondLst>
                              <p:cond delay="7000"/>
                            </p:stCondLst>
                            <p:childTnLst>
                              <p:par>
                                <p:cTn id="106" presetID="55" presetClass="entr" presetSubtype="0" fill="hold" nodeType="afterEffect">
                                  <p:stCondLst>
                                    <p:cond delay="0"/>
                                  </p:stCondLst>
                                  <p:childTnLst>
                                    <p:set>
                                      <p:cBhvr>
                                        <p:cTn id="107" dur="1" fill="hold">
                                          <p:stCondLst>
                                            <p:cond delay="0"/>
                                          </p:stCondLst>
                                        </p:cTn>
                                        <p:tgtEl>
                                          <p:spTgt spid="58"/>
                                        </p:tgtEl>
                                        <p:attrNameLst>
                                          <p:attrName>style.visibility</p:attrName>
                                        </p:attrNameLst>
                                      </p:cBhvr>
                                      <p:to>
                                        <p:strVal val="visible"/>
                                      </p:to>
                                    </p:set>
                                    <p:anim calcmode="lin" valueType="num">
                                      <p:cBhvr>
                                        <p:cTn id="108" dur="1000" fill="hold"/>
                                        <p:tgtEl>
                                          <p:spTgt spid="58"/>
                                        </p:tgtEl>
                                        <p:attrNameLst>
                                          <p:attrName>ppt_w</p:attrName>
                                        </p:attrNameLst>
                                      </p:cBhvr>
                                      <p:tavLst>
                                        <p:tav tm="0">
                                          <p:val>
                                            <p:strVal val="#ppt_w*0.70"/>
                                          </p:val>
                                        </p:tav>
                                        <p:tav tm="100000">
                                          <p:val>
                                            <p:strVal val="#ppt_w"/>
                                          </p:val>
                                        </p:tav>
                                      </p:tavLst>
                                    </p:anim>
                                    <p:anim calcmode="lin" valueType="num">
                                      <p:cBhvr>
                                        <p:cTn id="109" dur="1000" fill="hold"/>
                                        <p:tgtEl>
                                          <p:spTgt spid="58"/>
                                        </p:tgtEl>
                                        <p:attrNameLst>
                                          <p:attrName>ppt_h</p:attrName>
                                        </p:attrNameLst>
                                      </p:cBhvr>
                                      <p:tavLst>
                                        <p:tav tm="0">
                                          <p:val>
                                            <p:strVal val="#ppt_h"/>
                                          </p:val>
                                        </p:tav>
                                        <p:tav tm="100000">
                                          <p:val>
                                            <p:strVal val="#ppt_h"/>
                                          </p:val>
                                        </p:tav>
                                      </p:tavLst>
                                    </p:anim>
                                    <p:animEffect transition="in" filter="fade">
                                      <p:cBhvr>
                                        <p:cTn id="110" dur="1000"/>
                                        <p:tgtEl>
                                          <p:spTgt spid="58"/>
                                        </p:tgtEl>
                                      </p:cBhvr>
                                    </p:animEffect>
                                  </p:childTnLst>
                                </p:cTn>
                              </p:par>
                            </p:childTnLst>
                          </p:cTn>
                        </p:par>
                        <p:par>
                          <p:cTn id="111" fill="hold">
                            <p:stCondLst>
                              <p:cond delay="8000"/>
                            </p:stCondLst>
                            <p:childTnLst>
                              <p:par>
                                <p:cTn id="112" presetID="1" presetClass="entr" presetSubtype="0" fill="hold" grpId="0" nodeType="afterEffect">
                                  <p:stCondLst>
                                    <p:cond delay="0"/>
                                  </p:stCondLst>
                                  <p:childTnLst>
                                    <p:set>
                                      <p:cBhvr>
                                        <p:cTn id="113" dur="1" fill="hold">
                                          <p:stCondLst>
                                            <p:cond delay="0"/>
                                          </p:stCondLst>
                                        </p:cTn>
                                        <p:tgtEl>
                                          <p:spTgt spid="44"/>
                                        </p:tgtEl>
                                        <p:attrNameLst>
                                          <p:attrName>style.visibility</p:attrName>
                                        </p:attrNameLst>
                                      </p:cBhvr>
                                      <p:to>
                                        <p:strVal val="visible"/>
                                      </p:to>
                                    </p:set>
                                  </p:childTnLst>
                                </p:cTn>
                              </p:par>
                            </p:childTnLst>
                          </p:cTn>
                        </p:par>
                        <p:par>
                          <p:cTn id="114" fill="hold">
                            <p:stCondLst>
                              <p:cond delay="8000"/>
                            </p:stCondLst>
                            <p:childTnLst>
                              <p:par>
                                <p:cTn id="115" presetID="2" presetClass="entr" presetSubtype="4" fill="hold" grpId="0" nodeType="afterEffect">
                                  <p:stCondLst>
                                    <p:cond delay="0"/>
                                  </p:stCondLst>
                                  <p:childTnLst>
                                    <p:set>
                                      <p:cBhvr>
                                        <p:cTn id="116" dur="1" fill="hold">
                                          <p:stCondLst>
                                            <p:cond delay="0"/>
                                          </p:stCondLst>
                                        </p:cTn>
                                        <p:tgtEl>
                                          <p:spTgt spid="98"/>
                                        </p:tgtEl>
                                        <p:attrNameLst>
                                          <p:attrName>style.visibility</p:attrName>
                                        </p:attrNameLst>
                                      </p:cBhvr>
                                      <p:to>
                                        <p:strVal val="visible"/>
                                      </p:to>
                                    </p:set>
                                    <p:anim calcmode="lin" valueType="num">
                                      <p:cBhvr additive="base">
                                        <p:cTn id="117" dur="1500" fill="hold"/>
                                        <p:tgtEl>
                                          <p:spTgt spid="98"/>
                                        </p:tgtEl>
                                        <p:attrNameLst>
                                          <p:attrName>ppt_x</p:attrName>
                                        </p:attrNameLst>
                                      </p:cBhvr>
                                      <p:tavLst>
                                        <p:tav tm="0">
                                          <p:val>
                                            <p:strVal val="#ppt_x"/>
                                          </p:val>
                                        </p:tav>
                                        <p:tav tm="100000">
                                          <p:val>
                                            <p:strVal val="#ppt_x"/>
                                          </p:val>
                                        </p:tav>
                                      </p:tavLst>
                                    </p:anim>
                                    <p:anim calcmode="lin" valueType="num">
                                      <p:cBhvr additive="base">
                                        <p:cTn id="118" dur="1500" fill="hold"/>
                                        <p:tgtEl>
                                          <p:spTgt spid="98"/>
                                        </p:tgtEl>
                                        <p:attrNameLst>
                                          <p:attrName>ppt_y</p:attrName>
                                        </p:attrNameLst>
                                      </p:cBhvr>
                                      <p:tavLst>
                                        <p:tav tm="0">
                                          <p:val>
                                            <p:strVal val="1+#ppt_h/2"/>
                                          </p:val>
                                        </p:tav>
                                        <p:tav tm="100000">
                                          <p:val>
                                            <p:strVal val="#ppt_y"/>
                                          </p:val>
                                        </p:tav>
                                      </p:tavLst>
                                    </p:anim>
                                  </p:childTnLst>
                                </p:cTn>
                              </p:par>
                            </p:childTnLst>
                          </p:cTn>
                        </p:par>
                        <p:par>
                          <p:cTn id="119" fill="hold">
                            <p:stCondLst>
                              <p:cond delay="9500"/>
                            </p:stCondLst>
                            <p:childTnLst>
                              <p:par>
                                <p:cTn id="120" presetID="55" presetClass="entr" presetSubtype="0" fill="hold" nodeType="afterEffect">
                                  <p:stCondLst>
                                    <p:cond delay="0"/>
                                  </p:stCondLst>
                                  <p:childTnLst>
                                    <p:set>
                                      <p:cBhvr>
                                        <p:cTn id="121" dur="1" fill="hold">
                                          <p:stCondLst>
                                            <p:cond delay="0"/>
                                          </p:stCondLst>
                                        </p:cTn>
                                        <p:tgtEl>
                                          <p:spTgt spid="60"/>
                                        </p:tgtEl>
                                        <p:attrNameLst>
                                          <p:attrName>style.visibility</p:attrName>
                                        </p:attrNameLst>
                                      </p:cBhvr>
                                      <p:to>
                                        <p:strVal val="visible"/>
                                      </p:to>
                                    </p:set>
                                    <p:anim calcmode="lin" valueType="num">
                                      <p:cBhvr>
                                        <p:cTn id="122" dur="1000" fill="hold"/>
                                        <p:tgtEl>
                                          <p:spTgt spid="60"/>
                                        </p:tgtEl>
                                        <p:attrNameLst>
                                          <p:attrName>ppt_w</p:attrName>
                                        </p:attrNameLst>
                                      </p:cBhvr>
                                      <p:tavLst>
                                        <p:tav tm="0">
                                          <p:val>
                                            <p:strVal val="#ppt_w*0.70"/>
                                          </p:val>
                                        </p:tav>
                                        <p:tav tm="100000">
                                          <p:val>
                                            <p:strVal val="#ppt_w"/>
                                          </p:val>
                                        </p:tav>
                                      </p:tavLst>
                                    </p:anim>
                                    <p:anim calcmode="lin" valueType="num">
                                      <p:cBhvr>
                                        <p:cTn id="123" dur="1000" fill="hold"/>
                                        <p:tgtEl>
                                          <p:spTgt spid="60"/>
                                        </p:tgtEl>
                                        <p:attrNameLst>
                                          <p:attrName>ppt_h</p:attrName>
                                        </p:attrNameLst>
                                      </p:cBhvr>
                                      <p:tavLst>
                                        <p:tav tm="0">
                                          <p:val>
                                            <p:strVal val="#ppt_h"/>
                                          </p:val>
                                        </p:tav>
                                        <p:tav tm="100000">
                                          <p:val>
                                            <p:strVal val="#ppt_h"/>
                                          </p:val>
                                        </p:tav>
                                      </p:tavLst>
                                    </p:anim>
                                    <p:animEffect transition="in" filter="fade">
                                      <p:cBhvr>
                                        <p:cTn id="124" dur="1000"/>
                                        <p:tgtEl>
                                          <p:spTgt spid="60"/>
                                        </p:tgtEl>
                                      </p:cBhvr>
                                    </p:animEffect>
                                  </p:childTnLst>
                                </p:cTn>
                              </p:par>
                            </p:childTnLst>
                          </p:cTn>
                        </p:par>
                        <p:par>
                          <p:cTn id="125" fill="hold">
                            <p:stCondLst>
                              <p:cond delay="10500"/>
                            </p:stCondLst>
                            <p:childTnLst>
                              <p:par>
                                <p:cTn id="126" presetID="1" presetClass="entr" presetSubtype="0" fill="hold" grpId="0" nodeType="afterEffect">
                                  <p:stCondLst>
                                    <p:cond delay="0"/>
                                  </p:stCondLst>
                                  <p:childTnLst>
                                    <p:set>
                                      <p:cBhvr>
                                        <p:cTn id="127" dur="1" fill="hold">
                                          <p:stCondLst>
                                            <p:cond delay="0"/>
                                          </p:stCondLst>
                                        </p:cTn>
                                        <p:tgtEl>
                                          <p:spTgt spid="45"/>
                                        </p:tgtEl>
                                        <p:attrNameLst>
                                          <p:attrName>style.visibility</p:attrName>
                                        </p:attrNameLst>
                                      </p:cBhvr>
                                      <p:to>
                                        <p:strVal val="visible"/>
                                      </p:to>
                                    </p:set>
                                  </p:childTnLst>
                                </p:cTn>
                              </p:par>
                            </p:childTnLst>
                          </p:cTn>
                        </p:par>
                        <p:par>
                          <p:cTn id="128" fill="hold">
                            <p:stCondLst>
                              <p:cond delay="10500"/>
                            </p:stCondLst>
                            <p:childTnLst>
                              <p:par>
                                <p:cTn id="129" presetID="2" presetClass="entr" presetSubtype="4" fill="hold" grpId="0" nodeType="afterEffect">
                                  <p:stCondLst>
                                    <p:cond delay="0"/>
                                  </p:stCondLst>
                                  <p:childTnLst>
                                    <p:set>
                                      <p:cBhvr>
                                        <p:cTn id="130" dur="1" fill="hold">
                                          <p:stCondLst>
                                            <p:cond delay="0"/>
                                          </p:stCondLst>
                                        </p:cTn>
                                        <p:tgtEl>
                                          <p:spTgt spid="99"/>
                                        </p:tgtEl>
                                        <p:attrNameLst>
                                          <p:attrName>style.visibility</p:attrName>
                                        </p:attrNameLst>
                                      </p:cBhvr>
                                      <p:to>
                                        <p:strVal val="visible"/>
                                      </p:to>
                                    </p:set>
                                    <p:anim calcmode="lin" valueType="num">
                                      <p:cBhvr additive="base">
                                        <p:cTn id="131" dur="1500" fill="hold"/>
                                        <p:tgtEl>
                                          <p:spTgt spid="99"/>
                                        </p:tgtEl>
                                        <p:attrNameLst>
                                          <p:attrName>ppt_x</p:attrName>
                                        </p:attrNameLst>
                                      </p:cBhvr>
                                      <p:tavLst>
                                        <p:tav tm="0">
                                          <p:val>
                                            <p:strVal val="#ppt_x"/>
                                          </p:val>
                                        </p:tav>
                                        <p:tav tm="100000">
                                          <p:val>
                                            <p:strVal val="#ppt_x"/>
                                          </p:val>
                                        </p:tav>
                                      </p:tavLst>
                                    </p:anim>
                                    <p:anim calcmode="lin" valueType="num">
                                      <p:cBhvr additive="base">
                                        <p:cTn id="132" dur="1500" fill="hold"/>
                                        <p:tgtEl>
                                          <p:spTgt spid="99"/>
                                        </p:tgtEl>
                                        <p:attrNameLst>
                                          <p:attrName>ppt_y</p:attrName>
                                        </p:attrNameLst>
                                      </p:cBhvr>
                                      <p:tavLst>
                                        <p:tav tm="0">
                                          <p:val>
                                            <p:strVal val="1+#ppt_h/2"/>
                                          </p:val>
                                        </p:tav>
                                        <p:tav tm="100000">
                                          <p:val>
                                            <p:strVal val="#ppt_y"/>
                                          </p:val>
                                        </p:tav>
                                      </p:tavLst>
                                    </p:anim>
                                  </p:childTnLst>
                                </p:cTn>
                              </p:par>
                            </p:childTnLst>
                          </p:cTn>
                        </p:par>
                        <p:par>
                          <p:cTn id="133" fill="hold">
                            <p:stCondLst>
                              <p:cond delay="12000"/>
                            </p:stCondLst>
                            <p:childTnLst>
                              <p:par>
                                <p:cTn id="134" presetID="55" presetClass="entr" presetSubtype="0" fill="hold" nodeType="afterEffect">
                                  <p:stCondLst>
                                    <p:cond delay="0"/>
                                  </p:stCondLst>
                                  <p:childTnLst>
                                    <p:set>
                                      <p:cBhvr>
                                        <p:cTn id="135" dur="1" fill="hold">
                                          <p:stCondLst>
                                            <p:cond delay="0"/>
                                          </p:stCondLst>
                                        </p:cTn>
                                        <p:tgtEl>
                                          <p:spTgt spid="62"/>
                                        </p:tgtEl>
                                        <p:attrNameLst>
                                          <p:attrName>style.visibility</p:attrName>
                                        </p:attrNameLst>
                                      </p:cBhvr>
                                      <p:to>
                                        <p:strVal val="visible"/>
                                      </p:to>
                                    </p:set>
                                    <p:anim calcmode="lin" valueType="num">
                                      <p:cBhvr>
                                        <p:cTn id="136" dur="1000" fill="hold"/>
                                        <p:tgtEl>
                                          <p:spTgt spid="62"/>
                                        </p:tgtEl>
                                        <p:attrNameLst>
                                          <p:attrName>ppt_w</p:attrName>
                                        </p:attrNameLst>
                                      </p:cBhvr>
                                      <p:tavLst>
                                        <p:tav tm="0">
                                          <p:val>
                                            <p:strVal val="#ppt_w*0.70"/>
                                          </p:val>
                                        </p:tav>
                                        <p:tav tm="100000">
                                          <p:val>
                                            <p:strVal val="#ppt_w"/>
                                          </p:val>
                                        </p:tav>
                                      </p:tavLst>
                                    </p:anim>
                                    <p:anim calcmode="lin" valueType="num">
                                      <p:cBhvr>
                                        <p:cTn id="137" dur="1000" fill="hold"/>
                                        <p:tgtEl>
                                          <p:spTgt spid="62"/>
                                        </p:tgtEl>
                                        <p:attrNameLst>
                                          <p:attrName>ppt_h</p:attrName>
                                        </p:attrNameLst>
                                      </p:cBhvr>
                                      <p:tavLst>
                                        <p:tav tm="0">
                                          <p:val>
                                            <p:strVal val="#ppt_h"/>
                                          </p:val>
                                        </p:tav>
                                        <p:tav tm="100000">
                                          <p:val>
                                            <p:strVal val="#ppt_h"/>
                                          </p:val>
                                        </p:tav>
                                      </p:tavLst>
                                    </p:anim>
                                    <p:animEffect transition="in" filter="fade">
                                      <p:cBhvr>
                                        <p:cTn id="138" dur="1000"/>
                                        <p:tgtEl>
                                          <p:spTgt spid="62"/>
                                        </p:tgtEl>
                                      </p:cBhvr>
                                    </p:animEffect>
                                  </p:childTnLst>
                                </p:cTn>
                              </p:par>
                            </p:childTnLst>
                          </p:cTn>
                        </p:par>
                        <p:par>
                          <p:cTn id="139" fill="hold">
                            <p:stCondLst>
                              <p:cond delay="13000"/>
                            </p:stCondLst>
                            <p:childTnLst>
                              <p:par>
                                <p:cTn id="140" presetID="1" presetClass="entr" presetSubtype="0" fill="hold" grpId="0" nodeType="afterEffect">
                                  <p:stCondLst>
                                    <p:cond delay="0"/>
                                  </p:stCondLst>
                                  <p:childTnLst>
                                    <p:set>
                                      <p:cBhvr>
                                        <p:cTn id="141" dur="1" fill="hold">
                                          <p:stCondLst>
                                            <p:cond delay="0"/>
                                          </p:stCondLst>
                                        </p:cTn>
                                        <p:tgtEl>
                                          <p:spTgt spid="46"/>
                                        </p:tgtEl>
                                        <p:attrNameLst>
                                          <p:attrName>style.visibility</p:attrName>
                                        </p:attrNameLst>
                                      </p:cBhvr>
                                      <p:to>
                                        <p:strVal val="visible"/>
                                      </p:to>
                                    </p:set>
                                  </p:childTnLst>
                                </p:cTn>
                              </p:par>
                            </p:childTnLst>
                          </p:cTn>
                        </p:par>
                        <p:par>
                          <p:cTn id="142" fill="hold">
                            <p:stCondLst>
                              <p:cond delay="13000"/>
                            </p:stCondLst>
                            <p:childTnLst>
                              <p:par>
                                <p:cTn id="143" presetID="2" presetClass="entr" presetSubtype="4" fill="hold" nodeType="afterEffect">
                                  <p:stCondLst>
                                    <p:cond delay="0"/>
                                  </p:stCondLst>
                                  <p:childTnLst>
                                    <p:set>
                                      <p:cBhvr>
                                        <p:cTn id="144" dur="1" fill="hold">
                                          <p:stCondLst>
                                            <p:cond delay="0"/>
                                          </p:stCondLst>
                                        </p:cTn>
                                        <p:tgtEl>
                                          <p:spTgt spid="110"/>
                                        </p:tgtEl>
                                        <p:attrNameLst>
                                          <p:attrName>style.visibility</p:attrName>
                                        </p:attrNameLst>
                                      </p:cBhvr>
                                      <p:to>
                                        <p:strVal val="visible"/>
                                      </p:to>
                                    </p:set>
                                    <p:anim calcmode="lin" valueType="num">
                                      <p:cBhvr additive="base">
                                        <p:cTn id="145" dur="1500" fill="hold"/>
                                        <p:tgtEl>
                                          <p:spTgt spid="110"/>
                                        </p:tgtEl>
                                        <p:attrNameLst>
                                          <p:attrName>ppt_x</p:attrName>
                                        </p:attrNameLst>
                                      </p:cBhvr>
                                      <p:tavLst>
                                        <p:tav tm="0">
                                          <p:val>
                                            <p:strVal val="#ppt_x"/>
                                          </p:val>
                                        </p:tav>
                                        <p:tav tm="100000">
                                          <p:val>
                                            <p:strVal val="#ppt_x"/>
                                          </p:val>
                                        </p:tav>
                                      </p:tavLst>
                                    </p:anim>
                                    <p:anim calcmode="lin" valueType="num">
                                      <p:cBhvr additive="base">
                                        <p:cTn id="146" dur="1500" fill="hold"/>
                                        <p:tgtEl>
                                          <p:spTgt spid="110"/>
                                        </p:tgtEl>
                                        <p:attrNameLst>
                                          <p:attrName>ppt_y</p:attrName>
                                        </p:attrNameLst>
                                      </p:cBhvr>
                                      <p:tavLst>
                                        <p:tav tm="0">
                                          <p:val>
                                            <p:strVal val="1+#ppt_h/2"/>
                                          </p:val>
                                        </p:tav>
                                        <p:tav tm="100000">
                                          <p:val>
                                            <p:strVal val="#ppt_y"/>
                                          </p:val>
                                        </p:tav>
                                      </p:tavLst>
                                    </p:anim>
                                  </p:childTnLst>
                                </p:cTn>
                              </p:par>
                            </p:childTnLst>
                          </p:cTn>
                        </p:par>
                        <p:par>
                          <p:cTn id="147" fill="hold">
                            <p:stCondLst>
                              <p:cond delay="14500"/>
                            </p:stCondLst>
                            <p:childTnLst>
                              <p:par>
                                <p:cTn id="148" presetID="55" presetClass="entr" presetSubtype="0" fill="hold" nodeType="afterEffect">
                                  <p:stCondLst>
                                    <p:cond delay="0"/>
                                  </p:stCondLst>
                                  <p:childTnLst>
                                    <p:set>
                                      <p:cBhvr>
                                        <p:cTn id="149" dur="1" fill="hold">
                                          <p:stCondLst>
                                            <p:cond delay="0"/>
                                          </p:stCondLst>
                                        </p:cTn>
                                        <p:tgtEl>
                                          <p:spTgt spid="64"/>
                                        </p:tgtEl>
                                        <p:attrNameLst>
                                          <p:attrName>style.visibility</p:attrName>
                                        </p:attrNameLst>
                                      </p:cBhvr>
                                      <p:to>
                                        <p:strVal val="visible"/>
                                      </p:to>
                                    </p:set>
                                    <p:anim calcmode="lin" valueType="num">
                                      <p:cBhvr>
                                        <p:cTn id="150" dur="1000" fill="hold"/>
                                        <p:tgtEl>
                                          <p:spTgt spid="64"/>
                                        </p:tgtEl>
                                        <p:attrNameLst>
                                          <p:attrName>ppt_w</p:attrName>
                                        </p:attrNameLst>
                                      </p:cBhvr>
                                      <p:tavLst>
                                        <p:tav tm="0">
                                          <p:val>
                                            <p:strVal val="#ppt_w*0.70"/>
                                          </p:val>
                                        </p:tav>
                                        <p:tav tm="100000">
                                          <p:val>
                                            <p:strVal val="#ppt_w"/>
                                          </p:val>
                                        </p:tav>
                                      </p:tavLst>
                                    </p:anim>
                                    <p:anim calcmode="lin" valueType="num">
                                      <p:cBhvr>
                                        <p:cTn id="151" dur="1000" fill="hold"/>
                                        <p:tgtEl>
                                          <p:spTgt spid="64"/>
                                        </p:tgtEl>
                                        <p:attrNameLst>
                                          <p:attrName>ppt_h</p:attrName>
                                        </p:attrNameLst>
                                      </p:cBhvr>
                                      <p:tavLst>
                                        <p:tav tm="0">
                                          <p:val>
                                            <p:strVal val="#ppt_h"/>
                                          </p:val>
                                        </p:tav>
                                        <p:tav tm="100000">
                                          <p:val>
                                            <p:strVal val="#ppt_h"/>
                                          </p:val>
                                        </p:tav>
                                      </p:tavLst>
                                    </p:anim>
                                    <p:animEffect transition="in" filter="fade">
                                      <p:cBhvr>
                                        <p:cTn id="152" dur="1000"/>
                                        <p:tgtEl>
                                          <p:spTgt spid="64"/>
                                        </p:tgtEl>
                                      </p:cBhvr>
                                    </p:animEffect>
                                  </p:childTnLst>
                                </p:cTn>
                              </p:par>
                            </p:childTnLst>
                          </p:cTn>
                        </p:par>
                        <p:par>
                          <p:cTn id="153" fill="hold">
                            <p:stCondLst>
                              <p:cond delay="15500"/>
                            </p:stCondLst>
                            <p:childTnLst>
                              <p:par>
                                <p:cTn id="154" presetID="1" presetClass="entr" presetSubtype="0" fill="hold" grpId="0" nodeType="afterEffect">
                                  <p:stCondLst>
                                    <p:cond delay="0"/>
                                  </p:stCondLst>
                                  <p:childTnLst>
                                    <p:set>
                                      <p:cBhvr>
                                        <p:cTn id="155" dur="1" fill="hold">
                                          <p:stCondLst>
                                            <p:cond delay="0"/>
                                          </p:stCondLst>
                                        </p:cTn>
                                        <p:tgtEl>
                                          <p:spTgt spid="47"/>
                                        </p:tgtEl>
                                        <p:attrNameLst>
                                          <p:attrName>style.visibility</p:attrName>
                                        </p:attrNameLst>
                                      </p:cBhvr>
                                      <p:to>
                                        <p:strVal val="visible"/>
                                      </p:to>
                                    </p:set>
                                  </p:childTnLst>
                                </p:cTn>
                              </p:par>
                            </p:childTnLst>
                          </p:cTn>
                        </p:par>
                        <p:par>
                          <p:cTn id="156" fill="hold">
                            <p:stCondLst>
                              <p:cond delay="15500"/>
                            </p:stCondLst>
                            <p:childTnLst>
                              <p:par>
                                <p:cTn id="157" presetID="2" presetClass="entr" presetSubtype="4" fill="hold" grpId="0" nodeType="afterEffect">
                                  <p:stCondLst>
                                    <p:cond delay="0"/>
                                  </p:stCondLst>
                                  <p:childTnLst>
                                    <p:set>
                                      <p:cBhvr>
                                        <p:cTn id="158" dur="1" fill="hold">
                                          <p:stCondLst>
                                            <p:cond delay="0"/>
                                          </p:stCondLst>
                                        </p:cTn>
                                        <p:tgtEl>
                                          <p:spTgt spid="108"/>
                                        </p:tgtEl>
                                        <p:attrNameLst>
                                          <p:attrName>style.visibility</p:attrName>
                                        </p:attrNameLst>
                                      </p:cBhvr>
                                      <p:to>
                                        <p:strVal val="visible"/>
                                      </p:to>
                                    </p:set>
                                    <p:anim calcmode="lin" valueType="num">
                                      <p:cBhvr additive="base">
                                        <p:cTn id="159" dur="1500" fill="hold"/>
                                        <p:tgtEl>
                                          <p:spTgt spid="108"/>
                                        </p:tgtEl>
                                        <p:attrNameLst>
                                          <p:attrName>ppt_x</p:attrName>
                                        </p:attrNameLst>
                                      </p:cBhvr>
                                      <p:tavLst>
                                        <p:tav tm="0">
                                          <p:val>
                                            <p:strVal val="#ppt_x"/>
                                          </p:val>
                                        </p:tav>
                                        <p:tav tm="100000">
                                          <p:val>
                                            <p:strVal val="#ppt_x"/>
                                          </p:val>
                                        </p:tav>
                                      </p:tavLst>
                                    </p:anim>
                                    <p:anim calcmode="lin" valueType="num">
                                      <p:cBhvr additive="base">
                                        <p:cTn id="160" dur="1500" fill="hold"/>
                                        <p:tgtEl>
                                          <p:spTgt spid="10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7" grpId="0"/>
      <p:bldP spid="27" grpId="0"/>
      <p:bldP spid="29" grpId="0"/>
      <p:bldP spid="32" grpId="0"/>
      <p:bldP spid="33" grpId="0"/>
      <p:bldP spid="37" grpId="0"/>
      <p:bldP spid="40" grpId="0" animBg="1"/>
      <p:bldP spid="42" grpId="0" animBg="1"/>
      <p:bldP spid="43" grpId="0" animBg="1"/>
      <p:bldP spid="44" grpId="0" animBg="1"/>
      <p:bldP spid="45" grpId="0" animBg="1"/>
      <p:bldP spid="46" grpId="0" animBg="1"/>
      <p:bldP spid="47" grpId="0" animBg="1"/>
      <p:bldP spid="96" grpId="0"/>
      <p:bldP spid="98" grpId="0"/>
      <p:bldP spid="99" grpId="0"/>
      <p:bldP spid="10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98E461DE-6B18-9FE9-58AD-AB932DC151E9}"/>
              </a:ext>
            </a:extLst>
          </p:cNvPr>
          <p:cNvSpPr txBox="1"/>
          <p:nvPr/>
        </p:nvSpPr>
        <p:spPr>
          <a:xfrm>
            <a:off x="1412908" y="145867"/>
            <a:ext cx="1359758" cy="338554"/>
          </a:xfrm>
          <a:prstGeom prst="rect">
            <a:avLst/>
          </a:prstGeom>
          <a:noFill/>
        </p:spPr>
        <p:txBody>
          <a:bodyPr wrap="square" rtlCol="0">
            <a:spAutoFit/>
          </a:bodyPr>
          <a:lstStyle/>
          <a:p>
            <a:r>
              <a:rPr lang="el-GR" sz="1600" b="1" dirty="0">
                <a:solidFill>
                  <a:schemeClr val="tx2">
                    <a:lumMod val="75000"/>
                    <a:lumOff val="25000"/>
                  </a:schemeClr>
                </a:solidFill>
              </a:rPr>
              <a:t>ΑΠΟΣΤΟΛΗ</a:t>
            </a:r>
            <a:r>
              <a:rPr lang="el-GR" sz="1600" b="1" dirty="0"/>
              <a:t> </a:t>
            </a:r>
          </a:p>
        </p:txBody>
      </p:sp>
      <p:cxnSp>
        <p:nvCxnSpPr>
          <p:cNvPr id="9" name="Straight Arrow Connector 8">
            <a:extLst>
              <a:ext uri="{FF2B5EF4-FFF2-40B4-BE49-F238E27FC236}">
                <a16:creationId xmlns:a16="http://schemas.microsoft.com/office/drawing/2014/main" id="{F1F1D02F-E2DA-09B3-9B81-52891F05C33A}"/>
              </a:ext>
            </a:extLst>
          </p:cNvPr>
          <p:cNvCxnSpPr>
            <a:cxnSpLocks/>
          </p:cNvCxnSpPr>
          <p:nvPr/>
        </p:nvCxnSpPr>
        <p:spPr>
          <a:xfrm flipH="1">
            <a:off x="966724" y="464289"/>
            <a:ext cx="574388" cy="47547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A0E6C7B7-7AB7-88FC-8147-3E787F9A4621}"/>
              </a:ext>
            </a:extLst>
          </p:cNvPr>
          <p:cNvSpPr txBox="1"/>
          <p:nvPr/>
        </p:nvSpPr>
        <p:spPr>
          <a:xfrm>
            <a:off x="136918" y="939766"/>
            <a:ext cx="1359757" cy="1015663"/>
          </a:xfrm>
          <a:prstGeom prst="rect">
            <a:avLst/>
          </a:prstGeom>
          <a:noFill/>
          <a:ln w="19050">
            <a:solidFill>
              <a:schemeClr val="tx1"/>
            </a:solidFill>
          </a:ln>
        </p:spPr>
        <p:txBody>
          <a:bodyPr wrap="square" rtlCol="0">
            <a:spAutoFit/>
          </a:bodyPr>
          <a:lstStyle/>
          <a:p>
            <a:r>
              <a:rPr lang="el-GR" sz="1500" dirty="0"/>
              <a:t>Παραγωγή ποιοτικών και υγιεινών προϊόντων</a:t>
            </a:r>
          </a:p>
        </p:txBody>
      </p:sp>
      <p:cxnSp>
        <p:nvCxnSpPr>
          <p:cNvPr id="19" name="Straight Arrow Connector 18">
            <a:extLst>
              <a:ext uri="{FF2B5EF4-FFF2-40B4-BE49-F238E27FC236}">
                <a16:creationId xmlns:a16="http://schemas.microsoft.com/office/drawing/2014/main" id="{0E8E40FE-72A7-BD08-CAB2-C19D77E9BC95}"/>
              </a:ext>
            </a:extLst>
          </p:cNvPr>
          <p:cNvCxnSpPr>
            <a:cxnSpLocks/>
          </p:cNvCxnSpPr>
          <p:nvPr/>
        </p:nvCxnSpPr>
        <p:spPr>
          <a:xfrm>
            <a:off x="2254584" y="447270"/>
            <a:ext cx="0" cy="4924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756BD622-2B3E-2F5D-09EB-7F68ECE5EEF7}"/>
              </a:ext>
            </a:extLst>
          </p:cNvPr>
          <p:cNvSpPr txBox="1"/>
          <p:nvPr/>
        </p:nvSpPr>
        <p:spPr>
          <a:xfrm>
            <a:off x="1673905" y="956785"/>
            <a:ext cx="1359757" cy="1015663"/>
          </a:xfrm>
          <a:prstGeom prst="rect">
            <a:avLst/>
          </a:prstGeom>
          <a:noFill/>
          <a:ln w="19050">
            <a:solidFill>
              <a:schemeClr val="tx1"/>
            </a:solidFill>
          </a:ln>
        </p:spPr>
        <p:txBody>
          <a:bodyPr wrap="square" rtlCol="0">
            <a:spAutoFit/>
          </a:bodyPr>
          <a:lstStyle/>
          <a:p>
            <a:r>
              <a:rPr lang="el-GR" sz="1500" dirty="0"/>
              <a:t>Καινοτομία, εξωστρέφεια και διεθνής ανάπτυξη</a:t>
            </a:r>
          </a:p>
        </p:txBody>
      </p:sp>
      <p:cxnSp>
        <p:nvCxnSpPr>
          <p:cNvPr id="7" name="Straight Arrow Connector 6">
            <a:extLst>
              <a:ext uri="{FF2B5EF4-FFF2-40B4-BE49-F238E27FC236}">
                <a16:creationId xmlns:a16="http://schemas.microsoft.com/office/drawing/2014/main" id="{65CEB370-EA4F-10A4-41F1-987872406D0A}"/>
              </a:ext>
            </a:extLst>
          </p:cNvPr>
          <p:cNvCxnSpPr>
            <a:cxnSpLocks/>
          </p:cNvCxnSpPr>
          <p:nvPr/>
        </p:nvCxnSpPr>
        <p:spPr>
          <a:xfrm>
            <a:off x="2649245" y="379509"/>
            <a:ext cx="648263" cy="56025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A03CE0F1-D324-16E5-8C17-7FFFDE7769DE}"/>
              </a:ext>
            </a:extLst>
          </p:cNvPr>
          <p:cNvSpPr txBox="1"/>
          <p:nvPr/>
        </p:nvSpPr>
        <p:spPr>
          <a:xfrm>
            <a:off x="3205168" y="1028240"/>
            <a:ext cx="1678491" cy="1015663"/>
          </a:xfrm>
          <a:prstGeom prst="rect">
            <a:avLst/>
          </a:prstGeom>
          <a:noFill/>
          <a:ln w="19050">
            <a:solidFill>
              <a:schemeClr val="tx1"/>
            </a:solidFill>
          </a:ln>
        </p:spPr>
        <p:txBody>
          <a:bodyPr wrap="square" rtlCol="0">
            <a:spAutoFit/>
          </a:bodyPr>
          <a:lstStyle/>
          <a:p>
            <a:r>
              <a:rPr lang="el-GR" sz="1500" dirty="0"/>
              <a:t>Εξασφάλιση ευημερίας εργαζομένων και συνεργατών</a:t>
            </a:r>
          </a:p>
        </p:txBody>
      </p:sp>
      <p:cxnSp>
        <p:nvCxnSpPr>
          <p:cNvPr id="15" name="Straight Arrow Connector 14">
            <a:extLst>
              <a:ext uri="{FF2B5EF4-FFF2-40B4-BE49-F238E27FC236}">
                <a16:creationId xmlns:a16="http://schemas.microsoft.com/office/drawing/2014/main" id="{6B05C30F-8DDD-5141-0182-2C866DD680BD}"/>
              </a:ext>
            </a:extLst>
          </p:cNvPr>
          <p:cNvCxnSpPr/>
          <p:nvPr/>
        </p:nvCxnSpPr>
        <p:spPr>
          <a:xfrm>
            <a:off x="616272" y="2113935"/>
            <a:ext cx="631922" cy="81607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6E8F82F5-5566-BCE4-5751-1FACC2B3E80C}"/>
              </a:ext>
            </a:extLst>
          </p:cNvPr>
          <p:cNvCxnSpPr>
            <a:cxnSpLocks/>
          </p:cNvCxnSpPr>
          <p:nvPr/>
        </p:nvCxnSpPr>
        <p:spPr>
          <a:xfrm flipH="1">
            <a:off x="3527302" y="2138516"/>
            <a:ext cx="316058" cy="81607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5F887E08-2E7B-8FE6-1912-5211E67F1A59}"/>
              </a:ext>
            </a:extLst>
          </p:cNvPr>
          <p:cNvCxnSpPr>
            <a:cxnSpLocks/>
          </p:cNvCxnSpPr>
          <p:nvPr/>
        </p:nvCxnSpPr>
        <p:spPr>
          <a:xfrm>
            <a:off x="2246127" y="2113935"/>
            <a:ext cx="0" cy="81607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D109DD33-ED12-7884-CDDA-7D5DF62F63B1}"/>
              </a:ext>
            </a:extLst>
          </p:cNvPr>
          <p:cNvSpPr txBox="1"/>
          <p:nvPr/>
        </p:nvSpPr>
        <p:spPr>
          <a:xfrm>
            <a:off x="1075908" y="2954594"/>
            <a:ext cx="2939758" cy="784830"/>
          </a:xfrm>
          <a:prstGeom prst="rect">
            <a:avLst/>
          </a:prstGeom>
          <a:noFill/>
          <a:ln w="19050">
            <a:solidFill>
              <a:schemeClr val="tx1"/>
            </a:solidFill>
          </a:ln>
        </p:spPr>
        <p:txBody>
          <a:bodyPr wrap="square" rtlCol="0">
            <a:spAutoFit/>
          </a:bodyPr>
          <a:lstStyle/>
          <a:p>
            <a:r>
              <a:rPr lang="el-GR" sz="1500" b="1" dirty="0"/>
              <a:t>"Δεν θα φτιάχναμε ποτέ ένα προϊόν που δεν θα δίναμε στα παιδιά μας"</a:t>
            </a:r>
          </a:p>
        </p:txBody>
      </p:sp>
      <p:sp>
        <p:nvSpPr>
          <p:cNvPr id="22" name="TextBox 21">
            <a:extLst>
              <a:ext uri="{FF2B5EF4-FFF2-40B4-BE49-F238E27FC236}">
                <a16:creationId xmlns:a16="http://schemas.microsoft.com/office/drawing/2014/main" id="{B3E36456-FAA4-34A5-D3F0-FBB9CE7B77BE}"/>
              </a:ext>
            </a:extLst>
          </p:cNvPr>
          <p:cNvSpPr txBox="1"/>
          <p:nvPr/>
        </p:nvSpPr>
        <p:spPr>
          <a:xfrm>
            <a:off x="4302939" y="2251587"/>
            <a:ext cx="2068364" cy="553998"/>
          </a:xfrm>
          <a:prstGeom prst="rect">
            <a:avLst/>
          </a:prstGeom>
          <a:noFill/>
        </p:spPr>
        <p:txBody>
          <a:bodyPr wrap="square" rtlCol="0">
            <a:spAutoFit/>
          </a:bodyPr>
          <a:lstStyle/>
          <a:p>
            <a:r>
              <a:rPr lang="el-GR" sz="1500" dirty="0"/>
              <a:t>Συμπυκνώνεται στη φράση</a:t>
            </a:r>
          </a:p>
        </p:txBody>
      </p:sp>
      <p:pic>
        <p:nvPicPr>
          <p:cNvPr id="24" name="Picture 23" descr="A white sign with black text">
            <a:extLst>
              <a:ext uri="{FF2B5EF4-FFF2-40B4-BE49-F238E27FC236}">
                <a16:creationId xmlns:a16="http://schemas.microsoft.com/office/drawing/2014/main" id="{BD59A3AB-13B2-77F3-FDCB-94E94A7FDA3B}"/>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6538451" y="463370"/>
            <a:ext cx="4670321" cy="3109655"/>
          </a:xfrm>
          <a:prstGeom prst="rect">
            <a:avLst/>
          </a:prstGeom>
        </p:spPr>
      </p:pic>
      <p:sp>
        <p:nvSpPr>
          <p:cNvPr id="27" name="TextBox 26">
            <a:extLst>
              <a:ext uri="{FF2B5EF4-FFF2-40B4-BE49-F238E27FC236}">
                <a16:creationId xmlns:a16="http://schemas.microsoft.com/office/drawing/2014/main" id="{7AC10FE1-D369-319E-97F0-EF14D7FFE025}"/>
              </a:ext>
            </a:extLst>
          </p:cNvPr>
          <p:cNvSpPr txBox="1"/>
          <p:nvPr/>
        </p:nvSpPr>
        <p:spPr>
          <a:xfrm>
            <a:off x="946062" y="6858000"/>
            <a:ext cx="10299875" cy="230832"/>
          </a:xfrm>
          <a:prstGeom prst="rect">
            <a:avLst/>
          </a:prstGeom>
          <a:noFill/>
        </p:spPr>
        <p:txBody>
          <a:bodyPr wrap="square" rtlCol="0">
            <a:spAutoFit/>
          </a:bodyPr>
          <a:lstStyle/>
          <a:p>
            <a:r>
              <a:rPr lang="el-GR" sz="900">
                <a:hlinkClick r:id="rId3" tooltip="https://www.picpedia.org/highway-signs/m/mission.html"/>
              </a:rPr>
              <a:t>This Photo</a:t>
            </a:r>
            <a:r>
              <a:rPr lang="el-GR" sz="900"/>
              <a:t> by Unknown Author is licensed under </a:t>
            </a:r>
            <a:r>
              <a:rPr lang="el-GR" sz="900">
                <a:hlinkClick r:id="rId4" tooltip="https://creativecommons.org/licenses/by-sa/3.0/"/>
              </a:rPr>
              <a:t>CC BY-SA</a:t>
            </a:r>
            <a:endParaRPr lang="el-GR" sz="900"/>
          </a:p>
        </p:txBody>
      </p:sp>
      <p:sp>
        <p:nvSpPr>
          <p:cNvPr id="29" name="TextBox 28">
            <a:extLst>
              <a:ext uri="{FF2B5EF4-FFF2-40B4-BE49-F238E27FC236}">
                <a16:creationId xmlns:a16="http://schemas.microsoft.com/office/drawing/2014/main" id="{2A430B93-8A62-8C40-269B-ED1689E4D439}"/>
              </a:ext>
            </a:extLst>
          </p:cNvPr>
          <p:cNvSpPr txBox="1"/>
          <p:nvPr/>
        </p:nvSpPr>
        <p:spPr>
          <a:xfrm>
            <a:off x="4277033" y="4329216"/>
            <a:ext cx="2694038" cy="646331"/>
          </a:xfrm>
          <a:prstGeom prst="rect">
            <a:avLst/>
          </a:prstGeom>
          <a:noFill/>
        </p:spPr>
        <p:txBody>
          <a:bodyPr wrap="square" rtlCol="0">
            <a:spAutoFit/>
          </a:bodyPr>
          <a:lstStyle/>
          <a:p>
            <a:pPr algn="ctr"/>
            <a:r>
              <a:rPr lang="el-GR" sz="1800" b="1" kern="100" dirty="0">
                <a:solidFill>
                  <a:srgbClr val="215E99"/>
                </a:solidFill>
                <a:effectLst/>
                <a:latin typeface="Aptos" panose="020B0004020202020204" pitchFamily="34" charset="0"/>
                <a:ea typeface="Aptos" panose="020B0004020202020204" pitchFamily="34" charset="0"/>
                <a:cs typeface="Calibri" panose="020F0502020204030204" pitchFamily="34" charset="0"/>
              </a:rPr>
              <a:t>ΠΡΟΪΟΝΤΑ ΠΑΡΑΓΩΓΗΣ</a:t>
            </a:r>
            <a:endParaRPr lang="el-GR"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l-GR" dirty="0"/>
          </a:p>
        </p:txBody>
      </p:sp>
      <p:sp>
        <p:nvSpPr>
          <p:cNvPr id="30" name="TextBox 29">
            <a:extLst>
              <a:ext uri="{FF2B5EF4-FFF2-40B4-BE49-F238E27FC236}">
                <a16:creationId xmlns:a16="http://schemas.microsoft.com/office/drawing/2014/main" id="{5E944433-D3EB-28BA-D061-466792BD4DBE}"/>
              </a:ext>
            </a:extLst>
          </p:cNvPr>
          <p:cNvSpPr txBox="1"/>
          <p:nvPr/>
        </p:nvSpPr>
        <p:spPr>
          <a:xfrm>
            <a:off x="344129" y="4650115"/>
            <a:ext cx="11484077" cy="1985159"/>
          </a:xfrm>
          <a:prstGeom prst="rect">
            <a:avLst/>
          </a:prstGeom>
          <a:noFill/>
        </p:spPr>
        <p:txBody>
          <a:bodyPr wrap="square" rtlCol="0">
            <a:spAutoFit/>
          </a:bodyPr>
          <a:lstStyle/>
          <a:p>
            <a:endParaRPr lang="el-GR" sz="1500" dirty="0"/>
          </a:p>
          <a:p>
            <a:r>
              <a:rPr lang="el-GR" sz="1500" dirty="0"/>
              <a:t>Η ΦΑΓΕ </a:t>
            </a:r>
            <a:r>
              <a:rPr lang="el-GR" sz="1500" kern="100" dirty="0">
                <a:effectLst/>
                <a:latin typeface="Aptos" panose="020B0004020202020204" pitchFamily="34" charset="0"/>
                <a:ea typeface="Aptos" panose="020B0004020202020204" pitchFamily="34" charset="0"/>
                <a:cs typeface="Calibri" panose="020F0502020204030204" pitchFamily="34" charset="0"/>
              </a:rPr>
              <a:t>αφοσιώνεται εξολοκλήρου στην παραγωγή </a:t>
            </a:r>
            <a:r>
              <a:rPr lang="el-GR" sz="1500" kern="100" dirty="0">
                <a:solidFill>
                  <a:srgbClr val="0D0D0D"/>
                </a:solidFill>
                <a:effectLst/>
                <a:highlight>
                  <a:srgbClr val="FFFFFF"/>
                </a:highlight>
                <a:latin typeface="Aptos" panose="020B0004020202020204" pitchFamily="34" charset="0"/>
                <a:ea typeface="Aptos" panose="020B0004020202020204" pitchFamily="34" charset="0"/>
                <a:cs typeface="Calibri" panose="020F0502020204030204" pitchFamily="34" charset="0"/>
              </a:rPr>
              <a:t>γαλακτοκομικών προϊόντων. Τα βασικά προϊόντα που προσφέρει είναι:</a:t>
            </a:r>
          </a:p>
          <a:p>
            <a:pPr marL="285750" indent="-285750">
              <a:buFont typeface="Arial" panose="020B0604020202020204" pitchFamily="34" charset="0"/>
              <a:buChar char="•"/>
            </a:pPr>
            <a:r>
              <a:rPr lang="el-GR" sz="1500" b="1" kern="100" dirty="0">
                <a:solidFill>
                  <a:srgbClr val="0D0D0D"/>
                </a:solidFill>
                <a:highlight>
                  <a:srgbClr val="FFFFFF"/>
                </a:highlight>
                <a:latin typeface="Aptos" panose="020B0004020202020204" pitchFamily="34" charset="0"/>
                <a:ea typeface="Aptos" panose="020B0004020202020204" pitchFamily="34" charset="0"/>
                <a:cs typeface="Calibri" panose="020F0502020204030204" pitchFamily="34" charset="0"/>
              </a:rPr>
              <a:t>Γιαούρτι</a:t>
            </a:r>
          </a:p>
          <a:p>
            <a:pPr marL="285750" indent="-285750">
              <a:buFont typeface="Arial" panose="020B0604020202020204" pitchFamily="34" charset="0"/>
              <a:buChar char="•"/>
            </a:pPr>
            <a:r>
              <a:rPr lang="el-GR" sz="1500" b="1" kern="100" dirty="0">
                <a:solidFill>
                  <a:srgbClr val="0D0D0D"/>
                </a:solidFill>
                <a:highlight>
                  <a:srgbClr val="FFFFFF"/>
                </a:highlight>
                <a:latin typeface="Aptos" panose="020B0004020202020204" pitchFamily="34" charset="0"/>
                <a:ea typeface="Aptos" panose="020B0004020202020204" pitchFamily="34" charset="0"/>
                <a:cs typeface="Calibri" panose="020F0502020204030204" pitchFamily="34" charset="0"/>
              </a:rPr>
              <a:t>Τυρί</a:t>
            </a:r>
          </a:p>
          <a:p>
            <a:pPr marL="285750" indent="-285750">
              <a:buFont typeface="Arial" panose="020B0604020202020204" pitchFamily="34" charset="0"/>
              <a:buChar char="•"/>
            </a:pPr>
            <a:r>
              <a:rPr lang="el-GR" sz="1500" b="1" kern="100" dirty="0">
                <a:solidFill>
                  <a:srgbClr val="0D0D0D"/>
                </a:solidFill>
                <a:highlight>
                  <a:srgbClr val="FFFFFF"/>
                </a:highlight>
                <a:latin typeface="Aptos" panose="020B0004020202020204" pitchFamily="34" charset="0"/>
                <a:ea typeface="Aptos" panose="020B0004020202020204" pitchFamily="34" charset="0"/>
                <a:cs typeface="Calibri" panose="020F0502020204030204" pitchFamily="34" charset="0"/>
              </a:rPr>
              <a:t>Επιδόρπια γάλακτος</a:t>
            </a:r>
          </a:p>
          <a:p>
            <a:pPr marL="285750" indent="-285750">
              <a:buFont typeface="Arial" panose="020B0604020202020204" pitchFamily="34" charset="0"/>
              <a:buChar char="•"/>
            </a:pPr>
            <a:r>
              <a:rPr lang="el-GR" sz="1500" b="1" kern="100" dirty="0">
                <a:solidFill>
                  <a:srgbClr val="0D0D0D"/>
                </a:solidFill>
                <a:highlight>
                  <a:srgbClr val="FFFFFF"/>
                </a:highlight>
                <a:latin typeface="Aptos" panose="020B0004020202020204" pitchFamily="34" charset="0"/>
                <a:ea typeface="Aptos" panose="020B0004020202020204" pitchFamily="34" charset="0"/>
                <a:cs typeface="Calibri" panose="020F0502020204030204" pitchFamily="34" charset="0"/>
              </a:rPr>
              <a:t>Κρέμες γάλακτος</a:t>
            </a:r>
          </a:p>
          <a:p>
            <a:endParaRPr lang="el-GR" sz="15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l-GR" dirty="0"/>
          </a:p>
        </p:txBody>
      </p:sp>
    </p:spTree>
    <p:extLst>
      <p:ext uri="{BB962C8B-B14F-4D97-AF65-F5344CB8AC3E}">
        <p14:creationId xmlns:p14="http://schemas.microsoft.com/office/powerpoint/2010/main" val="23777871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14" presetClass="entr" presetSubtype="10" fill="hold"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randombar(horizontal)">
                                      <p:cBhvr>
                                        <p:cTn id="11" dur="500"/>
                                        <p:tgtEl>
                                          <p:spTgt spid="24"/>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500"/>
                                        <p:tgtEl>
                                          <p:spTgt spid="12"/>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9"/>
                                        </p:tgtEl>
                                        <p:attrNameLst>
                                          <p:attrName>style.visibility</p:attrName>
                                        </p:attrNameLst>
                                      </p:cBhvr>
                                      <p:to>
                                        <p:strVal val="visible"/>
                                      </p:to>
                                    </p:set>
                                    <p:animEffect transition="in" filter="fade">
                                      <p:cBhvr>
                                        <p:cTn id="24" dur="500"/>
                                        <p:tgtEl>
                                          <p:spTgt spid="19"/>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fade">
                                      <p:cBhvr>
                                        <p:cTn id="27" dur="500"/>
                                        <p:tgtEl>
                                          <p:spTgt spid="2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500"/>
                                        <p:tgtEl>
                                          <p:spTgt spid="7"/>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500"/>
                                        <p:tgtEl>
                                          <p:spTgt spid="11"/>
                                        </p:tgtEl>
                                      </p:cBhvr>
                                    </p:animEffect>
                                  </p:childTnLst>
                                </p:cTn>
                              </p:par>
                            </p:childTnLst>
                          </p:cTn>
                        </p:par>
                        <p:par>
                          <p:cTn id="36" fill="hold">
                            <p:stCondLst>
                              <p:cond delay="500"/>
                            </p:stCondLst>
                            <p:childTnLst>
                              <p:par>
                                <p:cTn id="37" presetID="10" presetClass="entr" presetSubtype="0" fill="hold" grpId="0" nodeType="afterEffect">
                                  <p:stCondLst>
                                    <p:cond delay="0"/>
                                  </p:stCondLst>
                                  <p:childTnLst>
                                    <p:set>
                                      <p:cBhvr>
                                        <p:cTn id="38" dur="1" fill="hold">
                                          <p:stCondLst>
                                            <p:cond delay="0"/>
                                          </p:stCondLst>
                                        </p:cTn>
                                        <p:tgtEl>
                                          <p:spTgt spid="22"/>
                                        </p:tgtEl>
                                        <p:attrNameLst>
                                          <p:attrName>style.visibility</p:attrName>
                                        </p:attrNameLst>
                                      </p:cBhvr>
                                      <p:to>
                                        <p:strVal val="visible"/>
                                      </p:to>
                                    </p:set>
                                    <p:animEffect transition="in" filter="fade">
                                      <p:cBhvr>
                                        <p:cTn id="39" dur="500"/>
                                        <p:tgtEl>
                                          <p:spTgt spid="22"/>
                                        </p:tgtEl>
                                      </p:cBhvr>
                                    </p:animEffect>
                                  </p:childTnLst>
                                </p:cTn>
                              </p:par>
                            </p:childTnLst>
                          </p:cTn>
                        </p:par>
                        <p:par>
                          <p:cTn id="40" fill="hold">
                            <p:stCondLst>
                              <p:cond delay="1000"/>
                            </p:stCondLst>
                            <p:childTnLst>
                              <p:par>
                                <p:cTn id="41" presetID="22" presetClass="entr" presetSubtype="4" fill="hold" nodeType="after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wipe(down)">
                                      <p:cBhvr>
                                        <p:cTn id="43" dur="500"/>
                                        <p:tgtEl>
                                          <p:spTgt spid="15"/>
                                        </p:tgtEl>
                                      </p:cBhvr>
                                    </p:animEffect>
                                  </p:childTnLst>
                                </p:cTn>
                              </p:par>
                            </p:childTnLst>
                          </p:cTn>
                        </p:par>
                        <p:par>
                          <p:cTn id="44" fill="hold">
                            <p:stCondLst>
                              <p:cond delay="1500"/>
                            </p:stCondLst>
                            <p:childTnLst>
                              <p:par>
                                <p:cTn id="45" presetID="22" presetClass="entr" presetSubtype="4" fill="hold" nodeType="after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wipe(down)">
                                      <p:cBhvr>
                                        <p:cTn id="47" dur="500"/>
                                        <p:tgtEl>
                                          <p:spTgt spid="16"/>
                                        </p:tgtEl>
                                      </p:cBhvr>
                                    </p:animEffect>
                                  </p:childTnLst>
                                </p:cTn>
                              </p:par>
                            </p:childTnLst>
                          </p:cTn>
                        </p:par>
                        <p:par>
                          <p:cTn id="48" fill="hold">
                            <p:stCondLst>
                              <p:cond delay="2000"/>
                            </p:stCondLst>
                            <p:childTnLst>
                              <p:par>
                                <p:cTn id="49" presetID="22" presetClass="entr" presetSubtype="4" fill="hold" nodeType="afterEffect">
                                  <p:stCondLst>
                                    <p:cond delay="0"/>
                                  </p:stCondLst>
                                  <p:childTnLst>
                                    <p:set>
                                      <p:cBhvr>
                                        <p:cTn id="50" dur="1" fill="hold">
                                          <p:stCondLst>
                                            <p:cond delay="0"/>
                                          </p:stCondLst>
                                        </p:cTn>
                                        <p:tgtEl>
                                          <p:spTgt spid="17"/>
                                        </p:tgtEl>
                                        <p:attrNameLst>
                                          <p:attrName>style.visibility</p:attrName>
                                        </p:attrNameLst>
                                      </p:cBhvr>
                                      <p:to>
                                        <p:strVal val="visible"/>
                                      </p:to>
                                    </p:set>
                                    <p:animEffect transition="in" filter="wipe(down)">
                                      <p:cBhvr>
                                        <p:cTn id="51" dur="500"/>
                                        <p:tgtEl>
                                          <p:spTgt spid="17"/>
                                        </p:tgtEl>
                                      </p:cBhvr>
                                    </p:animEffect>
                                  </p:childTnLst>
                                </p:cTn>
                              </p:par>
                            </p:childTnLst>
                          </p:cTn>
                        </p:par>
                        <p:par>
                          <p:cTn id="52" fill="hold">
                            <p:stCondLst>
                              <p:cond delay="2500"/>
                            </p:stCondLst>
                            <p:childTnLst>
                              <p:par>
                                <p:cTn id="53" presetID="10" presetClass="entr" presetSubtype="0" fill="hold" grpId="0" nodeType="after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500"/>
                                        <p:tgtEl>
                                          <p:spTgt spid="21"/>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29"/>
                                        </p:tgtEl>
                                        <p:attrNameLst>
                                          <p:attrName>style.visibility</p:attrName>
                                        </p:attrNameLst>
                                      </p:cBhvr>
                                      <p:to>
                                        <p:strVal val="visible"/>
                                      </p:to>
                                    </p:set>
                                    <p:animEffect transition="in" filter="fade">
                                      <p:cBhvr>
                                        <p:cTn id="60" dur="500"/>
                                        <p:tgtEl>
                                          <p:spTgt spid="29"/>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30"/>
                                        </p:tgtEl>
                                        <p:attrNameLst>
                                          <p:attrName>style.visibility</p:attrName>
                                        </p:attrNameLst>
                                      </p:cBhvr>
                                      <p:to>
                                        <p:strVal val="visible"/>
                                      </p:to>
                                    </p:set>
                                    <p:animEffect transition="in" filter="fade">
                                      <p:cBhvr>
                                        <p:cTn id="65"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2" grpId="0" animBg="1"/>
      <p:bldP spid="25" grpId="0" animBg="1"/>
      <p:bldP spid="11" grpId="0" animBg="1"/>
      <p:bldP spid="21" grpId="0" animBg="1"/>
      <p:bldP spid="22" grpId="0"/>
      <p:bldP spid="29" grpId="0"/>
      <p:bldP spid="30"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Freeform: Shape 23">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6" name="Rectangle 25">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53DFEFCE-4745-F530-3502-96ED5BC00995}"/>
              </a:ext>
            </a:extLst>
          </p:cNvPr>
          <p:cNvSpPr txBox="1"/>
          <p:nvPr/>
        </p:nvSpPr>
        <p:spPr>
          <a:xfrm>
            <a:off x="423248" y="1786429"/>
            <a:ext cx="3115265" cy="2396359"/>
          </a:xfrm>
          <a:prstGeom prst="rect">
            <a:avLst/>
          </a:prstGeom>
        </p:spPr>
        <p:txBody>
          <a:bodyPr vert="horz" lIns="91440" tIns="45720" rIns="91440" bIns="45720" rtlCol="0" anchor="b">
            <a:normAutofit/>
          </a:bodyPr>
          <a:lstStyle/>
          <a:p>
            <a:pPr>
              <a:lnSpc>
                <a:spcPct val="90000"/>
              </a:lnSpc>
              <a:spcBef>
                <a:spcPct val="0"/>
              </a:spcBef>
              <a:spcAft>
                <a:spcPts val="600"/>
              </a:spcAft>
            </a:pPr>
            <a:r>
              <a:rPr lang="el-GR" sz="4000" b="1" kern="1200" dirty="0">
                <a:solidFill>
                  <a:srgbClr val="FFFFFF"/>
                </a:solidFill>
                <a:effectLst/>
                <a:latin typeface="+mj-lt"/>
                <a:ea typeface="+mj-ea"/>
                <a:cs typeface="+mj-cs"/>
              </a:rPr>
              <a:t>ΤΑ </a:t>
            </a:r>
            <a:r>
              <a:rPr lang="en-US" sz="4000" b="1" kern="1200" dirty="0">
                <a:solidFill>
                  <a:srgbClr val="FFFFFF"/>
                </a:solidFill>
                <a:effectLst/>
                <a:latin typeface="+mj-lt"/>
                <a:ea typeface="+mj-ea"/>
                <a:cs typeface="+mj-cs"/>
              </a:rPr>
              <a:t>ΠΡΟΪΟΝΤΑ </a:t>
            </a:r>
            <a:r>
              <a:rPr lang="el-GR" sz="4000" b="1" kern="1200" dirty="0">
                <a:solidFill>
                  <a:srgbClr val="FFFFFF"/>
                </a:solidFill>
                <a:effectLst/>
                <a:latin typeface="+mj-lt"/>
                <a:ea typeface="+mj-ea"/>
                <a:cs typeface="+mj-cs"/>
              </a:rPr>
              <a:t>ΤΗΣ ΦΑΓΕ</a:t>
            </a:r>
            <a:endParaRPr lang="en-US" sz="4000" kern="1200" dirty="0">
              <a:solidFill>
                <a:srgbClr val="FFFFFF"/>
              </a:solidFill>
              <a:effectLst/>
              <a:latin typeface="+mj-lt"/>
              <a:ea typeface="+mj-ea"/>
              <a:cs typeface="+mj-cs"/>
            </a:endParaRPr>
          </a:p>
          <a:p>
            <a:pPr algn="r">
              <a:lnSpc>
                <a:spcPct val="90000"/>
              </a:lnSpc>
              <a:spcBef>
                <a:spcPct val="0"/>
              </a:spcBef>
              <a:spcAft>
                <a:spcPts val="600"/>
              </a:spcAft>
            </a:pPr>
            <a:endParaRPr lang="en-US" sz="4000" kern="1200" dirty="0">
              <a:solidFill>
                <a:srgbClr val="FFFFFF"/>
              </a:solidFill>
              <a:latin typeface="+mj-lt"/>
              <a:ea typeface="+mj-ea"/>
              <a:cs typeface="+mj-cs"/>
            </a:endParaRPr>
          </a:p>
        </p:txBody>
      </p:sp>
      <p:pic>
        <p:nvPicPr>
          <p:cNvPr id="3" name="Picture 2" descr="Total">
            <a:extLst>
              <a:ext uri="{FF2B5EF4-FFF2-40B4-BE49-F238E27FC236}">
                <a16:creationId xmlns:a16="http://schemas.microsoft.com/office/drawing/2014/main" id="{01AB3755-C795-1A15-3136-59ECB8A4DC9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316911" y="326938"/>
            <a:ext cx="1737963" cy="1501859"/>
          </a:xfrm>
          <a:prstGeom prst="rect">
            <a:avLst/>
          </a:prstGeom>
          <a:noFill/>
          <a:ln>
            <a:noFill/>
          </a:ln>
        </p:spPr>
      </p:pic>
      <p:pic>
        <p:nvPicPr>
          <p:cNvPr id="4" name="Picture 3" descr="TruBlend">
            <a:extLst>
              <a:ext uri="{FF2B5EF4-FFF2-40B4-BE49-F238E27FC236}">
                <a16:creationId xmlns:a16="http://schemas.microsoft.com/office/drawing/2014/main" id="{2E6E0442-2BE3-B0C4-93D3-5092EA833BB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428179" y="375925"/>
            <a:ext cx="1681276" cy="1452873"/>
          </a:xfrm>
          <a:prstGeom prst="rect">
            <a:avLst/>
          </a:prstGeom>
          <a:noFill/>
          <a:ln>
            <a:noFill/>
          </a:ln>
        </p:spPr>
      </p:pic>
      <p:pic>
        <p:nvPicPr>
          <p:cNvPr id="5" name="Picture 4" descr="FAGE BEFREE">
            <a:extLst>
              <a:ext uri="{FF2B5EF4-FFF2-40B4-BE49-F238E27FC236}">
                <a16:creationId xmlns:a16="http://schemas.microsoft.com/office/drawing/2014/main" id="{9AECC583-5979-49A0-060D-5EDCAA9B8A3B}"/>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644848" y="323258"/>
            <a:ext cx="1742223" cy="1505541"/>
          </a:xfrm>
          <a:prstGeom prst="rect">
            <a:avLst/>
          </a:prstGeom>
          <a:noFill/>
          <a:ln>
            <a:noFill/>
          </a:ln>
        </p:spPr>
      </p:pic>
      <p:pic>
        <p:nvPicPr>
          <p:cNvPr id="6" name="Picture 5" descr="Τρικαλινό">
            <a:extLst>
              <a:ext uri="{FF2B5EF4-FFF2-40B4-BE49-F238E27FC236}">
                <a16:creationId xmlns:a16="http://schemas.microsoft.com/office/drawing/2014/main" id="{A78CD707-90B9-7153-1DCB-ECB7D0A026EC}"/>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0596520" y="375926"/>
            <a:ext cx="1524515" cy="1452872"/>
          </a:xfrm>
          <a:prstGeom prst="rect">
            <a:avLst/>
          </a:prstGeom>
          <a:noFill/>
          <a:ln>
            <a:noFill/>
          </a:ln>
        </p:spPr>
      </p:pic>
      <p:pic>
        <p:nvPicPr>
          <p:cNvPr id="7" name="Picture 6" descr="Gouda">
            <a:extLst>
              <a:ext uri="{FF2B5EF4-FFF2-40B4-BE49-F238E27FC236}">
                <a16:creationId xmlns:a16="http://schemas.microsoft.com/office/drawing/2014/main" id="{78557572-5D52-2777-71A1-FB9C1B7A707F}"/>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4322300" y="2500262"/>
            <a:ext cx="1773700" cy="1532742"/>
          </a:xfrm>
          <a:prstGeom prst="rect">
            <a:avLst/>
          </a:prstGeom>
          <a:noFill/>
          <a:ln>
            <a:noFill/>
          </a:ln>
        </p:spPr>
      </p:pic>
      <p:pic>
        <p:nvPicPr>
          <p:cNvPr id="8" name="Picture 7" descr="Γραβιέρα από τη ΦΑΓΕ">
            <a:extLst>
              <a:ext uri="{FF2B5EF4-FFF2-40B4-BE49-F238E27FC236}">
                <a16:creationId xmlns:a16="http://schemas.microsoft.com/office/drawing/2014/main" id="{4F6B56EF-C72A-0763-A6F2-9DA1906790CD}"/>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7017528" y="2575021"/>
            <a:ext cx="1890497" cy="1639416"/>
          </a:xfrm>
          <a:prstGeom prst="rect">
            <a:avLst/>
          </a:prstGeom>
          <a:noFill/>
          <a:ln>
            <a:noFill/>
          </a:ln>
        </p:spPr>
      </p:pic>
      <p:pic>
        <p:nvPicPr>
          <p:cNvPr id="9" name="Picture 8" descr="Κρέμα Γάλακτος ΦΑΓΕ">
            <a:extLst>
              <a:ext uri="{FF2B5EF4-FFF2-40B4-BE49-F238E27FC236}">
                <a16:creationId xmlns:a16="http://schemas.microsoft.com/office/drawing/2014/main" id="{963EB3AE-7951-4591-30F4-96B1B28292C3}"/>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9468997" y="2706016"/>
            <a:ext cx="2255045" cy="1326988"/>
          </a:xfrm>
          <a:prstGeom prst="rect">
            <a:avLst/>
          </a:prstGeom>
          <a:noFill/>
          <a:ln>
            <a:noFill/>
          </a:ln>
        </p:spPr>
      </p:pic>
      <p:pic>
        <p:nvPicPr>
          <p:cNvPr id="10" name="Picture 9" descr="Κρέμα Γάλακτος ΦΑΓΕ Light">
            <a:extLst>
              <a:ext uri="{FF2B5EF4-FFF2-40B4-BE49-F238E27FC236}">
                <a16:creationId xmlns:a16="http://schemas.microsoft.com/office/drawing/2014/main" id="{DDDDD210-39F5-A7FA-E0FD-13C9009BF381}"/>
              </a:ext>
            </a:extLst>
          </p:cNvPr>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4316911" y="4704469"/>
            <a:ext cx="1964096" cy="1214550"/>
          </a:xfrm>
          <a:prstGeom prst="rect">
            <a:avLst/>
          </a:prstGeom>
          <a:noFill/>
          <a:ln>
            <a:noFill/>
          </a:ln>
        </p:spPr>
      </p:pic>
      <p:pic>
        <p:nvPicPr>
          <p:cNvPr id="1026" name="Picture 2" descr="ΦΑΓΕ Total Επιδόρπιο Γιαουρτιού 2% με Μέλι Χωρίς γλουτένη 2x150gr +1 Δώρο |  ΣΚΛΑΒΕΝΙΤΗΣ">
            <a:extLst>
              <a:ext uri="{FF2B5EF4-FFF2-40B4-BE49-F238E27FC236}">
                <a16:creationId xmlns:a16="http://schemas.microsoft.com/office/drawing/2014/main" id="{846958A4-AC99-9FCD-ECFB-FCA59A00EB61}"/>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017528" y="4403819"/>
            <a:ext cx="1964097" cy="196409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Φάγε Junior Παιδικό Επιδόρπιο Γιαουρτιού Μπανάνα Χωρίς Γλουτένη 2 x 140 gr  -0,30€ | Super Market Χαλκιαδάκης - Κρήτη">
            <a:extLst>
              <a:ext uri="{FF2B5EF4-FFF2-40B4-BE49-F238E27FC236}">
                <a16:creationId xmlns:a16="http://schemas.microsoft.com/office/drawing/2014/main" id="{4605987A-17E5-7EB9-FA61-E62DAEB226B5}"/>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846927" y="4447513"/>
            <a:ext cx="1728461" cy="17284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6810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750"/>
                                        <p:tgtEl>
                                          <p:spTgt spid="3"/>
                                        </p:tgtEl>
                                      </p:cBhvr>
                                    </p:animEffect>
                                  </p:childTnLst>
                                </p:cTn>
                              </p:par>
                            </p:childTnLst>
                          </p:cTn>
                        </p:par>
                        <p:par>
                          <p:cTn id="8" fill="hold">
                            <p:stCondLst>
                              <p:cond delay="750"/>
                            </p:stCondLst>
                            <p:childTnLst>
                              <p:par>
                                <p:cTn id="9" presetID="10" presetClass="entr" presetSubtype="0"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750"/>
                                        <p:tgtEl>
                                          <p:spTgt spid="4"/>
                                        </p:tgtEl>
                                      </p:cBhvr>
                                    </p:animEffect>
                                  </p:childTnLst>
                                </p:cTn>
                              </p:par>
                            </p:childTnLst>
                          </p:cTn>
                        </p:par>
                        <p:par>
                          <p:cTn id="12" fill="hold">
                            <p:stCondLst>
                              <p:cond delay="1500"/>
                            </p:stCondLst>
                            <p:childTnLst>
                              <p:par>
                                <p:cTn id="13" presetID="10" presetClass="entr" presetSubtype="0" fill="hold"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750"/>
                                        <p:tgtEl>
                                          <p:spTgt spid="5"/>
                                        </p:tgtEl>
                                      </p:cBhvr>
                                    </p:animEffect>
                                  </p:childTnLst>
                                </p:cTn>
                              </p:par>
                            </p:childTnLst>
                          </p:cTn>
                        </p:par>
                        <p:par>
                          <p:cTn id="16" fill="hold">
                            <p:stCondLst>
                              <p:cond delay="2250"/>
                            </p:stCondLst>
                            <p:childTnLst>
                              <p:par>
                                <p:cTn id="17" presetID="10" presetClass="entr" presetSubtype="0" fill="hold"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750"/>
                                        <p:tgtEl>
                                          <p:spTgt spid="6"/>
                                        </p:tgtEl>
                                      </p:cBhvr>
                                    </p:animEffect>
                                  </p:childTnLst>
                                </p:cTn>
                              </p:par>
                            </p:childTnLst>
                          </p:cTn>
                        </p:par>
                        <p:par>
                          <p:cTn id="20" fill="hold">
                            <p:stCondLst>
                              <p:cond delay="3000"/>
                            </p:stCondLst>
                            <p:childTnLst>
                              <p:par>
                                <p:cTn id="21" presetID="10" presetClass="entr" presetSubtype="0" fill="hold"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750"/>
                                        <p:tgtEl>
                                          <p:spTgt spid="7"/>
                                        </p:tgtEl>
                                      </p:cBhvr>
                                    </p:animEffect>
                                  </p:childTnLst>
                                </p:cTn>
                              </p:par>
                            </p:childTnLst>
                          </p:cTn>
                        </p:par>
                        <p:par>
                          <p:cTn id="24" fill="hold">
                            <p:stCondLst>
                              <p:cond delay="3750"/>
                            </p:stCondLst>
                            <p:childTnLst>
                              <p:par>
                                <p:cTn id="25" presetID="10" presetClass="entr" presetSubtype="0" fill="hold" nodeType="after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750"/>
                                        <p:tgtEl>
                                          <p:spTgt spid="8"/>
                                        </p:tgtEl>
                                      </p:cBhvr>
                                    </p:animEffect>
                                  </p:childTnLst>
                                </p:cTn>
                              </p:par>
                            </p:childTnLst>
                          </p:cTn>
                        </p:par>
                        <p:par>
                          <p:cTn id="28" fill="hold">
                            <p:stCondLst>
                              <p:cond delay="4500"/>
                            </p:stCondLst>
                            <p:childTnLst>
                              <p:par>
                                <p:cTn id="29" presetID="10" presetClass="entr" presetSubtype="0" fill="hold" nodeType="after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750"/>
                                        <p:tgtEl>
                                          <p:spTgt spid="9"/>
                                        </p:tgtEl>
                                      </p:cBhvr>
                                    </p:animEffect>
                                  </p:childTnLst>
                                </p:cTn>
                              </p:par>
                            </p:childTnLst>
                          </p:cTn>
                        </p:par>
                        <p:par>
                          <p:cTn id="32" fill="hold">
                            <p:stCondLst>
                              <p:cond delay="5250"/>
                            </p:stCondLst>
                            <p:childTnLst>
                              <p:par>
                                <p:cTn id="33" presetID="10" presetClass="entr" presetSubtype="0" fill="hold" nodeType="after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750"/>
                                        <p:tgtEl>
                                          <p:spTgt spid="10"/>
                                        </p:tgtEl>
                                      </p:cBhvr>
                                    </p:animEffect>
                                  </p:childTnLst>
                                </p:cTn>
                              </p:par>
                            </p:childTnLst>
                          </p:cTn>
                        </p:par>
                        <p:par>
                          <p:cTn id="36" fill="hold">
                            <p:stCondLst>
                              <p:cond delay="6000"/>
                            </p:stCondLst>
                            <p:childTnLst>
                              <p:par>
                                <p:cTn id="37" presetID="10" presetClass="entr" presetSubtype="0" fill="hold" nodeType="afterEffect">
                                  <p:stCondLst>
                                    <p:cond delay="0"/>
                                  </p:stCondLst>
                                  <p:childTnLst>
                                    <p:set>
                                      <p:cBhvr>
                                        <p:cTn id="38" dur="1" fill="hold">
                                          <p:stCondLst>
                                            <p:cond delay="0"/>
                                          </p:stCondLst>
                                        </p:cTn>
                                        <p:tgtEl>
                                          <p:spTgt spid="1026"/>
                                        </p:tgtEl>
                                        <p:attrNameLst>
                                          <p:attrName>style.visibility</p:attrName>
                                        </p:attrNameLst>
                                      </p:cBhvr>
                                      <p:to>
                                        <p:strVal val="visible"/>
                                      </p:to>
                                    </p:set>
                                    <p:animEffect transition="in" filter="fade">
                                      <p:cBhvr>
                                        <p:cTn id="39" dur="750"/>
                                        <p:tgtEl>
                                          <p:spTgt spid="1026"/>
                                        </p:tgtEl>
                                      </p:cBhvr>
                                    </p:animEffect>
                                  </p:childTnLst>
                                </p:cTn>
                              </p:par>
                            </p:childTnLst>
                          </p:cTn>
                        </p:par>
                        <p:par>
                          <p:cTn id="40" fill="hold">
                            <p:stCondLst>
                              <p:cond delay="6750"/>
                            </p:stCondLst>
                            <p:childTnLst>
                              <p:par>
                                <p:cTn id="41" presetID="10" presetClass="entr" presetSubtype="0" fill="hold" nodeType="afterEffect">
                                  <p:stCondLst>
                                    <p:cond delay="0"/>
                                  </p:stCondLst>
                                  <p:childTnLst>
                                    <p:set>
                                      <p:cBhvr>
                                        <p:cTn id="42" dur="1" fill="hold">
                                          <p:stCondLst>
                                            <p:cond delay="0"/>
                                          </p:stCondLst>
                                        </p:cTn>
                                        <p:tgtEl>
                                          <p:spTgt spid="1028"/>
                                        </p:tgtEl>
                                        <p:attrNameLst>
                                          <p:attrName>style.visibility</p:attrName>
                                        </p:attrNameLst>
                                      </p:cBhvr>
                                      <p:to>
                                        <p:strVal val="visible"/>
                                      </p:to>
                                    </p:set>
                                    <p:animEffect transition="in" filter="fade">
                                      <p:cBhvr>
                                        <p:cTn id="43" dur="750"/>
                                        <p:tgtEl>
                                          <p:spTgt spid="10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p:cNvGrpSpPr/>
        <p:nvPr/>
      </p:nvGrpSpPr>
      <p:grpSpPr>
        <a:xfrm>
          <a:off x="0" y="0"/>
          <a:ext cx="0" cy="0"/>
          <a:chOff x="0" y="0"/>
          <a:chExt cx="0" cy="0"/>
        </a:xfrm>
      </p:grpSpPr>
      <p:sp useBgFill="1">
        <p:nvSpPr>
          <p:cNvPr id="1037" name="Rectangle 1036">
            <a:extLst>
              <a:ext uri="{FF2B5EF4-FFF2-40B4-BE49-F238E27FC236}">
                <a16:creationId xmlns:a16="http://schemas.microsoft.com/office/drawing/2014/main" id="{48B13CA8-CBEA-4805-955D-CEBE322365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4580597"/>
          </a:xfrm>
          <a:prstGeom prst="rect">
            <a:avLst/>
          </a:prstGeom>
          <a:ln>
            <a:noFill/>
          </a:ln>
          <a:effectLst>
            <a:outerShdw blurRad="596900" dist="381000" dir="8820000" sx="90000" sy="90000" algn="t" rotWithShape="0">
              <a:srgbClr val="000000">
                <a:alpha val="26667"/>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2A97E54C-53B1-F2C6-B95D-7AFBD3BA08A0}"/>
              </a:ext>
            </a:extLst>
          </p:cNvPr>
          <p:cNvSpPr txBox="1"/>
          <p:nvPr/>
        </p:nvSpPr>
        <p:spPr>
          <a:xfrm>
            <a:off x="5332041" y="486956"/>
            <a:ext cx="5701182" cy="1895354"/>
          </a:xfrm>
          <a:prstGeom prst="rect">
            <a:avLst/>
          </a:prstGeom>
        </p:spPr>
        <p:txBody>
          <a:bodyPr vert="horz" lIns="91440" tIns="45720" rIns="91440" bIns="45720" rtlCol="0" anchor="ctr">
            <a:normAutofit fontScale="92500"/>
          </a:bodyPr>
          <a:lstStyle/>
          <a:p>
            <a:pPr>
              <a:lnSpc>
                <a:spcPct val="90000"/>
              </a:lnSpc>
              <a:spcBef>
                <a:spcPct val="0"/>
              </a:spcBef>
              <a:spcAft>
                <a:spcPts val="600"/>
              </a:spcAft>
            </a:pPr>
            <a:r>
              <a:rPr lang="en-US" sz="4800" b="1" kern="1200" dirty="0">
                <a:solidFill>
                  <a:schemeClr val="tx1"/>
                </a:solidFill>
                <a:effectLst/>
                <a:latin typeface="+mj-lt"/>
                <a:ea typeface="+mj-ea"/>
                <a:cs typeface="+mj-cs"/>
              </a:rPr>
              <a:t>ΔΡΑΣΤΗΡΙΟΤΗΤΑ ΣΤΙΣ ΔΙΕΘΝΕΙΣ ΑΓΟΡΕΣ</a:t>
            </a:r>
            <a:endParaRPr lang="en-US" sz="4800" kern="1200" dirty="0">
              <a:solidFill>
                <a:schemeClr val="tx1"/>
              </a:solidFill>
              <a:effectLst/>
              <a:latin typeface="+mj-lt"/>
              <a:ea typeface="+mj-ea"/>
              <a:cs typeface="+mj-cs"/>
            </a:endParaRPr>
          </a:p>
          <a:p>
            <a:pPr>
              <a:lnSpc>
                <a:spcPct val="90000"/>
              </a:lnSpc>
              <a:spcBef>
                <a:spcPct val="0"/>
              </a:spcBef>
              <a:spcAft>
                <a:spcPts val="600"/>
              </a:spcAft>
            </a:pPr>
            <a:endParaRPr lang="en-US" sz="4800" kern="1200" dirty="0">
              <a:solidFill>
                <a:schemeClr val="tx1"/>
              </a:solidFill>
              <a:latin typeface="+mj-lt"/>
              <a:ea typeface="+mj-ea"/>
              <a:cs typeface="+mj-cs"/>
            </a:endParaRPr>
          </a:p>
        </p:txBody>
      </p:sp>
      <p:pic>
        <p:nvPicPr>
          <p:cNvPr id="1032" name="Picture 8" descr="Business Daily">
            <a:extLst>
              <a:ext uri="{FF2B5EF4-FFF2-40B4-BE49-F238E27FC236}">
                <a16:creationId xmlns:a16="http://schemas.microsoft.com/office/drawing/2014/main" id="{CB342B12-5398-406B-0FFF-5B3F74C0BA7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2" b="10911"/>
          <a:stretch/>
        </p:blipFill>
        <p:spPr bwMode="auto">
          <a:xfrm>
            <a:off x="89" y="10"/>
            <a:ext cx="4617391" cy="2303576"/>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Target warns of squeezed profits from ...">
            <a:extLst>
              <a:ext uri="{FF2B5EF4-FFF2-40B4-BE49-F238E27FC236}">
                <a16:creationId xmlns:a16="http://schemas.microsoft.com/office/drawing/2014/main" id="{60EAA3A0-39D1-28FC-2B46-262BAD2DAA8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2048" r="11260" b="1"/>
          <a:stretch/>
        </p:blipFill>
        <p:spPr bwMode="auto">
          <a:xfrm>
            <a:off x="20" y="2285301"/>
            <a:ext cx="2308672" cy="2303586"/>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About Walmart">
            <a:extLst>
              <a:ext uri="{FF2B5EF4-FFF2-40B4-BE49-F238E27FC236}">
                <a16:creationId xmlns:a16="http://schemas.microsoft.com/office/drawing/2014/main" id="{69A08B70-8BAF-C014-E073-F19B76C94007}"/>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4738" r="29138" b="1"/>
          <a:stretch/>
        </p:blipFill>
        <p:spPr bwMode="auto">
          <a:xfrm>
            <a:off x="2308699" y="2285308"/>
            <a:ext cx="2308692" cy="230358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30,000 workers for Christmas season ...">
            <a:extLst>
              <a:ext uri="{FF2B5EF4-FFF2-40B4-BE49-F238E27FC236}">
                <a16:creationId xmlns:a16="http://schemas.microsoft.com/office/drawing/2014/main" id="{03D9B814-5A3F-8990-09B1-B03747D1A5C5}"/>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t="7580" r="3" b="17083"/>
          <a:stretch/>
        </p:blipFill>
        <p:spPr bwMode="auto">
          <a:xfrm>
            <a:off x="20" y="4580603"/>
            <a:ext cx="4617469" cy="2285703"/>
          </a:xfrm>
          <a:prstGeom prst="rect">
            <a:avLst/>
          </a:prstGeom>
          <a:noFill/>
          <a:extLst>
            <a:ext uri="{909E8E84-426E-40DD-AFC4-6F175D3DCCD1}">
              <a14:hiddenFill xmlns:a14="http://schemas.microsoft.com/office/drawing/2010/main">
                <a:solidFill>
                  <a:srgbClr val="FFFFFF"/>
                </a:solidFill>
              </a14:hiddenFill>
            </a:ext>
          </a:extLst>
        </p:spPr>
      </p:pic>
      <p:grpSp>
        <p:nvGrpSpPr>
          <p:cNvPr id="4" name="Group 3">
            <a:extLst>
              <a:ext uri="{FF2B5EF4-FFF2-40B4-BE49-F238E27FC236}">
                <a16:creationId xmlns:a16="http://schemas.microsoft.com/office/drawing/2014/main" id="{680D2DCA-7C0A-2A18-12C3-F771070B2C22}"/>
              </a:ext>
            </a:extLst>
          </p:cNvPr>
          <p:cNvGrpSpPr/>
          <p:nvPr/>
        </p:nvGrpSpPr>
        <p:grpSpPr>
          <a:xfrm>
            <a:off x="6095999" y="2604110"/>
            <a:ext cx="4173266" cy="514159"/>
            <a:chOff x="727586" y="828494"/>
            <a:chExt cx="2802195" cy="1298653"/>
          </a:xfrm>
        </p:grpSpPr>
        <p:sp>
          <p:nvSpPr>
            <p:cNvPr id="5" name="Rectangle: Rounded Corners 4">
              <a:extLst>
                <a:ext uri="{FF2B5EF4-FFF2-40B4-BE49-F238E27FC236}">
                  <a16:creationId xmlns:a16="http://schemas.microsoft.com/office/drawing/2014/main" id="{BBC2AC37-33F3-6121-4004-68415FC93386}"/>
                </a:ext>
              </a:extLst>
            </p:cNvPr>
            <p:cNvSpPr/>
            <p:nvPr/>
          </p:nvSpPr>
          <p:spPr>
            <a:xfrm>
              <a:off x="727586" y="828494"/>
              <a:ext cx="2705276" cy="1298653"/>
            </a:xfrm>
            <a:prstGeom prst="roundRect">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6" name="TextBox 5">
              <a:extLst>
                <a:ext uri="{FF2B5EF4-FFF2-40B4-BE49-F238E27FC236}">
                  <a16:creationId xmlns:a16="http://schemas.microsoft.com/office/drawing/2014/main" id="{72490351-4BB5-E983-A8B3-523DAADA6BD5}"/>
                </a:ext>
              </a:extLst>
            </p:cNvPr>
            <p:cNvSpPr txBox="1"/>
            <p:nvPr/>
          </p:nvSpPr>
          <p:spPr>
            <a:xfrm>
              <a:off x="727586" y="1084671"/>
              <a:ext cx="2802195" cy="949393"/>
            </a:xfrm>
            <a:prstGeom prst="rect">
              <a:avLst/>
            </a:prstGeom>
            <a:noFill/>
          </p:spPr>
          <p:txBody>
            <a:bodyPr wrap="square" rtlCol="0">
              <a:spAutoFit/>
            </a:bodyPr>
            <a:lstStyle/>
            <a:p>
              <a:r>
                <a:rPr lang="el-GR" dirty="0">
                  <a:solidFill>
                    <a:srgbClr val="0D0D0D"/>
                  </a:solidFill>
                  <a:latin typeface="Aptos" panose="020B0004020202020204" pitchFamily="34" charset="0"/>
                  <a:ea typeface="Aptos" panose="020B0004020202020204" pitchFamily="34" charset="0"/>
                  <a:cs typeface="Calibri" panose="020F0502020204030204" pitchFamily="34" charset="0"/>
                </a:rPr>
                <a:t>Δραστηριότητα σε πάνω από 40 κράτη</a:t>
              </a:r>
            </a:p>
          </p:txBody>
        </p:sp>
      </p:grpSp>
      <p:sp>
        <p:nvSpPr>
          <p:cNvPr id="7" name="Arrow: Down 6">
            <a:extLst>
              <a:ext uri="{FF2B5EF4-FFF2-40B4-BE49-F238E27FC236}">
                <a16:creationId xmlns:a16="http://schemas.microsoft.com/office/drawing/2014/main" id="{02D31594-4111-2C78-FDA7-24F2BDC2FEB8}"/>
              </a:ext>
            </a:extLst>
          </p:cNvPr>
          <p:cNvSpPr/>
          <p:nvPr/>
        </p:nvSpPr>
        <p:spPr>
          <a:xfrm>
            <a:off x="7934632" y="3234813"/>
            <a:ext cx="412955" cy="59976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l-GR"/>
          </a:p>
        </p:txBody>
      </p:sp>
      <p:grpSp>
        <p:nvGrpSpPr>
          <p:cNvPr id="8" name="Group 7">
            <a:extLst>
              <a:ext uri="{FF2B5EF4-FFF2-40B4-BE49-F238E27FC236}">
                <a16:creationId xmlns:a16="http://schemas.microsoft.com/office/drawing/2014/main" id="{BEB8D468-06B1-50B3-14C6-9418354E8C37}"/>
              </a:ext>
            </a:extLst>
          </p:cNvPr>
          <p:cNvGrpSpPr/>
          <p:nvPr/>
        </p:nvGrpSpPr>
        <p:grpSpPr>
          <a:xfrm>
            <a:off x="6095999" y="3921628"/>
            <a:ext cx="4173266" cy="1145926"/>
            <a:chOff x="727586" y="828494"/>
            <a:chExt cx="2802195" cy="1888668"/>
          </a:xfrm>
        </p:grpSpPr>
        <p:sp>
          <p:nvSpPr>
            <p:cNvPr id="9" name="Rectangle: Rounded Corners 8">
              <a:extLst>
                <a:ext uri="{FF2B5EF4-FFF2-40B4-BE49-F238E27FC236}">
                  <a16:creationId xmlns:a16="http://schemas.microsoft.com/office/drawing/2014/main" id="{F13F9700-E9BE-D8A1-1D61-D15A0B1BEC52}"/>
                </a:ext>
              </a:extLst>
            </p:cNvPr>
            <p:cNvSpPr/>
            <p:nvPr/>
          </p:nvSpPr>
          <p:spPr>
            <a:xfrm>
              <a:off x="727586" y="828494"/>
              <a:ext cx="2705276" cy="1298653"/>
            </a:xfrm>
            <a:prstGeom prst="roundRect">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10" name="TextBox 9">
              <a:extLst>
                <a:ext uri="{FF2B5EF4-FFF2-40B4-BE49-F238E27FC236}">
                  <a16:creationId xmlns:a16="http://schemas.microsoft.com/office/drawing/2014/main" id="{1E529AEC-0A27-D36F-B63A-6A939B02EFF8}"/>
                </a:ext>
              </a:extLst>
            </p:cNvPr>
            <p:cNvSpPr txBox="1"/>
            <p:nvPr/>
          </p:nvSpPr>
          <p:spPr>
            <a:xfrm>
              <a:off x="727586" y="1084671"/>
              <a:ext cx="2802195" cy="1632491"/>
            </a:xfrm>
            <a:prstGeom prst="rect">
              <a:avLst/>
            </a:prstGeom>
            <a:noFill/>
          </p:spPr>
          <p:txBody>
            <a:bodyPr wrap="square" rtlCol="0">
              <a:spAutoFit/>
            </a:bodyPr>
            <a:lstStyle/>
            <a:p>
              <a:r>
                <a:rPr lang="el-GR" dirty="0">
                  <a:solidFill>
                    <a:srgbClr val="0D0D0D"/>
                  </a:solidFill>
                  <a:latin typeface="Aptos" panose="020B0004020202020204" pitchFamily="34" charset="0"/>
                  <a:ea typeface="Aptos" panose="020B0004020202020204" pitchFamily="34" charset="0"/>
                  <a:cs typeface="Calibri" panose="020F0502020204030204" pitchFamily="34" charset="0"/>
                </a:rPr>
                <a:t>Διάθεση των προϊόντων της σε μεγάλες αλυσίδες σουπερμάρκετ </a:t>
              </a:r>
            </a:p>
          </p:txBody>
        </p:sp>
      </p:grpSp>
      <p:pic>
        <p:nvPicPr>
          <p:cNvPr id="1034" name="Picture 10" descr="Store Finder - Morrisons">
            <a:extLst>
              <a:ext uri="{FF2B5EF4-FFF2-40B4-BE49-F238E27FC236}">
                <a16:creationId xmlns:a16="http://schemas.microsoft.com/office/drawing/2014/main" id="{1E7CA9F4-923B-33A1-0E52-49C39D34392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53179" y="5138030"/>
            <a:ext cx="3727962" cy="1704310"/>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Albertsons' Perkins retakes the wheel ...">
            <a:extLst>
              <a:ext uri="{FF2B5EF4-FFF2-40B4-BE49-F238E27FC236}">
                <a16:creationId xmlns:a16="http://schemas.microsoft.com/office/drawing/2014/main" id="{86A8E5E5-7505-3558-9D74-E1D283510F8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616831" y="5138030"/>
            <a:ext cx="3304867" cy="17043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800123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par>
                          <p:cTn id="13" fill="hold">
                            <p:stCondLst>
                              <p:cond delay="500"/>
                            </p:stCondLst>
                            <p:childTnLst>
                              <p:par>
                                <p:cTn id="14" presetID="50" presetClass="entr" presetSubtype="0" decel="100000" fill="hold" grpId="0" nodeType="afterEffect">
                                  <p:stCondLst>
                                    <p:cond delay="0"/>
                                  </p:stCondLst>
                                  <p:childTnLst>
                                    <p:set>
                                      <p:cBhvr>
                                        <p:cTn id="15" dur="1" fill="hold">
                                          <p:stCondLst>
                                            <p:cond delay="0"/>
                                          </p:stCondLst>
                                        </p:cTn>
                                        <p:tgtEl>
                                          <p:spTgt spid="7"/>
                                        </p:tgtEl>
                                        <p:attrNameLst>
                                          <p:attrName>style.visibility</p:attrName>
                                        </p:attrNameLst>
                                      </p:cBhvr>
                                      <p:to>
                                        <p:strVal val="visible"/>
                                      </p:to>
                                    </p:set>
                                    <p:anim calcmode="lin" valueType="num">
                                      <p:cBhvr>
                                        <p:cTn id="16" dur="1000" fill="hold"/>
                                        <p:tgtEl>
                                          <p:spTgt spid="7"/>
                                        </p:tgtEl>
                                        <p:attrNameLst>
                                          <p:attrName>ppt_w</p:attrName>
                                        </p:attrNameLst>
                                      </p:cBhvr>
                                      <p:tavLst>
                                        <p:tav tm="0">
                                          <p:val>
                                            <p:strVal val="#ppt_w+.3"/>
                                          </p:val>
                                        </p:tav>
                                        <p:tav tm="100000">
                                          <p:val>
                                            <p:strVal val="#ppt_w"/>
                                          </p:val>
                                        </p:tav>
                                      </p:tavLst>
                                    </p:anim>
                                    <p:anim calcmode="lin" valueType="num">
                                      <p:cBhvr>
                                        <p:cTn id="17" dur="1000" fill="hold"/>
                                        <p:tgtEl>
                                          <p:spTgt spid="7"/>
                                        </p:tgtEl>
                                        <p:attrNameLst>
                                          <p:attrName>ppt_h</p:attrName>
                                        </p:attrNameLst>
                                      </p:cBhvr>
                                      <p:tavLst>
                                        <p:tav tm="0">
                                          <p:val>
                                            <p:strVal val="#ppt_h"/>
                                          </p:val>
                                        </p:tav>
                                        <p:tav tm="100000">
                                          <p:val>
                                            <p:strVal val="#ppt_h"/>
                                          </p:val>
                                        </p:tav>
                                      </p:tavLst>
                                    </p:anim>
                                    <p:animEffect transition="in" filter="fade">
                                      <p:cBhvr>
                                        <p:cTn id="18" dur="1000"/>
                                        <p:tgtEl>
                                          <p:spTgt spid="7"/>
                                        </p:tgtEl>
                                      </p:cBhvr>
                                    </p:animEffect>
                                  </p:childTnLst>
                                </p:cTn>
                              </p:par>
                            </p:childTnLst>
                          </p:cTn>
                        </p:par>
                        <p:par>
                          <p:cTn id="19" fill="hold">
                            <p:stCondLst>
                              <p:cond delay="1500"/>
                            </p:stCondLst>
                            <p:childTnLst>
                              <p:par>
                                <p:cTn id="20" presetID="10" presetClass="entr" presetSubtype="0" fill="hold" nodeType="after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1032"/>
                                        </p:tgtEl>
                                        <p:attrNameLst>
                                          <p:attrName>style.visibility</p:attrName>
                                        </p:attrNameLst>
                                      </p:cBhvr>
                                      <p:to>
                                        <p:strVal val="visible"/>
                                      </p:to>
                                    </p:set>
                                    <p:animEffect transition="in" filter="fade">
                                      <p:cBhvr>
                                        <p:cTn id="27" dur="600"/>
                                        <p:tgtEl>
                                          <p:spTgt spid="1032"/>
                                        </p:tgtEl>
                                      </p:cBhvr>
                                    </p:animEffect>
                                    <p:anim calcmode="lin" valueType="num">
                                      <p:cBhvr>
                                        <p:cTn id="28" dur="600" fill="hold"/>
                                        <p:tgtEl>
                                          <p:spTgt spid="1032"/>
                                        </p:tgtEl>
                                        <p:attrNameLst>
                                          <p:attrName>ppt_x</p:attrName>
                                        </p:attrNameLst>
                                      </p:cBhvr>
                                      <p:tavLst>
                                        <p:tav tm="0">
                                          <p:val>
                                            <p:strVal val="#ppt_x"/>
                                          </p:val>
                                        </p:tav>
                                        <p:tav tm="100000">
                                          <p:val>
                                            <p:strVal val="#ppt_x"/>
                                          </p:val>
                                        </p:tav>
                                      </p:tavLst>
                                    </p:anim>
                                    <p:anim calcmode="lin" valueType="num">
                                      <p:cBhvr>
                                        <p:cTn id="29" dur="600" fill="hold"/>
                                        <p:tgtEl>
                                          <p:spTgt spid="1032"/>
                                        </p:tgtEl>
                                        <p:attrNameLst>
                                          <p:attrName>ppt_y</p:attrName>
                                        </p:attrNameLst>
                                      </p:cBhvr>
                                      <p:tavLst>
                                        <p:tav tm="0">
                                          <p:val>
                                            <p:strVal val="#ppt_y+.1"/>
                                          </p:val>
                                        </p:tav>
                                        <p:tav tm="100000">
                                          <p:val>
                                            <p:strVal val="#ppt_y"/>
                                          </p:val>
                                        </p:tav>
                                      </p:tavLst>
                                    </p:anim>
                                  </p:childTnLst>
                                </p:cTn>
                              </p:par>
                            </p:childTnLst>
                          </p:cTn>
                        </p:par>
                        <p:par>
                          <p:cTn id="30" fill="hold">
                            <p:stCondLst>
                              <p:cond delay="600"/>
                            </p:stCondLst>
                            <p:childTnLst>
                              <p:par>
                                <p:cTn id="31" presetID="53" presetClass="entr" presetSubtype="16" fill="hold" nodeType="afterEffect">
                                  <p:stCondLst>
                                    <p:cond delay="0"/>
                                  </p:stCondLst>
                                  <p:childTnLst>
                                    <p:set>
                                      <p:cBhvr>
                                        <p:cTn id="32" dur="1" fill="hold">
                                          <p:stCondLst>
                                            <p:cond delay="0"/>
                                          </p:stCondLst>
                                        </p:cTn>
                                        <p:tgtEl>
                                          <p:spTgt spid="1030"/>
                                        </p:tgtEl>
                                        <p:attrNameLst>
                                          <p:attrName>style.visibility</p:attrName>
                                        </p:attrNameLst>
                                      </p:cBhvr>
                                      <p:to>
                                        <p:strVal val="visible"/>
                                      </p:to>
                                    </p:set>
                                    <p:anim calcmode="lin" valueType="num">
                                      <p:cBhvr>
                                        <p:cTn id="33" dur="600" fill="hold"/>
                                        <p:tgtEl>
                                          <p:spTgt spid="1030"/>
                                        </p:tgtEl>
                                        <p:attrNameLst>
                                          <p:attrName>ppt_w</p:attrName>
                                        </p:attrNameLst>
                                      </p:cBhvr>
                                      <p:tavLst>
                                        <p:tav tm="0">
                                          <p:val>
                                            <p:fltVal val="0"/>
                                          </p:val>
                                        </p:tav>
                                        <p:tav tm="100000">
                                          <p:val>
                                            <p:strVal val="#ppt_w"/>
                                          </p:val>
                                        </p:tav>
                                      </p:tavLst>
                                    </p:anim>
                                    <p:anim calcmode="lin" valueType="num">
                                      <p:cBhvr>
                                        <p:cTn id="34" dur="600" fill="hold"/>
                                        <p:tgtEl>
                                          <p:spTgt spid="1030"/>
                                        </p:tgtEl>
                                        <p:attrNameLst>
                                          <p:attrName>ppt_h</p:attrName>
                                        </p:attrNameLst>
                                      </p:cBhvr>
                                      <p:tavLst>
                                        <p:tav tm="0">
                                          <p:val>
                                            <p:fltVal val="0"/>
                                          </p:val>
                                        </p:tav>
                                        <p:tav tm="100000">
                                          <p:val>
                                            <p:strVal val="#ppt_h"/>
                                          </p:val>
                                        </p:tav>
                                      </p:tavLst>
                                    </p:anim>
                                    <p:animEffect transition="in" filter="fade">
                                      <p:cBhvr>
                                        <p:cTn id="35" dur="600"/>
                                        <p:tgtEl>
                                          <p:spTgt spid="1030"/>
                                        </p:tgtEl>
                                      </p:cBhvr>
                                    </p:animEffect>
                                  </p:childTnLst>
                                </p:cTn>
                              </p:par>
                            </p:childTnLst>
                          </p:cTn>
                        </p:par>
                        <p:par>
                          <p:cTn id="36" fill="hold">
                            <p:stCondLst>
                              <p:cond delay="1200"/>
                            </p:stCondLst>
                            <p:childTnLst>
                              <p:par>
                                <p:cTn id="37" presetID="53" presetClass="entr" presetSubtype="16" fill="hold" nodeType="afterEffect">
                                  <p:stCondLst>
                                    <p:cond delay="0"/>
                                  </p:stCondLst>
                                  <p:childTnLst>
                                    <p:set>
                                      <p:cBhvr>
                                        <p:cTn id="38" dur="1" fill="hold">
                                          <p:stCondLst>
                                            <p:cond delay="0"/>
                                          </p:stCondLst>
                                        </p:cTn>
                                        <p:tgtEl>
                                          <p:spTgt spid="1026"/>
                                        </p:tgtEl>
                                        <p:attrNameLst>
                                          <p:attrName>style.visibility</p:attrName>
                                        </p:attrNameLst>
                                      </p:cBhvr>
                                      <p:to>
                                        <p:strVal val="visible"/>
                                      </p:to>
                                    </p:set>
                                    <p:anim calcmode="lin" valueType="num">
                                      <p:cBhvr>
                                        <p:cTn id="39" dur="600" fill="hold"/>
                                        <p:tgtEl>
                                          <p:spTgt spid="1026"/>
                                        </p:tgtEl>
                                        <p:attrNameLst>
                                          <p:attrName>ppt_w</p:attrName>
                                        </p:attrNameLst>
                                      </p:cBhvr>
                                      <p:tavLst>
                                        <p:tav tm="0">
                                          <p:val>
                                            <p:fltVal val="0"/>
                                          </p:val>
                                        </p:tav>
                                        <p:tav tm="100000">
                                          <p:val>
                                            <p:strVal val="#ppt_w"/>
                                          </p:val>
                                        </p:tav>
                                      </p:tavLst>
                                    </p:anim>
                                    <p:anim calcmode="lin" valueType="num">
                                      <p:cBhvr>
                                        <p:cTn id="40" dur="600" fill="hold"/>
                                        <p:tgtEl>
                                          <p:spTgt spid="1026"/>
                                        </p:tgtEl>
                                        <p:attrNameLst>
                                          <p:attrName>ppt_h</p:attrName>
                                        </p:attrNameLst>
                                      </p:cBhvr>
                                      <p:tavLst>
                                        <p:tav tm="0">
                                          <p:val>
                                            <p:fltVal val="0"/>
                                          </p:val>
                                        </p:tav>
                                        <p:tav tm="100000">
                                          <p:val>
                                            <p:strVal val="#ppt_h"/>
                                          </p:val>
                                        </p:tav>
                                      </p:tavLst>
                                    </p:anim>
                                    <p:animEffect transition="in" filter="fade">
                                      <p:cBhvr>
                                        <p:cTn id="41" dur="600"/>
                                        <p:tgtEl>
                                          <p:spTgt spid="1026"/>
                                        </p:tgtEl>
                                      </p:cBhvr>
                                    </p:animEffect>
                                  </p:childTnLst>
                                </p:cTn>
                              </p:par>
                            </p:childTnLst>
                          </p:cTn>
                        </p:par>
                        <p:par>
                          <p:cTn id="42" fill="hold">
                            <p:stCondLst>
                              <p:cond delay="1800"/>
                            </p:stCondLst>
                            <p:childTnLst>
                              <p:par>
                                <p:cTn id="43" presetID="2" presetClass="entr" presetSubtype="4" fill="hold" nodeType="afterEffect">
                                  <p:stCondLst>
                                    <p:cond delay="0"/>
                                  </p:stCondLst>
                                  <p:childTnLst>
                                    <p:set>
                                      <p:cBhvr>
                                        <p:cTn id="44" dur="1" fill="hold">
                                          <p:stCondLst>
                                            <p:cond delay="0"/>
                                          </p:stCondLst>
                                        </p:cTn>
                                        <p:tgtEl>
                                          <p:spTgt spid="1028"/>
                                        </p:tgtEl>
                                        <p:attrNameLst>
                                          <p:attrName>style.visibility</p:attrName>
                                        </p:attrNameLst>
                                      </p:cBhvr>
                                      <p:to>
                                        <p:strVal val="visible"/>
                                      </p:to>
                                    </p:set>
                                    <p:anim calcmode="lin" valueType="num">
                                      <p:cBhvr additive="base">
                                        <p:cTn id="45" dur="600" fill="hold"/>
                                        <p:tgtEl>
                                          <p:spTgt spid="1028"/>
                                        </p:tgtEl>
                                        <p:attrNameLst>
                                          <p:attrName>ppt_x</p:attrName>
                                        </p:attrNameLst>
                                      </p:cBhvr>
                                      <p:tavLst>
                                        <p:tav tm="0">
                                          <p:val>
                                            <p:strVal val="#ppt_x"/>
                                          </p:val>
                                        </p:tav>
                                        <p:tav tm="100000">
                                          <p:val>
                                            <p:strVal val="#ppt_x"/>
                                          </p:val>
                                        </p:tav>
                                      </p:tavLst>
                                    </p:anim>
                                    <p:anim calcmode="lin" valueType="num">
                                      <p:cBhvr additive="base">
                                        <p:cTn id="46" dur="600" fill="hold"/>
                                        <p:tgtEl>
                                          <p:spTgt spid="1028"/>
                                        </p:tgtEl>
                                        <p:attrNameLst>
                                          <p:attrName>ppt_y</p:attrName>
                                        </p:attrNameLst>
                                      </p:cBhvr>
                                      <p:tavLst>
                                        <p:tav tm="0">
                                          <p:val>
                                            <p:strVal val="1+#ppt_h/2"/>
                                          </p:val>
                                        </p:tav>
                                        <p:tav tm="100000">
                                          <p:val>
                                            <p:strVal val="#ppt_y"/>
                                          </p:val>
                                        </p:tav>
                                      </p:tavLst>
                                    </p:anim>
                                  </p:childTnLst>
                                </p:cTn>
                              </p:par>
                            </p:childTnLst>
                          </p:cTn>
                        </p:par>
                        <p:par>
                          <p:cTn id="47" fill="hold">
                            <p:stCondLst>
                              <p:cond delay="2400"/>
                            </p:stCondLst>
                            <p:childTnLst>
                              <p:par>
                                <p:cTn id="48" presetID="22" presetClass="entr" presetSubtype="4" fill="hold" nodeType="afterEffect">
                                  <p:stCondLst>
                                    <p:cond delay="0"/>
                                  </p:stCondLst>
                                  <p:childTnLst>
                                    <p:set>
                                      <p:cBhvr>
                                        <p:cTn id="49" dur="1" fill="hold">
                                          <p:stCondLst>
                                            <p:cond delay="0"/>
                                          </p:stCondLst>
                                        </p:cTn>
                                        <p:tgtEl>
                                          <p:spTgt spid="1034"/>
                                        </p:tgtEl>
                                        <p:attrNameLst>
                                          <p:attrName>style.visibility</p:attrName>
                                        </p:attrNameLst>
                                      </p:cBhvr>
                                      <p:to>
                                        <p:strVal val="visible"/>
                                      </p:to>
                                    </p:set>
                                    <p:animEffect transition="in" filter="wipe(down)">
                                      <p:cBhvr>
                                        <p:cTn id="50" dur="600"/>
                                        <p:tgtEl>
                                          <p:spTgt spid="1034"/>
                                        </p:tgtEl>
                                      </p:cBhvr>
                                    </p:animEffect>
                                  </p:childTnLst>
                                </p:cTn>
                              </p:par>
                            </p:childTnLst>
                          </p:cTn>
                        </p:par>
                        <p:par>
                          <p:cTn id="51" fill="hold">
                            <p:stCondLst>
                              <p:cond delay="3000"/>
                            </p:stCondLst>
                            <p:childTnLst>
                              <p:par>
                                <p:cTn id="52" presetID="2" presetClass="entr" presetSubtype="4" fill="hold" nodeType="afterEffect">
                                  <p:stCondLst>
                                    <p:cond delay="0"/>
                                  </p:stCondLst>
                                  <p:childTnLst>
                                    <p:set>
                                      <p:cBhvr>
                                        <p:cTn id="53" dur="1" fill="hold">
                                          <p:stCondLst>
                                            <p:cond delay="0"/>
                                          </p:stCondLst>
                                        </p:cTn>
                                        <p:tgtEl>
                                          <p:spTgt spid="1036"/>
                                        </p:tgtEl>
                                        <p:attrNameLst>
                                          <p:attrName>style.visibility</p:attrName>
                                        </p:attrNameLst>
                                      </p:cBhvr>
                                      <p:to>
                                        <p:strVal val="visible"/>
                                      </p:to>
                                    </p:set>
                                    <p:anim calcmode="lin" valueType="num">
                                      <p:cBhvr additive="base">
                                        <p:cTn id="54" dur="600" fill="hold"/>
                                        <p:tgtEl>
                                          <p:spTgt spid="1036"/>
                                        </p:tgtEl>
                                        <p:attrNameLst>
                                          <p:attrName>ppt_x</p:attrName>
                                        </p:attrNameLst>
                                      </p:cBhvr>
                                      <p:tavLst>
                                        <p:tav tm="0">
                                          <p:val>
                                            <p:strVal val="#ppt_x"/>
                                          </p:val>
                                        </p:tav>
                                        <p:tav tm="100000">
                                          <p:val>
                                            <p:strVal val="#ppt_x"/>
                                          </p:val>
                                        </p:tav>
                                      </p:tavLst>
                                    </p:anim>
                                    <p:anim calcmode="lin" valueType="num">
                                      <p:cBhvr additive="base">
                                        <p:cTn id="55" dur="600" fill="hold"/>
                                        <p:tgtEl>
                                          <p:spTgt spid="103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F002A28C-56FA-E521-0FC2-63279CB3FB62}"/>
              </a:ext>
            </a:extLst>
          </p:cNvPr>
          <p:cNvGrpSpPr/>
          <p:nvPr/>
        </p:nvGrpSpPr>
        <p:grpSpPr>
          <a:xfrm>
            <a:off x="6443514" y="1042219"/>
            <a:ext cx="2344557" cy="1753384"/>
            <a:chOff x="6443514" y="1042219"/>
            <a:chExt cx="2344557" cy="1753384"/>
          </a:xfrm>
        </p:grpSpPr>
        <p:sp>
          <p:nvSpPr>
            <p:cNvPr id="9" name="Rectangle 8">
              <a:extLst>
                <a:ext uri="{FF2B5EF4-FFF2-40B4-BE49-F238E27FC236}">
                  <a16:creationId xmlns:a16="http://schemas.microsoft.com/office/drawing/2014/main" id="{852D0837-FA47-23A1-4D66-49FE0D0063E9}"/>
                </a:ext>
              </a:extLst>
            </p:cNvPr>
            <p:cNvSpPr/>
            <p:nvPr/>
          </p:nvSpPr>
          <p:spPr>
            <a:xfrm>
              <a:off x="6443514" y="1042219"/>
              <a:ext cx="2344557" cy="1287166"/>
            </a:xfrm>
            <a:prstGeom prst="rect">
              <a:avLst/>
            </a:prstGeom>
            <a:solidFill>
              <a:srgbClr val="33CCFF"/>
            </a:solidFill>
            <a:scene3d>
              <a:camera prst="orthographicFront"/>
              <a:lightRig rig="threePt" dir="t"/>
            </a:scene3d>
            <a:sp3d>
              <a:bevelT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000" dirty="0"/>
                <a:t>S</a:t>
              </a:r>
              <a:endParaRPr lang="el-GR" sz="5000" dirty="0"/>
            </a:p>
          </p:txBody>
        </p:sp>
        <p:sp>
          <p:nvSpPr>
            <p:cNvPr id="10" name="Rectangle 9">
              <a:extLst>
                <a:ext uri="{FF2B5EF4-FFF2-40B4-BE49-F238E27FC236}">
                  <a16:creationId xmlns:a16="http://schemas.microsoft.com/office/drawing/2014/main" id="{DF5F568F-E2AE-809A-E43F-7C39FF59CE43}"/>
                </a:ext>
              </a:extLst>
            </p:cNvPr>
            <p:cNvSpPr/>
            <p:nvPr/>
          </p:nvSpPr>
          <p:spPr>
            <a:xfrm>
              <a:off x="6443514" y="2461142"/>
              <a:ext cx="2344557" cy="334461"/>
            </a:xfrm>
            <a:prstGeom prst="rect">
              <a:avLst/>
            </a:prstGeom>
            <a:solidFill>
              <a:srgbClr val="33CCFF"/>
            </a:solidFill>
            <a:scene3d>
              <a:camera prst="orthographicFront"/>
              <a:lightRig rig="threePt" dir="t"/>
            </a:scene3d>
            <a:sp3d>
              <a:bevelT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SOCIAL</a:t>
              </a:r>
              <a:endParaRPr lang="el-GR" b="1" dirty="0"/>
            </a:p>
          </p:txBody>
        </p:sp>
      </p:grpSp>
      <p:grpSp>
        <p:nvGrpSpPr>
          <p:cNvPr id="19" name="Group 18">
            <a:extLst>
              <a:ext uri="{FF2B5EF4-FFF2-40B4-BE49-F238E27FC236}">
                <a16:creationId xmlns:a16="http://schemas.microsoft.com/office/drawing/2014/main" id="{8AE80992-62A3-886C-6A66-9427FB73BBCA}"/>
              </a:ext>
            </a:extLst>
          </p:cNvPr>
          <p:cNvGrpSpPr/>
          <p:nvPr/>
        </p:nvGrpSpPr>
        <p:grpSpPr>
          <a:xfrm>
            <a:off x="9263873" y="1102447"/>
            <a:ext cx="2377440" cy="1753384"/>
            <a:chOff x="9263873" y="1102447"/>
            <a:chExt cx="2377440" cy="1753384"/>
          </a:xfrm>
        </p:grpSpPr>
        <p:sp>
          <p:nvSpPr>
            <p:cNvPr id="12" name="Rectangle 11">
              <a:extLst>
                <a:ext uri="{FF2B5EF4-FFF2-40B4-BE49-F238E27FC236}">
                  <a16:creationId xmlns:a16="http://schemas.microsoft.com/office/drawing/2014/main" id="{3288D60B-F046-8737-F085-6AEBEA5627C4}"/>
                </a:ext>
              </a:extLst>
            </p:cNvPr>
            <p:cNvSpPr/>
            <p:nvPr/>
          </p:nvSpPr>
          <p:spPr>
            <a:xfrm>
              <a:off x="9263873" y="1102447"/>
              <a:ext cx="2377440" cy="1287166"/>
            </a:xfrm>
            <a:prstGeom prst="rect">
              <a:avLst/>
            </a:prstGeom>
            <a:solidFill>
              <a:srgbClr val="468BBA"/>
            </a:solidFill>
            <a:scene3d>
              <a:camera prst="orthographicFront"/>
              <a:lightRig rig="threePt" dir="t"/>
            </a:scene3d>
            <a:sp3d>
              <a:bevelT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000" dirty="0"/>
                <a:t>T</a:t>
              </a:r>
              <a:endParaRPr lang="el-GR" sz="5000" dirty="0"/>
            </a:p>
          </p:txBody>
        </p:sp>
        <p:sp>
          <p:nvSpPr>
            <p:cNvPr id="13" name="Rectangle 12">
              <a:extLst>
                <a:ext uri="{FF2B5EF4-FFF2-40B4-BE49-F238E27FC236}">
                  <a16:creationId xmlns:a16="http://schemas.microsoft.com/office/drawing/2014/main" id="{0EDFBADC-EEAA-B3D2-EA2F-55B735D8EA5B}"/>
                </a:ext>
              </a:extLst>
            </p:cNvPr>
            <p:cNvSpPr/>
            <p:nvPr/>
          </p:nvSpPr>
          <p:spPr>
            <a:xfrm>
              <a:off x="9263873" y="2521370"/>
              <a:ext cx="2377440" cy="334461"/>
            </a:xfrm>
            <a:prstGeom prst="rect">
              <a:avLst/>
            </a:prstGeom>
            <a:solidFill>
              <a:srgbClr val="468BBA"/>
            </a:solidFill>
            <a:scene3d>
              <a:camera prst="orthographicFront"/>
              <a:lightRig rig="threePt" dir="t"/>
            </a:scene3d>
            <a:sp3d>
              <a:bevelT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TECHNOLOGICAL</a:t>
              </a:r>
              <a:endParaRPr lang="el-GR" b="1" dirty="0"/>
            </a:p>
          </p:txBody>
        </p:sp>
      </p:grpSp>
      <p:sp>
        <p:nvSpPr>
          <p:cNvPr id="25" name="Free-form: Shape 24">
            <a:extLst>
              <a:ext uri="{FF2B5EF4-FFF2-40B4-BE49-F238E27FC236}">
                <a16:creationId xmlns:a16="http://schemas.microsoft.com/office/drawing/2014/main" id="{426E8CEF-2BFE-268F-5872-1A3BFDE3D07B}"/>
              </a:ext>
            </a:extLst>
          </p:cNvPr>
          <p:cNvSpPr/>
          <p:nvPr/>
        </p:nvSpPr>
        <p:spPr>
          <a:xfrm>
            <a:off x="3164511" y="128912"/>
            <a:ext cx="5084754" cy="446276"/>
          </a:xfrm>
          <a:custGeom>
            <a:avLst/>
            <a:gdLst/>
            <a:ahLst/>
            <a:cxnLst/>
            <a:rect l="l" t="t" r="r" b="b"/>
            <a:pathLst>
              <a:path w="5084754" h="446276">
                <a:moveTo>
                  <a:pt x="3365093" y="227932"/>
                </a:moveTo>
                <a:lnTo>
                  <a:pt x="3396812" y="227932"/>
                </a:lnTo>
                <a:cubicBezTo>
                  <a:pt x="3406711" y="227932"/>
                  <a:pt x="3414882" y="229782"/>
                  <a:pt x="3421322" y="233483"/>
                </a:cubicBezTo>
                <a:cubicBezTo>
                  <a:pt x="3427761" y="237184"/>
                  <a:pt x="3430982" y="243359"/>
                  <a:pt x="3430982" y="252010"/>
                </a:cubicBezTo>
                <a:cubicBezTo>
                  <a:pt x="3430982" y="258738"/>
                  <a:pt x="3429468" y="264097"/>
                  <a:pt x="3426440" y="268086"/>
                </a:cubicBezTo>
                <a:cubicBezTo>
                  <a:pt x="3423412" y="272074"/>
                  <a:pt x="3419303" y="274862"/>
                  <a:pt x="3414113" y="276448"/>
                </a:cubicBezTo>
                <a:cubicBezTo>
                  <a:pt x="3408922" y="278034"/>
                  <a:pt x="3403155" y="278827"/>
                  <a:pt x="3396812" y="278827"/>
                </a:cubicBezTo>
                <a:lnTo>
                  <a:pt x="3365093" y="278827"/>
                </a:lnTo>
                <a:close/>
                <a:moveTo>
                  <a:pt x="3573750" y="158439"/>
                </a:moveTo>
                <a:lnTo>
                  <a:pt x="3598981" y="236150"/>
                </a:lnTo>
                <a:lnTo>
                  <a:pt x="3548519" y="236150"/>
                </a:lnTo>
                <a:close/>
                <a:moveTo>
                  <a:pt x="573375" y="158439"/>
                </a:moveTo>
                <a:lnTo>
                  <a:pt x="598606" y="236150"/>
                </a:lnTo>
                <a:lnTo>
                  <a:pt x="548144" y="236150"/>
                </a:lnTo>
                <a:close/>
                <a:moveTo>
                  <a:pt x="182850" y="158439"/>
                </a:moveTo>
                <a:lnTo>
                  <a:pt x="208081" y="236150"/>
                </a:lnTo>
                <a:lnTo>
                  <a:pt x="157619" y="236150"/>
                </a:lnTo>
                <a:close/>
                <a:moveTo>
                  <a:pt x="3365093" y="151086"/>
                </a:moveTo>
                <a:lnTo>
                  <a:pt x="3390324" y="151086"/>
                </a:lnTo>
                <a:cubicBezTo>
                  <a:pt x="3395610" y="151086"/>
                  <a:pt x="3400320" y="151783"/>
                  <a:pt x="3404453" y="153176"/>
                </a:cubicBezTo>
                <a:cubicBezTo>
                  <a:pt x="3408586" y="154570"/>
                  <a:pt x="3411854" y="156877"/>
                  <a:pt x="3414257" y="160097"/>
                </a:cubicBezTo>
                <a:cubicBezTo>
                  <a:pt x="3416660" y="163317"/>
                  <a:pt x="3417861" y="167666"/>
                  <a:pt x="3417861" y="173145"/>
                </a:cubicBezTo>
                <a:cubicBezTo>
                  <a:pt x="3417861" y="180930"/>
                  <a:pt x="3415218" y="186842"/>
                  <a:pt x="3409932" y="190879"/>
                </a:cubicBezTo>
                <a:cubicBezTo>
                  <a:pt x="3404645" y="194916"/>
                  <a:pt x="3398109" y="196934"/>
                  <a:pt x="3390324" y="196934"/>
                </a:cubicBezTo>
                <a:lnTo>
                  <a:pt x="3365093" y="196934"/>
                </a:lnTo>
                <a:close/>
                <a:moveTo>
                  <a:pt x="3098393" y="151086"/>
                </a:moveTo>
                <a:lnTo>
                  <a:pt x="3130256" y="151086"/>
                </a:lnTo>
                <a:cubicBezTo>
                  <a:pt x="3139387" y="151086"/>
                  <a:pt x="3146932" y="153537"/>
                  <a:pt x="3152892" y="158439"/>
                </a:cubicBezTo>
                <a:cubicBezTo>
                  <a:pt x="3158851" y="163341"/>
                  <a:pt x="3161831" y="170886"/>
                  <a:pt x="3161831" y="181075"/>
                </a:cubicBezTo>
                <a:cubicBezTo>
                  <a:pt x="3161831" y="190879"/>
                  <a:pt x="3158923" y="198280"/>
                  <a:pt x="3153108" y="203278"/>
                </a:cubicBezTo>
                <a:cubicBezTo>
                  <a:pt x="3147292" y="208276"/>
                  <a:pt x="3139675" y="210775"/>
                  <a:pt x="3130256" y="210775"/>
                </a:cubicBezTo>
                <a:lnTo>
                  <a:pt x="3098393" y="210775"/>
                </a:lnTo>
                <a:close/>
                <a:moveTo>
                  <a:pt x="4715145" y="149500"/>
                </a:moveTo>
                <a:cubicBezTo>
                  <a:pt x="4727737" y="149500"/>
                  <a:pt x="4737877" y="152479"/>
                  <a:pt x="4745567" y="158439"/>
                </a:cubicBezTo>
                <a:cubicBezTo>
                  <a:pt x="4753256" y="164398"/>
                  <a:pt x="4758879" y="172376"/>
                  <a:pt x="4762435" y="182372"/>
                </a:cubicBezTo>
                <a:cubicBezTo>
                  <a:pt x="4765992" y="192368"/>
                  <a:pt x="4767770" y="203422"/>
                  <a:pt x="4767770" y="215533"/>
                </a:cubicBezTo>
                <a:cubicBezTo>
                  <a:pt x="4767770" y="227452"/>
                  <a:pt x="4765992" y="238409"/>
                  <a:pt x="4762435" y="248405"/>
                </a:cubicBezTo>
                <a:cubicBezTo>
                  <a:pt x="4758879" y="258402"/>
                  <a:pt x="4753256" y="266379"/>
                  <a:pt x="4745567" y="272339"/>
                </a:cubicBezTo>
                <a:cubicBezTo>
                  <a:pt x="4737877" y="278298"/>
                  <a:pt x="4727737" y="281278"/>
                  <a:pt x="4715145" y="281278"/>
                </a:cubicBezTo>
                <a:cubicBezTo>
                  <a:pt x="4702458" y="281278"/>
                  <a:pt x="4692245" y="278298"/>
                  <a:pt x="4684507" y="272339"/>
                </a:cubicBezTo>
                <a:cubicBezTo>
                  <a:pt x="4676770" y="266379"/>
                  <a:pt x="4671147" y="258402"/>
                  <a:pt x="4667639" y="248405"/>
                </a:cubicBezTo>
                <a:cubicBezTo>
                  <a:pt x="4664131" y="238409"/>
                  <a:pt x="4662376" y="227452"/>
                  <a:pt x="4662376" y="215533"/>
                </a:cubicBezTo>
                <a:cubicBezTo>
                  <a:pt x="4662376" y="203422"/>
                  <a:pt x="4664131" y="192368"/>
                  <a:pt x="4667639" y="182372"/>
                </a:cubicBezTo>
                <a:cubicBezTo>
                  <a:pt x="4671147" y="172376"/>
                  <a:pt x="4676770" y="164398"/>
                  <a:pt x="4684507" y="158439"/>
                </a:cubicBezTo>
                <a:cubicBezTo>
                  <a:pt x="4692245" y="152479"/>
                  <a:pt x="4702458" y="149500"/>
                  <a:pt x="4715145" y="149500"/>
                </a:cubicBezTo>
                <a:close/>
                <a:moveTo>
                  <a:pt x="4134120" y="149500"/>
                </a:moveTo>
                <a:cubicBezTo>
                  <a:pt x="4146711" y="149500"/>
                  <a:pt x="4156852" y="152479"/>
                  <a:pt x="4164541" y="158439"/>
                </a:cubicBezTo>
                <a:cubicBezTo>
                  <a:pt x="4172231" y="164398"/>
                  <a:pt x="4177854" y="172376"/>
                  <a:pt x="4181410" y="182372"/>
                </a:cubicBezTo>
                <a:cubicBezTo>
                  <a:pt x="4184967" y="192368"/>
                  <a:pt x="4186745" y="203422"/>
                  <a:pt x="4186745" y="215533"/>
                </a:cubicBezTo>
                <a:cubicBezTo>
                  <a:pt x="4186745" y="227452"/>
                  <a:pt x="4184967" y="238409"/>
                  <a:pt x="4181410" y="248405"/>
                </a:cubicBezTo>
                <a:cubicBezTo>
                  <a:pt x="4177854" y="258402"/>
                  <a:pt x="4172231" y="266379"/>
                  <a:pt x="4164541" y="272339"/>
                </a:cubicBezTo>
                <a:cubicBezTo>
                  <a:pt x="4156852" y="278298"/>
                  <a:pt x="4146711" y="281278"/>
                  <a:pt x="4134120" y="281278"/>
                </a:cubicBezTo>
                <a:cubicBezTo>
                  <a:pt x="4121432" y="281278"/>
                  <a:pt x="4111220" y="278298"/>
                  <a:pt x="4103482" y="272339"/>
                </a:cubicBezTo>
                <a:cubicBezTo>
                  <a:pt x="4095745" y="266379"/>
                  <a:pt x="4090122" y="258402"/>
                  <a:pt x="4086614" y="248405"/>
                </a:cubicBezTo>
                <a:cubicBezTo>
                  <a:pt x="4083105" y="238409"/>
                  <a:pt x="4081351" y="227452"/>
                  <a:pt x="4081351" y="215533"/>
                </a:cubicBezTo>
                <a:cubicBezTo>
                  <a:pt x="4081351" y="203422"/>
                  <a:pt x="4083105" y="192368"/>
                  <a:pt x="4086614" y="182372"/>
                </a:cubicBezTo>
                <a:cubicBezTo>
                  <a:pt x="4090122" y="172376"/>
                  <a:pt x="4095745" y="164398"/>
                  <a:pt x="4103482" y="158439"/>
                </a:cubicBezTo>
                <a:cubicBezTo>
                  <a:pt x="4111220" y="152479"/>
                  <a:pt x="4121432" y="149500"/>
                  <a:pt x="4134120" y="149500"/>
                </a:cubicBezTo>
                <a:close/>
                <a:moveTo>
                  <a:pt x="2324370" y="149500"/>
                </a:moveTo>
                <a:cubicBezTo>
                  <a:pt x="2336962" y="149500"/>
                  <a:pt x="2347102" y="152479"/>
                  <a:pt x="2354791" y="158439"/>
                </a:cubicBezTo>
                <a:cubicBezTo>
                  <a:pt x="2362481" y="164398"/>
                  <a:pt x="2368104" y="172376"/>
                  <a:pt x="2371660" y="182372"/>
                </a:cubicBezTo>
                <a:cubicBezTo>
                  <a:pt x="2375216" y="192368"/>
                  <a:pt x="2376995" y="203422"/>
                  <a:pt x="2376995" y="215533"/>
                </a:cubicBezTo>
                <a:cubicBezTo>
                  <a:pt x="2376995" y="227452"/>
                  <a:pt x="2375216" y="238409"/>
                  <a:pt x="2371660" y="248405"/>
                </a:cubicBezTo>
                <a:cubicBezTo>
                  <a:pt x="2368104" y="258402"/>
                  <a:pt x="2362481" y="266379"/>
                  <a:pt x="2354791" y="272339"/>
                </a:cubicBezTo>
                <a:cubicBezTo>
                  <a:pt x="2347102" y="278298"/>
                  <a:pt x="2336962" y="281278"/>
                  <a:pt x="2324370" y="281278"/>
                </a:cubicBezTo>
                <a:cubicBezTo>
                  <a:pt x="2311683" y="281278"/>
                  <a:pt x="2301470" y="278298"/>
                  <a:pt x="2293732" y="272339"/>
                </a:cubicBezTo>
                <a:cubicBezTo>
                  <a:pt x="2285995" y="266379"/>
                  <a:pt x="2280372" y="258402"/>
                  <a:pt x="2276864" y="248405"/>
                </a:cubicBezTo>
                <a:cubicBezTo>
                  <a:pt x="2273355" y="238409"/>
                  <a:pt x="2271601" y="227452"/>
                  <a:pt x="2271601" y="215533"/>
                </a:cubicBezTo>
                <a:cubicBezTo>
                  <a:pt x="2271601" y="203422"/>
                  <a:pt x="2273355" y="192368"/>
                  <a:pt x="2276864" y="182372"/>
                </a:cubicBezTo>
                <a:cubicBezTo>
                  <a:pt x="2280372" y="172376"/>
                  <a:pt x="2285995" y="164398"/>
                  <a:pt x="2293732" y="158439"/>
                </a:cubicBezTo>
                <a:cubicBezTo>
                  <a:pt x="2301470" y="152479"/>
                  <a:pt x="2311683" y="149500"/>
                  <a:pt x="2324370" y="149500"/>
                </a:cubicBezTo>
                <a:close/>
                <a:moveTo>
                  <a:pt x="4836757" y="118357"/>
                </a:moveTo>
                <a:lnTo>
                  <a:pt x="4836757" y="149788"/>
                </a:lnTo>
                <a:lnTo>
                  <a:pt x="4898320" y="209910"/>
                </a:lnTo>
                <a:lnTo>
                  <a:pt x="4832287" y="280989"/>
                </a:lnTo>
                <a:lnTo>
                  <a:pt x="4832287" y="312420"/>
                </a:lnTo>
                <a:lnTo>
                  <a:pt x="4974301" y="312420"/>
                </a:lnTo>
                <a:lnTo>
                  <a:pt x="4974301" y="278827"/>
                </a:lnTo>
                <a:lnTo>
                  <a:pt x="4879433" y="278683"/>
                </a:lnTo>
                <a:lnTo>
                  <a:pt x="4936816" y="217119"/>
                </a:lnTo>
                <a:lnTo>
                  <a:pt x="4936816" y="201115"/>
                </a:lnTo>
                <a:lnTo>
                  <a:pt x="4885056" y="152095"/>
                </a:lnTo>
                <a:lnTo>
                  <a:pt x="4964786" y="151951"/>
                </a:lnTo>
                <a:lnTo>
                  <a:pt x="4964786" y="118357"/>
                </a:lnTo>
                <a:close/>
                <a:moveTo>
                  <a:pt x="4456486" y="118357"/>
                </a:moveTo>
                <a:lnTo>
                  <a:pt x="4456486" y="152095"/>
                </a:lnTo>
                <a:lnTo>
                  <a:pt x="4508390" y="152095"/>
                </a:lnTo>
                <a:lnTo>
                  <a:pt x="4508390" y="312420"/>
                </a:lnTo>
                <a:lnTo>
                  <a:pt x="4548904" y="312420"/>
                </a:lnTo>
                <a:lnTo>
                  <a:pt x="4548904" y="152095"/>
                </a:lnTo>
                <a:lnTo>
                  <a:pt x="4600520" y="152095"/>
                </a:lnTo>
                <a:lnTo>
                  <a:pt x="4600520" y="118357"/>
                </a:lnTo>
                <a:close/>
                <a:moveTo>
                  <a:pt x="4267554" y="118357"/>
                </a:moveTo>
                <a:lnTo>
                  <a:pt x="4267554" y="312420"/>
                </a:lnTo>
                <a:lnTo>
                  <a:pt x="4305472" y="312420"/>
                </a:lnTo>
                <a:lnTo>
                  <a:pt x="4305472" y="180786"/>
                </a:lnTo>
                <a:lnTo>
                  <a:pt x="4394862" y="312420"/>
                </a:lnTo>
                <a:lnTo>
                  <a:pt x="4434655" y="312420"/>
                </a:lnTo>
                <a:lnTo>
                  <a:pt x="4434655" y="118357"/>
                </a:lnTo>
                <a:lnTo>
                  <a:pt x="4396448" y="118357"/>
                </a:lnTo>
                <a:lnTo>
                  <a:pt x="4396448" y="249126"/>
                </a:lnTo>
                <a:lnTo>
                  <a:pt x="4307203" y="118357"/>
                </a:lnTo>
                <a:close/>
                <a:moveTo>
                  <a:pt x="3552556" y="118357"/>
                </a:moveTo>
                <a:lnTo>
                  <a:pt x="3482774" y="312420"/>
                </a:lnTo>
                <a:lnTo>
                  <a:pt x="3524585" y="312420"/>
                </a:lnTo>
                <a:lnTo>
                  <a:pt x="3538859" y="269744"/>
                </a:lnTo>
                <a:lnTo>
                  <a:pt x="3608929" y="269744"/>
                </a:lnTo>
                <a:lnTo>
                  <a:pt x="3622770" y="312420"/>
                </a:lnTo>
                <a:lnTo>
                  <a:pt x="3663749" y="312420"/>
                </a:lnTo>
                <a:lnTo>
                  <a:pt x="3665014" y="312420"/>
                </a:lnTo>
                <a:lnTo>
                  <a:pt x="3707290" y="312420"/>
                </a:lnTo>
                <a:lnTo>
                  <a:pt x="3754725" y="162043"/>
                </a:lnTo>
                <a:lnTo>
                  <a:pt x="3801726" y="312420"/>
                </a:lnTo>
                <a:lnTo>
                  <a:pt x="3844724" y="312420"/>
                </a:lnTo>
                <a:lnTo>
                  <a:pt x="3844980" y="312420"/>
                </a:lnTo>
                <a:lnTo>
                  <a:pt x="3888265" y="312420"/>
                </a:lnTo>
                <a:lnTo>
                  <a:pt x="3935700" y="162043"/>
                </a:lnTo>
                <a:lnTo>
                  <a:pt x="3982701" y="312420"/>
                </a:lnTo>
                <a:lnTo>
                  <a:pt x="4025955" y="312420"/>
                </a:lnTo>
                <a:lnTo>
                  <a:pt x="3959921" y="118357"/>
                </a:lnTo>
                <a:lnTo>
                  <a:pt x="3912054" y="118357"/>
                </a:lnTo>
                <a:lnTo>
                  <a:pt x="3844853" y="312048"/>
                </a:lnTo>
                <a:lnTo>
                  <a:pt x="3778946" y="118357"/>
                </a:lnTo>
                <a:lnTo>
                  <a:pt x="3731079" y="118357"/>
                </a:lnTo>
                <a:lnTo>
                  <a:pt x="3664369" y="310631"/>
                </a:lnTo>
                <a:lnTo>
                  <a:pt x="3595088" y="118357"/>
                </a:lnTo>
                <a:close/>
                <a:moveTo>
                  <a:pt x="3324579" y="118357"/>
                </a:moveTo>
                <a:lnTo>
                  <a:pt x="3324579" y="312420"/>
                </a:lnTo>
                <a:lnTo>
                  <a:pt x="3398253" y="312420"/>
                </a:lnTo>
                <a:cubicBezTo>
                  <a:pt x="3413632" y="312420"/>
                  <a:pt x="3426824" y="310378"/>
                  <a:pt x="3437830" y="306292"/>
                </a:cubicBezTo>
                <a:cubicBezTo>
                  <a:pt x="3448836" y="302207"/>
                  <a:pt x="3457294" y="295960"/>
                  <a:pt x="3463205" y="287549"/>
                </a:cubicBezTo>
                <a:cubicBezTo>
                  <a:pt x="3469116" y="279139"/>
                  <a:pt x="3472072" y="268446"/>
                  <a:pt x="3472072" y="255470"/>
                </a:cubicBezTo>
                <a:cubicBezTo>
                  <a:pt x="3472072" y="243359"/>
                  <a:pt x="3468540" y="233171"/>
                  <a:pt x="3461475" y="224904"/>
                </a:cubicBezTo>
                <a:cubicBezTo>
                  <a:pt x="3454410" y="216638"/>
                  <a:pt x="3444150" y="211160"/>
                  <a:pt x="3430693" y="208468"/>
                </a:cubicBezTo>
                <a:cubicBezTo>
                  <a:pt x="3439248" y="205296"/>
                  <a:pt x="3446096" y="200130"/>
                  <a:pt x="3451238" y="192969"/>
                </a:cubicBezTo>
                <a:cubicBezTo>
                  <a:pt x="3456381" y="185808"/>
                  <a:pt x="3458952" y="177086"/>
                  <a:pt x="3458952" y="166801"/>
                </a:cubicBezTo>
                <a:cubicBezTo>
                  <a:pt x="3458952" y="150365"/>
                  <a:pt x="3452848" y="138182"/>
                  <a:pt x="3440641" y="130252"/>
                </a:cubicBezTo>
                <a:cubicBezTo>
                  <a:pt x="3428435" y="122322"/>
                  <a:pt x="3411854" y="118357"/>
                  <a:pt x="3390900" y="118357"/>
                </a:cubicBezTo>
                <a:close/>
                <a:moveTo>
                  <a:pt x="3238854" y="118357"/>
                </a:moveTo>
                <a:lnTo>
                  <a:pt x="3238854" y="312420"/>
                </a:lnTo>
                <a:lnTo>
                  <a:pt x="3279368" y="312420"/>
                </a:lnTo>
                <a:lnTo>
                  <a:pt x="3279368" y="118357"/>
                </a:lnTo>
                <a:close/>
                <a:moveTo>
                  <a:pt x="3057879" y="118357"/>
                </a:moveTo>
                <a:lnTo>
                  <a:pt x="3057879" y="312420"/>
                </a:lnTo>
                <a:lnTo>
                  <a:pt x="3098393" y="312420"/>
                </a:lnTo>
                <a:lnTo>
                  <a:pt x="3098393" y="243359"/>
                </a:lnTo>
                <a:lnTo>
                  <a:pt x="3134004" y="243359"/>
                </a:lnTo>
                <a:cubicBezTo>
                  <a:pt x="3146788" y="243359"/>
                  <a:pt x="3158442" y="241124"/>
                  <a:pt x="3168967" y="236655"/>
                </a:cubicBezTo>
                <a:cubicBezTo>
                  <a:pt x="3179492" y="232185"/>
                  <a:pt x="3187878" y="225337"/>
                  <a:pt x="3194126" y="216110"/>
                </a:cubicBezTo>
                <a:cubicBezTo>
                  <a:pt x="3200374" y="206882"/>
                  <a:pt x="3203498" y="195204"/>
                  <a:pt x="3203498" y="181075"/>
                </a:cubicBezTo>
                <a:cubicBezTo>
                  <a:pt x="3203498" y="166753"/>
                  <a:pt x="3200374" y="154978"/>
                  <a:pt x="3194126" y="145751"/>
                </a:cubicBezTo>
                <a:cubicBezTo>
                  <a:pt x="3187878" y="136524"/>
                  <a:pt x="3179492" y="129651"/>
                  <a:pt x="3168967" y="125134"/>
                </a:cubicBezTo>
                <a:cubicBezTo>
                  <a:pt x="3158442" y="120616"/>
                  <a:pt x="3146788" y="118357"/>
                  <a:pt x="3134004" y="118357"/>
                </a:cubicBezTo>
                <a:close/>
                <a:moveTo>
                  <a:pt x="2886429" y="118357"/>
                </a:moveTo>
                <a:lnTo>
                  <a:pt x="2886429" y="312420"/>
                </a:lnTo>
                <a:lnTo>
                  <a:pt x="3016621" y="312420"/>
                </a:lnTo>
                <a:lnTo>
                  <a:pt x="3016621" y="278827"/>
                </a:lnTo>
                <a:lnTo>
                  <a:pt x="2926943" y="278827"/>
                </a:lnTo>
                <a:lnTo>
                  <a:pt x="2926943" y="229518"/>
                </a:lnTo>
                <a:lnTo>
                  <a:pt x="3008258" y="229518"/>
                </a:lnTo>
                <a:lnTo>
                  <a:pt x="3008258" y="197078"/>
                </a:lnTo>
                <a:lnTo>
                  <a:pt x="2926943" y="197078"/>
                </a:lnTo>
                <a:lnTo>
                  <a:pt x="2926943" y="151951"/>
                </a:lnTo>
                <a:lnTo>
                  <a:pt x="3016621" y="151951"/>
                </a:lnTo>
                <a:lnTo>
                  <a:pt x="3016621" y="118357"/>
                </a:lnTo>
                <a:close/>
                <a:moveTo>
                  <a:pt x="2676879" y="118357"/>
                </a:moveTo>
                <a:lnTo>
                  <a:pt x="2676879" y="312420"/>
                </a:lnTo>
                <a:lnTo>
                  <a:pt x="2717393" y="312420"/>
                </a:lnTo>
                <a:lnTo>
                  <a:pt x="2717393" y="152239"/>
                </a:lnTo>
                <a:lnTo>
                  <a:pt x="2802457" y="152239"/>
                </a:lnTo>
                <a:lnTo>
                  <a:pt x="2802457" y="312420"/>
                </a:lnTo>
                <a:lnTo>
                  <a:pt x="2842971" y="312420"/>
                </a:lnTo>
                <a:lnTo>
                  <a:pt x="2842971" y="118357"/>
                </a:lnTo>
                <a:close/>
                <a:moveTo>
                  <a:pt x="2434591" y="118357"/>
                </a:moveTo>
                <a:lnTo>
                  <a:pt x="2500336" y="239899"/>
                </a:lnTo>
                <a:lnTo>
                  <a:pt x="2500336" y="312420"/>
                </a:lnTo>
                <a:lnTo>
                  <a:pt x="2541859" y="312420"/>
                </a:lnTo>
                <a:lnTo>
                  <a:pt x="2541859" y="239899"/>
                </a:lnTo>
                <a:lnTo>
                  <a:pt x="2607604" y="118357"/>
                </a:lnTo>
                <a:lnTo>
                  <a:pt x="2562621" y="118357"/>
                </a:lnTo>
                <a:lnTo>
                  <a:pt x="2521098" y="202701"/>
                </a:lnTo>
                <a:lnTo>
                  <a:pt x="2479574" y="118357"/>
                </a:lnTo>
                <a:close/>
                <a:moveTo>
                  <a:pt x="2057754" y="118357"/>
                </a:moveTo>
                <a:lnTo>
                  <a:pt x="2057754" y="312420"/>
                </a:lnTo>
                <a:lnTo>
                  <a:pt x="2098268" y="312420"/>
                </a:lnTo>
                <a:lnTo>
                  <a:pt x="2098268" y="213082"/>
                </a:lnTo>
                <a:lnTo>
                  <a:pt x="2170645" y="312420"/>
                </a:lnTo>
                <a:lnTo>
                  <a:pt x="2217502" y="312420"/>
                </a:lnTo>
                <a:lnTo>
                  <a:pt x="2140944" y="209333"/>
                </a:lnTo>
                <a:lnTo>
                  <a:pt x="2212744" y="118357"/>
                </a:lnTo>
                <a:lnTo>
                  <a:pt x="2167905" y="118357"/>
                </a:lnTo>
                <a:lnTo>
                  <a:pt x="2098268" y="210919"/>
                </a:lnTo>
                <a:lnTo>
                  <a:pt x="2098268" y="118357"/>
                </a:lnTo>
                <a:close/>
                <a:moveTo>
                  <a:pt x="1972029" y="118357"/>
                </a:moveTo>
                <a:lnTo>
                  <a:pt x="1972029" y="312420"/>
                </a:lnTo>
                <a:lnTo>
                  <a:pt x="2012543" y="312420"/>
                </a:lnTo>
                <a:lnTo>
                  <a:pt x="2012543" y="118357"/>
                </a:lnTo>
                <a:close/>
                <a:moveTo>
                  <a:pt x="1762479" y="118357"/>
                </a:moveTo>
                <a:lnTo>
                  <a:pt x="1762479" y="312420"/>
                </a:lnTo>
                <a:lnTo>
                  <a:pt x="1800397" y="312420"/>
                </a:lnTo>
                <a:lnTo>
                  <a:pt x="1800397" y="180786"/>
                </a:lnTo>
                <a:lnTo>
                  <a:pt x="1889787" y="312420"/>
                </a:lnTo>
                <a:lnTo>
                  <a:pt x="1929580" y="312420"/>
                </a:lnTo>
                <a:lnTo>
                  <a:pt x="1929580" y="118357"/>
                </a:lnTo>
                <a:lnTo>
                  <a:pt x="1891373" y="118357"/>
                </a:lnTo>
                <a:lnTo>
                  <a:pt x="1891373" y="249126"/>
                </a:lnTo>
                <a:lnTo>
                  <a:pt x="1802128" y="118357"/>
                </a:lnTo>
                <a:close/>
                <a:moveTo>
                  <a:pt x="1591029" y="118357"/>
                </a:moveTo>
                <a:lnTo>
                  <a:pt x="1591029" y="312420"/>
                </a:lnTo>
                <a:lnTo>
                  <a:pt x="1721221" y="312420"/>
                </a:lnTo>
                <a:lnTo>
                  <a:pt x="1721221" y="278827"/>
                </a:lnTo>
                <a:lnTo>
                  <a:pt x="1631543" y="278827"/>
                </a:lnTo>
                <a:lnTo>
                  <a:pt x="1631543" y="229518"/>
                </a:lnTo>
                <a:lnTo>
                  <a:pt x="1712859" y="229518"/>
                </a:lnTo>
                <a:lnTo>
                  <a:pt x="1712859" y="197078"/>
                </a:lnTo>
                <a:lnTo>
                  <a:pt x="1631543" y="197078"/>
                </a:lnTo>
                <a:lnTo>
                  <a:pt x="1631543" y="151951"/>
                </a:lnTo>
                <a:lnTo>
                  <a:pt x="1721221" y="151951"/>
                </a:lnTo>
                <a:lnTo>
                  <a:pt x="1721221" y="118357"/>
                </a:lnTo>
                <a:close/>
                <a:moveTo>
                  <a:pt x="1448154" y="118357"/>
                </a:moveTo>
                <a:lnTo>
                  <a:pt x="1448154" y="312420"/>
                </a:lnTo>
                <a:lnTo>
                  <a:pt x="1488668" y="312420"/>
                </a:lnTo>
                <a:lnTo>
                  <a:pt x="1488668" y="152095"/>
                </a:lnTo>
                <a:lnTo>
                  <a:pt x="1562919" y="152095"/>
                </a:lnTo>
                <a:lnTo>
                  <a:pt x="1562919" y="118357"/>
                </a:lnTo>
                <a:close/>
                <a:moveTo>
                  <a:pt x="1171929" y="118357"/>
                </a:moveTo>
                <a:lnTo>
                  <a:pt x="1171929" y="312420"/>
                </a:lnTo>
                <a:lnTo>
                  <a:pt x="1212443" y="312420"/>
                </a:lnTo>
                <a:lnTo>
                  <a:pt x="1212443" y="229951"/>
                </a:lnTo>
                <a:lnTo>
                  <a:pt x="1300391" y="229951"/>
                </a:lnTo>
                <a:lnTo>
                  <a:pt x="1300391" y="312420"/>
                </a:lnTo>
                <a:lnTo>
                  <a:pt x="1340905" y="312420"/>
                </a:lnTo>
                <a:lnTo>
                  <a:pt x="1340905" y="118357"/>
                </a:lnTo>
                <a:lnTo>
                  <a:pt x="1300391" y="118357"/>
                </a:lnTo>
                <a:lnTo>
                  <a:pt x="1300391" y="194195"/>
                </a:lnTo>
                <a:lnTo>
                  <a:pt x="1212443" y="194195"/>
                </a:lnTo>
                <a:lnTo>
                  <a:pt x="1212443" y="118357"/>
                </a:lnTo>
                <a:close/>
                <a:moveTo>
                  <a:pt x="1007706" y="118357"/>
                </a:moveTo>
                <a:lnTo>
                  <a:pt x="1007706" y="149788"/>
                </a:lnTo>
                <a:lnTo>
                  <a:pt x="1069270" y="209910"/>
                </a:lnTo>
                <a:lnTo>
                  <a:pt x="1003237" y="280989"/>
                </a:lnTo>
                <a:lnTo>
                  <a:pt x="1003237" y="312420"/>
                </a:lnTo>
                <a:lnTo>
                  <a:pt x="1145251" y="312420"/>
                </a:lnTo>
                <a:lnTo>
                  <a:pt x="1145251" y="278827"/>
                </a:lnTo>
                <a:lnTo>
                  <a:pt x="1050383" y="278683"/>
                </a:lnTo>
                <a:lnTo>
                  <a:pt x="1107765" y="217119"/>
                </a:lnTo>
                <a:lnTo>
                  <a:pt x="1107765" y="201115"/>
                </a:lnTo>
                <a:lnTo>
                  <a:pt x="1056006" y="152095"/>
                </a:lnTo>
                <a:lnTo>
                  <a:pt x="1135736" y="151951"/>
                </a:lnTo>
                <a:lnTo>
                  <a:pt x="1135736" y="118357"/>
                </a:lnTo>
                <a:close/>
                <a:moveTo>
                  <a:pt x="824866" y="118357"/>
                </a:moveTo>
                <a:lnTo>
                  <a:pt x="890611" y="239899"/>
                </a:lnTo>
                <a:lnTo>
                  <a:pt x="890611" y="312420"/>
                </a:lnTo>
                <a:lnTo>
                  <a:pt x="932134" y="312420"/>
                </a:lnTo>
                <a:lnTo>
                  <a:pt x="932134" y="239899"/>
                </a:lnTo>
                <a:lnTo>
                  <a:pt x="997879" y="118357"/>
                </a:lnTo>
                <a:lnTo>
                  <a:pt x="952896" y="118357"/>
                </a:lnTo>
                <a:lnTo>
                  <a:pt x="911373" y="202701"/>
                </a:lnTo>
                <a:lnTo>
                  <a:pt x="869850" y="118357"/>
                </a:lnTo>
                <a:close/>
                <a:moveTo>
                  <a:pt x="552181" y="118357"/>
                </a:moveTo>
                <a:lnTo>
                  <a:pt x="482399" y="312420"/>
                </a:lnTo>
                <a:lnTo>
                  <a:pt x="524210" y="312420"/>
                </a:lnTo>
                <a:lnTo>
                  <a:pt x="538484" y="269744"/>
                </a:lnTo>
                <a:lnTo>
                  <a:pt x="608554" y="269744"/>
                </a:lnTo>
                <a:lnTo>
                  <a:pt x="622395" y="312420"/>
                </a:lnTo>
                <a:lnTo>
                  <a:pt x="663374" y="312420"/>
                </a:lnTo>
                <a:lnTo>
                  <a:pt x="664639" y="312420"/>
                </a:lnTo>
                <a:lnTo>
                  <a:pt x="706915" y="312420"/>
                </a:lnTo>
                <a:lnTo>
                  <a:pt x="754350" y="162043"/>
                </a:lnTo>
                <a:lnTo>
                  <a:pt x="801351" y="312420"/>
                </a:lnTo>
                <a:lnTo>
                  <a:pt x="844605" y="312420"/>
                </a:lnTo>
                <a:lnTo>
                  <a:pt x="778571" y="118357"/>
                </a:lnTo>
                <a:lnTo>
                  <a:pt x="730705" y="118357"/>
                </a:lnTo>
                <a:lnTo>
                  <a:pt x="663994" y="310631"/>
                </a:lnTo>
                <a:lnTo>
                  <a:pt x="594713" y="118357"/>
                </a:lnTo>
                <a:close/>
                <a:moveTo>
                  <a:pt x="295629" y="118357"/>
                </a:moveTo>
                <a:lnTo>
                  <a:pt x="295629" y="312420"/>
                </a:lnTo>
                <a:lnTo>
                  <a:pt x="333547" y="312420"/>
                </a:lnTo>
                <a:lnTo>
                  <a:pt x="333547" y="180786"/>
                </a:lnTo>
                <a:lnTo>
                  <a:pt x="422937" y="312420"/>
                </a:lnTo>
                <a:lnTo>
                  <a:pt x="462730" y="312420"/>
                </a:lnTo>
                <a:lnTo>
                  <a:pt x="462730" y="118357"/>
                </a:lnTo>
                <a:lnTo>
                  <a:pt x="424523" y="118357"/>
                </a:lnTo>
                <a:lnTo>
                  <a:pt x="424523" y="249126"/>
                </a:lnTo>
                <a:lnTo>
                  <a:pt x="335278" y="118357"/>
                </a:lnTo>
                <a:close/>
                <a:moveTo>
                  <a:pt x="161656" y="118357"/>
                </a:moveTo>
                <a:lnTo>
                  <a:pt x="91874" y="312420"/>
                </a:lnTo>
                <a:lnTo>
                  <a:pt x="133685" y="312420"/>
                </a:lnTo>
                <a:lnTo>
                  <a:pt x="147959" y="269744"/>
                </a:lnTo>
                <a:lnTo>
                  <a:pt x="218029" y="269744"/>
                </a:lnTo>
                <a:lnTo>
                  <a:pt x="231870" y="312420"/>
                </a:lnTo>
                <a:lnTo>
                  <a:pt x="274114" y="312420"/>
                </a:lnTo>
                <a:lnTo>
                  <a:pt x="204188" y="118357"/>
                </a:lnTo>
                <a:close/>
                <a:moveTo>
                  <a:pt x="4715145" y="115762"/>
                </a:moveTo>
                <a:cubicBezTo>
                  <a:pt x="4694864" y="115762"/>
                  <a:pt x="4677683" y="119871"/>
                  <a:pt x="4663602" y="128089"/>
                </a:cubicBezTo>
                <a:cubicBezTo>
                  <a:pt x="4649520" y="136308"/>
                  <a:pt x="4638827" y="147890"/>
                  <a:pt x="4631522" y="162836"/>
                </a:cubicBezTo>
                <a:cubicBezTo>
                  <a:pt x="4624217" y="177783"/>
                  <a:pt x="4620565" y="195348"/>
                  <a:pt x="4620565" y="215533"/>
                </a:cubicBezTo>
                <a:cubicBezTo>
                  <a:pt x="4620565" y="235718"/>
                  <a:pt x="4624217" y="253235"/>
                  <a:pt x="4631522" y="268086"/>
                </a:cubicBezTo>
                <a:cubicBezTo>
                  <a:pt x="4638827" y="282936"/>
                  <a:pt x="4649520" y="294470"/>
                  <a:pt x="4663602" y="302688"/>
                </a:cubicBezTo>
                <a:cubicBezTo>
                  <a:pt x="4677683" y="310906"/>
                  <a:pt x="4694864" y="315015"/>
                  <a:pt x="4715145" y="315015"/>
                </a:cubicBezTo>
                <a:cubicBezTo>
                  <a:pt x="4735426" y="315015"/>
                  <a:pt x="4752583" y="310906"/>
                  <a:pt x="4766616" y="302688"/>
                </a:cubicBezTo>
                <a:cubicBezTo>
                  <a:pt x="4780650" y="294470"/>
                  <a:pt x="4791319" y="282936"/>
                  <a:pt x="4798624" y="268086"/>
                </a:cubicBezTo>
                <a:cubicBezTo>
                  <a:pt x="4805929" y="253235"/>
                  <a:pt x="4809581" y="235718"/>
                  <a:pt x="4809581" y="215533"/>
                </a:cubicBezTo>
                <a:cubicBezTo>
                  <a:pt x="4809581" y="195348"/>
                  <a:pt x="4805929" y="177783"/>
                  <a:pt x="4798624" y="162836"/>
                </a:cubicBezTo>
                <a:cubicBezTo>
                  <a:pt x="4791319" y="147890"/>
                  <a:pt x="4780650" y="136308"/>
                  <a:pt x="4766616" y="128089"/>
                </a:cubicBezTo>
                <a:cubicBezTo>
                  <a:pt x="4752583" y="119871"/>
                  <a:pt x="4735426" y="115762"/>
                  <a:pt x="4715145" y="115762"/>
                </a:cubicBezTo>
                <a:close/>
                <a:moveTo>
                  <a:pt x="4134120" y="115762"/>
                </a:moveTo>
                <a:cubicBezTo>
                  <a:pt x="4113839" y="115762"/>
                  <a:pt x="4096658" y="119871"/>
                  <a:pt x="4082577" y="128089"/>
                </a:cubicBezTo>
                <a:cubicBezTo>
                  <a:pt x="4068495" y="136308"/>
                  <a:pt x="4057802" y="147890"/>
                  <a:pt x="4050497" y="162836"/>
                </a:cubicBezTo>
                <a:cubicBezTo>
                  <a:pt x="4043192" y="177783"/>
                  <a:pt x="4039540" y="195348"/>
                  <a:pt x="4039540" y="215533"/>
                </a:cubicBezTo>
                <a:cubicBezTo>
                  <a:pt x="4039540" y="235718"/>
                  <a:pt x="4043192" y="253235"/>
                  <a:pt x="4050497" y="268086"/>
                </a:cubicBezTo>
                <a:cubicBezTo>
                  <a:pt x="4057802" y="282936"/>
                  <a:pt x="4068495" y="294470"/>
                  <a:pt x="4082577" y="302688"/>
                </a:cubicBezTo>
                <a:cubicBezTo>
                  <a:pt x="4096658" y="310906"/>
                  <a:pt x="4113839" y="315015"/>
                  <a:pt x="4134120" y="315015"/>
                </a:cubicBezTo>
                <a:cubicBezTo>
                  <a:pt x="4154401" y="315015"/>
                  <a:pt x="4171558" y="310906"/>
                  <a:pt x="4185591" y="302688"/>
                </a:cubicBezTo>
                <a:cubicBezTo>
                  <a:pt x="4199625" y="294470"/>
                  <a:pt x="4210294" y="282936"/>
                  <a:pt x="4217599" y="268086"/>
                </a:cubicBezTo>
                <a:cubicBezTo>
                  <a:pt x="4224904" y="253235"/>
                  <a:pt x="4228556" y="235718"/>
                  <a:pt x="4228556" y="215533"/>
                </a:cubicBezTo>
                <a:cubicBezTo>
                  <a:pt x="4228556" y="195348"/>
                  <a:pt x="4224904" y="177783"/>
                  <a:pt x="4217599" y="162836"/>
                </a:cubicBezTo>
                <a:cubicBezTo>
                  <a:pt x="4210294" y="147890"/>
                  <a:pt x="4199625" y="136308"/>
                  <a:pt x="4185591" y="128089"/>
                </a:cubicBezTo>
                <a:cubicBezTo>
                  <a:pt x="4171558" y="119871"/>
                  <a:pt x="4154401" y="115762"/>
                  <a:pt x="4134120" y="115762"/>
                </a:cubicBezTo>
                <a:close/>
                <a:moveTo>
                  <a:pt x="2324370" y="115762"/>
                </a:moveTo>
                <a:cubicBezTo>
                  <a:pt x="2304089" y="115762"/>
                  <a:pt x="2286908" y="119871"/>
                  <a:pt x="2272827" y="128089"/>
                </a:cubicBezTo>
                <a:cubicBezTo>
                  <a:pt x="2258745" y="136308"/>
                  <a:pt x="2248052" y="147890"/>
                  <a:pt x="2240747" y="162836"/>
                </a:cubicBezTo>
                <a:cubicBezTo>
                  <a:pt x="2233442" y="177783"/>
                  <a:pt x="2229790" y="195348"/>
                  <a:pt x="2229790" y="215533"/>
                </a:cubicBezTo>
                <a:cubicBezTo>
                  <a:pt x="2229790" y="235718"/>
                  <a:pt x="2233442" y="253235"/>
                  <a:pt x="2240747" y="268086"/>
                </a:cubicBezTo>
                <a:cubicBezTo>
                  <a:pt x="2248052" y="282936"/>
                  <a:pt x="2258745" y="294470"/>
                  <a:pt x="2272827" y="302688"/>
                </a:cubicBezTo>
                <a:cubicBezTo>
                  <a:pt x="2286908" y="310906"/>
                  <a:pt x="2304089" y="315015"/>
                  <a:pt x="2324370" y="315015"/>
                </a:cubicBezTo>
                <a:cubicBezTo>
                  <a:pt x="2344651" y="315015"/>
                  <a:pt x="2361808" y="310906"/>
                  <a:pt x="2375841" y="302688"/>
                </a:cubicBezTo>
                <a:cubicBezTo>
                  <a:pt x="2389875" y="294470"/>
                  <a:pt x="2400544" y="282936"/>
                  <a:pt x="2407849" y="268086"/>
                </a:cubicBezTo>
                <a:cubicBezTo>
                  <a:pt x="2415154" y="253235"/>
                  <a:pt x="2418806" y="235718"/>
                  <a:pt x="2418806" y="215533"/>
                </a:cubicBezTo>
                <a:cubicBezTo>
                  <a:pt x="2418806" y="195348"/>
                  <a:pt x="2415154" y="177783"/>
                  <a:pt x="2407849" y="162836"/>
                </a:cubicBezTo>
                <a:cubicBezTo>
                  <a:pt x="2400544" y="147890"/>
                  <a:pt x="2389875" y="136308"/>
                  <a:pt x="2375841" y="128089"/>
                </a:cubicBezTo>
                <a:cubicBezTo>
                  <a:pt x="2361808" y="119871"/>
                  <a:pt x="2344651" y="115762"/>
                  <a:pt x="2324370" y="115762"/>
                </a:cubicBezTo>
                <a:close/>
                <a:moveTo>
                  <a:pt x="223138" y="0"/>
                </a:moveTo>
                <a:lnTo>
                  <a:pt x="4861616" y="0"/>
                </a:lnTo>
                <a:cubicBezTo>
                  <a:pt x="4984852" y="0"/>
                  <a:pt x="5084754" y="99902"/>
                  <a:pt x="5084754" y="223138"/>
                </a:cubicBezTo>
                <a:cubicBezTo>
                  <a:pt x="5084754" y="346374"/>
                  <a:pt x="4984852" y="446276"/>
                  <a:pt x="4861616" y="446276"/>
                </a:cubicBezTo>
                <a:lnTo>
                  <a:pt x="223138" y="446276"/>
                </a:lnTo>
                <a:cubicBezTo>
                  <a:pt x="99902" y="446276"/>
                  <a:pt x="0" y="346374"/>
                  <a:pt x="0" y="223138"/>
                </a:cubicBezTo>
                <a:cubicBezTo>
                  <a:pt x="0" y="99902"/>
                  <a:pt x="99902" y="0"/>
                  <a:pt x="223138" y="0"/>
                </a:cubicBezTo>
                <a:close/>
              </a:path>
            </a:pathLst>
          </a:cu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l-GR"/>
          </a:p>
        </p:txBody>
      </p:sp>
      <p:cxnSp>
        <p:nvCxnSpPr>
          <p:cNvPr id="28" name="Straight Arrow Connector 27">
            <a:extLst>
              <a:ext uri="{FF2B5EF4-FFF2-40B4-BE49-F238E27FC236}">
                <a16:creationId xmlns:a16="http://schemas.microsoft.com/office/drawing/2014/main" id="{E8188C7A-3F28-6321-36C5-F1A66EF53CA8}"/>
              </a:ext>
            </a:extLst>
          </p:cNvPr>
          <p:cNvCxnSpPr>
            <a:cxnSpLocks/>
            <a:endCxn id="6" idx="0"/>
          </p:cNvCxnSpPr>
          <p:nvPr/>
        </p:nvCxnSpPr>
        <p:spPr>
          <a:xfrm>
            <a:off x="4913182" y="569044"/>
            <a:ext cx="0" cy="500218"/>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2D2C92A4-3230-9072-8DDB-9A12D0F6FF94}"/>
              </a:ext>
            </a:extLst>
          </p:cNvPr>
          <p:cNvCxnSpPr>
            <a:cxnSpLocks/>
            <a:endCxn id="9" idx="0"/>
          </p:cNvCxnSpPr>
          <p:nvPr/>
        </p:nvCxnSpPr>
        <p:spPr>
          <a:xfrm>
            <a:off x="7615793" y="585637"/>
            <a:ext cx="0" cy="456582"/>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cxnSp>
        <p:nvCxnSpPr>
          <p:cNvPr id="36" name="Straight Arrow Connector 35">
            <a:extLst>
              <a:ext uri="{FF2B5EF4-FFF2-40B4-BE49-F238E27FC236}">
                <a16:creationId xmlns:a16="http://schemas.microsoft.com/office/drawing/2014/main" id="{CFC5AC63-6E4C-6D70-9162-17D7A2DBD128}"/>
              </a:ext>
            </a:extLst>
          </p:cNvPr>
          <p:cNvCxnSpPr>
            <a:cxnSpLocks/>
            <a:endCxn id="12" idx="0"/>
          </p:cNvCxnSpPr>
          <p:nvPr/>
        </p:nvCxnSpPr>
        <p:spPr>
          <a:xfrm>
            <a:off x="8249265" y="352050"/>
            <a:ext cx="2203328" cy="750397"/>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18C43FFC-3AB4-8B73-49BD-B7529E34F3AE}"/>
              </a:ext>
            </a:extLst>
          </p:cNvPr>
          <p:cNvCxnSpPr>
            <a:cxnSpLocks/>
            <a:endCxn id="2" idx="0"/>
          </p:cNvCxnSpPr>
          <p:nvPr/>
        </p:nvCxnSpPr>
        <p:spPr>
          <a:xfrm flipH="1">
            <a:off x="2108232" y="569044"/>
            <a:ext cx="1320031" cy="467031"/>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grpSp>
        <p:nvGrpSpPr>
          <p:cNvPr id="48" name="Group 47">
            <a:extLst>
              <a:ext uri="{FF2B5EF4-FFF2-40B4-BE49-F238E27FC236}">
                <a16:creationId xmlns:a16="http://schemas.microsoft.com/office/drawing/2014/main" id="{F9864812-08A6-1A79-DD91-FB9A5F2BD77F}"/>
              </a:ext>
            </a:extLst>
          </p:cNvPr>
          <p:cNvGrpSpPr/>
          <p:nvPr/>
        </p:nvGrpSpPr>
        <p:grpSpPr>
          <a:xfrm>
            <a:off x="951516" y="1036075"/>
            <a:ext cx="2313432" cy="1763359"/>
            <a:chOff x="1130709" y="1042220"/>
            <a:chExt cx="2103120" cy="1700980"/>
          </a:xfrm>
        </p:grpSpPr>
        <p:sp>
          <p:nvSpPr>
            <p:cNvPr id="2" name="Rectangle 1">
              <a:extLst>
                <a:ext uri="{FF2B5EF4-FFF2-40B4-BE49-F238E27FC236}">
                  <a16:creationId xmlns:a16="http://schemas.microsoft.com/office/drawing/2014/main" id="{0A22F20F-5ECF-323A-DBCC-A290711AF55A}"/>
                </a:ext>
              </a:extLst>
            </p:cNvPr>
            <p:cNvSpPr/>
            <p:nvPr/>
          </p:nvSpPr>
          <p:spPr>
            <a:xfrm>
              <a:off x="1130709" y="1042220"/>
              <a:ext cx="2103120" cy="1248696"/>
            </a:xfrm>
            <a:prstGeom prst="rect">
              <a:avLst/>
            </a:prstGeom>
            <a:solidFill>
              <a:srgbClr val="FF3300"/>
            </a:solidFill>
            <a:scene3d>
              <a:camera prst="orthographicFront"/>
              <a:lightRig rig="threePt" dir="t"/>
            </a:scene3d>
            <a:sp3d>
              <a:bevelT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000" dirty="0"/>
                <a:t>P</a:t>
              </a:r>
              <a:endParaRPr lang="el-GR" sz="5000" dirty="0"/>
            </a:p>
          </p:txBody>
        </p:sp>
        <p:sp>
          <p:nvSpPr>
            <p:cNvPr id="4" name="Rectangle 3">
              <a:extLst>
                <a:ext uri="{FF2B5EF4-FFF2-40B4-BE49-F238E27FC236}">
                  <a16:creationId xmlns:a16="http://schemas.microsoft.com/office/drawing/2014/main" id="{254075B1-3BC4-A290-EE06-00BFE24F592A}"/>
                </a:ext>
              </a:extLst>
            </p:cNvPr>
            <p:cNvSpPr/>
            <p:nvPr/>
          </p:nvSpPr>
          <p:spPr>
            <a:xfrm>
              <a:off x="1130709" y="2418735"/>
              <a:ext cx="2103120" cy="324465"/>
            </a:xfrm>
            <a:prstGeom prst="rect">
              <a:avLst/>
            </a:prstGeom>
            <a:solidFill>
              <a:srgbClr val="FF3300"/>
            </a:solidFill>
            <a:scene3d>
              <a:camera prst="orthographicFront"/>
              <a:lightRig rig="threePt" dir="t"/>
            </a:scene3d>
            <a:sp3d>
              <a:bevelT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POLITICAL</a:t>
              </a:r>
              <a:endParaRPr lang="el-GR" b="1" dirty="0"/>
            </a:p>
          </p:txBody>
        </p:sp>
      </p:grpSp>
      <p:grpSp>
        <p:nvGrpSpPr>
          <p:cNvPr id="46" name="Group 45">
            <a:extLst>
              <a:ext uri="{FF2B5EF4-FFF2-40B4-BE49-F238E27FC236}">
                <a16:creationId xmlns:a16="http://schemas.microsoft.com/office/drawing/2014/main" id="{73DBBE50-86EC-6A1C-6F7E-01ADC105FB0B}"/>
              </a:ext>
            </a:extLst>
          </p:cNvPr>
          <p:cNvGrpSpPr/>
          <p:nvPr/>
        </p:nvGrpSpPr>
        <p:grpSpPr>
          <a:xfrm>
            <a:off x="951516" y="2942135"/>
            <a:ext cx="2378326" cy="3874142"/>
            <a:chOff x="1130709" y="2979173"/>
            <a:chExt cx="2162114" cy="3303639"/>
          </a:xfrm>
        </p:grpSpPr>
        <p:sp>
          <p:nvSpPr>
            <p:cNvPr id="5" name="Rectangle 4">
              <a:extLst>
                <a:ext uri="{FF2B5EF4-FFF2-40B4-BE49-F238E27FC236}">
                  <a16:creationId xmlns:a16="http://schemas.microsoft.com/office/drawing/2014/main" id="{C9341C8E-7760-1C9C-532D-02B69FBC33D6}"/>
                </a:ext>
              </a:extLst>
            </p:cNvPr>
            <p:cNvSpPr/>
            <p:nvPr/>
          </p:nvSpPr>
          <p:spPr>
            <a:xfrm>
              <a:off x="1130709" y="2979173"/>
              <a:ext cx="2103120" cy="3303639"/>
            </a:xfrm>
            <a:prstGeom prst="rect">
              <a:avLst/>
            </a:prstGeom>
            <a:solidFill>
              <a:srgbClr val="FF0000">
                <a:alpha val="2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45" name="TextBox 44">
              <a:extLst>
                <a:ext uri="{FF2B5EF4-FFF2-40B4-BE49-F238E27FC236}">
                  <a16:creationId xmlns:a16="http://schemas.microsoft.com/office/drawing/2014/main" id="{BBACA13F-6506-42DD-9BD9-C137EB827795}"/>
                </a:ext>
              </a:extLst>
            </p:cNvPr>
            <p:cNvSpPr txBox="1"/>
            <p:nvPr/>
          </p:nvSpPr>
          <p:spPr>
            <a:xfrm>
              <a:off x="1130709" y="2979173"/>
              <a:ext cx="2162114" cy="3018217"/>
            </a:xfrm>
            <a:prstGeom prst="rect">
              <a:avLst/>
            </a:prstGeom>
            <a:noFill/>
          </p:spPr>
          <p:txBody>
            <a:bodyPr wrap="square" rtlCol="0">
              <a:spAutoFit/>
            </a:bodyPr>
            <a:lstStyle/>
            <a:p>
              <a:r>
                <a:rPr lang="el-GR" sz="1400" b="1" dirty="0"/>
                <a:t>Η κείμενη νομοθεσία δίνει έμφαση:</a:t>
              </a:r>
            </a:p>
            <a:p>
              <a:endParaRPr lang="el-GR" sz="1400" dirty="0"/>
            </a:p>
            <a:p>
              <a:pPr marL="285750" indent="-285750">
                <a:buFont typeface="Arial" panose="020B0604020202020204" pitchFamily="34" charset="0"/>
                <a:buChar char="•"/>
              </a:pPr>
              <a:r>
                <a:rPr lang="el-GR" sz="1400" dirty="0"/>
                <a:t>Στην ανθρώπινη υγεία και στην ασφάλεια των προϊόντων(</a:t>
              </a:r>
              <a:r>
                <a:rPr lang="el-GR" sz="1400" b="1" dirty="0"/>
                <a:t>Πακέτο</a:t>
              </a:r>
              <a:r>
                <a:rPr lang="el-GR" sz="1400" dirty="0"/>
                <a:t> </a:t>
              </a:r>
              <a:r>
                <a:rPr lang="el-GR" sz="1400" b="1" dirty="0"/>
                <a:t>Υγιεινής 2006</a:t>
              </a:r>
              <a:r>
                <a:rPr lang="el-GR" sz="1400" dirty="0"/>
                <a:t>)</a:t>
              </a:r>
            </a:p>
            <a:p>
              <a:pPr marL="285750" indent="-285750">
                <a:buFont typeface="Arial" panose="020B0604020202020204" pitchFamily="34" charset="0"/>
                <a:buChar char="•"/>
              </a:pPr>
              <a:r>
                <a:rPr lang="el-GR" sz="1400" dirty="0"/>
                <a:t>Στην </a:t>
              </a:r>
              <a:r>
                <a:rPr lang="el-GR" sz="1400" b="1" dirty="0"/>
                <a:t>σωστή</a:t>
              </a:r>
              <a:r>
                <a:rPr lang="el-GR" sz="1400" dirty="0"/>
                <a:t> </a:t>
              </a:r>
              <a:r>
                <a:rPr lang="el-GR" sz="1400" b="1" dirty="0"/>
                <a:t>μεταχείριση των γαλακτοπαραγωγών ζώων </a:t>
              </a:r>
            </a:p>
            <a:p>
              <a:pPr marL="285750" indent="-285750">
                <a:buFont typeface="Arial" panose="020B0604020202020204" pitchFamily="34" charset="0"/>
                <a:buChar char="•"/>
              </a:pPr>
              <a:r>
                <a:rPr lang="el-GR" sz="1400" dirty="0"/>
                <a:t>Σε κανόνες όσον αφορά το εμπόριο των γαλακτοκομικών</a:t>
              </a:r>
            </a:p>
            <a:p>
              <a:pPr marL="285750" indent="-285750">
                <a:buFont typeface="Arial" panose="020B0604020202020204" pitchFamily="34" charset="0"/>
                <a:buChar char="•"/>
              </a:pPr>
              <a:endParaRPr lang="el-GR" sz="1400" dirty="0"/>
            </a:p>
            <a:p>
              <a:pPr marL="285750" indent="-285750">
                <a:buFont typeface="Arial" panose="020B0604020202020204" pitchFamily="34" charset="0"/>
                <a:buChar char="•"/>
              </a:pPr>
              <a:endParaRPr lang="el-GR" sz="1400" dirty="0"/>
            </a:p>
          </p:txBody>
        </p:sp>
      </p:grpSp>
      <p:grpSp>
        <p:nvGrpSpPr>
          <p:cNvPr id="3" name="Group 2">
            <a:extLst>
              <a:ext uri="{FF2B5EF4-FFF2-40B4-BE49-F238E27FC236}">
                <a16:creationId xmlns:a16="http://schemas.microsoft.com/office/drawing/2014/main" id="{8C5D251A-9EC4-9C00-7B55-58775E5AB76F}"/>
              </a:ext>
            </a:extLst>
          </p:cNvPr>
          <p:cNvGrpSpPr/>
          <p:nvPr/>
        </p:nvGrpSpPr>
        <p:grpSpPr>
          <a:xfrm>
            <a:off x="3729993" y="1069262"/>
            <a:ext cx="2366377" cy="1735659"/>
            <a:chOff x="3729993" y="1069262"/>
            <a:chExt cx="2366377" cy="1735659"/>
          </a:xfrm>
        </p:grpSpPr>
        <p:sp>
          <p:nvSpPr>
            <p:cNvPr id="6" name="Rectangle 5">
              <a:extLst>
                <a:ext uri="{FF2B5EF4-FFF2-40B4-BE49-F238E27FC236}">
                  <a16:creationId xmlns:a16="http://schemas.microsoft.com/office/drawing/2014/main" id="{2CB3F101-C4BF-4B19-16D8-7FA6E9AF6F23}"/>
                </a:ext>
              </a:extLst>
            </p:cNvPr>
            <p:cNvSpPr/>
            <p:nvPr/>
          </p:nvSpPr>
          <p:spPr>
            <a:xfrm>
              <a:off x="3729993" y="1069262"/>
              <a:ext cx="2366377" cy="1274154"/>
            </a:xfrm>
            <a:prstGeom prst="rect">
              <a:avLst/>
            </a:prstGeom>
            <a:solidFill>
              <a:srgbClr val="A3D88E"/>
            </a:solidFill>
            <a:scene3d>
              <a:camera prst="orthographicFront"/>
              <a:lightRig rig="threePt" dir="t"/>
            </a:scene3d>
            <a:sp3d>
              <a:bevelT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000" dirty="0"/>
                <a:t>E</a:t>
              </a:r>
              <a:endParaRPr lang="el-GR" sz="5000" dirty="0"/>
            </a:p>
          </p:txBody>
        </p:sp>
        <p:sp>
          <p:nvSpPr>
            <p:cNvPr id="7" name="Rectangle 6">
              <a:extLst>
                <a:ext uri="{FF2B5EF4-FFF2-40B4-BE49-F238E27FC236}">
                  <a16:creationId xmlns:a16="http://schemas.microsoft.com/office/drawing/2014/main" id="{A6F0FC92-755A-0045-AFF8-8F4A61C98C1F}"/>
                </a:ext>
              </a:extLst>
            </p:cNvPr>
            <p:cNvSpPr/>
            <p:nvPr/>
          </p:nvSpPr>
          <p:spPr>
            <a:xfrm>
              <a:off x="3729993" y="2473841"/>
              <a:ext cx="2366377" cy="331080"/>
            </a:xfrm>
            <a:prstGeom prst="rect">
              <a:avLst/>
            </a:prstGeom>
            <a:solidFill>
              <a:srgbClr val="A3D88E"/>
            </a:solidFill>
            <a:scene3d>
              <a:camera prst="orthographicFront"/>
              <a:lightRig rig="threePt" dir="t"/>
            </a:scene3d>
            <a:sp3d>
              <a:bevelT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ECONOMIC</a:t>
              </a:r>
              <a:endParaRPr lang="el-GR" b="1" dirty="0"/>
            </a:p>
          </p:txBody>
        </p:sp>
      </p:grpSp>
      <p:grpSp>
        <p:nvGrpSpPr>
          <p:cNvPr id="17" name="Group 16">
            <a:extLst>
              <a:ext uri="{FF2B5EF4-FFF2-40B4-BE49-F238E27FC236}">
                <a16:creationId xmlns:a16="http://schemas.microsoft.com/office/drawing/2014/main" id="{BBD37851-5052-1B52-01F7-D5B4468C806D}"/>
              </a:ext>
            </a:extLst>
          </p:cNvPr>
          <p:cNvGrpSpPr/>
          <p:nvPr/>
        </p:nvGrpSpPr>
        <p:grpSpPr>
          <a:xfrm>
            <a:off x="3718930" y="2887687"/>
            <a:ext cx="2366377" cy="4490935"/>
            <a:chOff x="3718930" y="2887687"/>
            <a:chExt cx="2366377" cy="4490935"/>
          </a:xfrm>
        </p:grpSpPr>
        <p:sp>
          <p:nvSpPr>
            <p:cNvPr id="8" name="Rectangle 7">
              <a:extLst>
                <a:ext uri="{FF2B5EF4-FFF2-40B4-BE49-F238E27FC236}">
                  <a16:creationId xmlns:a16="http://schemas.microsoft.com/office/drawing/2014/main" id="{D54EF667-1A5D-E954-6103-3CAA005E7B03}"/>
                </a:ext>
              </a:extLst>
            </p:cNvPr>
            <p:cNvSpPr/>
            <p:nvPr/>
          </p:nvSpPr>
          <p:spPr>
            <a:xfrm>
              <a:off x="3718930" y="2945380"/>
              <a:ext cx="2366377" cy="3826366"/>
            </a:xfrm>
            <a:prstGeom prst="rect">
              <a:avLst/>
            </a:prstGeom>
            <a:solidFill>
              <a:srgbClr val="A3D88E">
                <a:alpha val="3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47" name="TextBox 46">
              <a:extLst>
                <a:ext uri="{FF2B5EF4-FFF2-40B4-BE49-F238E27FC236}">
                  <a16:creationId xmlns:a16="http://schemas.microsoft.com/office/drawing/2014/main" id="{12BF8D6F-E61E-36EF-2664-31526B559552}"/>
                </a:ext>
              </a:extLst>
            </p:cNvPr>
            <p:cNvSpPr txBox="1"/>
            <p:nvPr/>
          </p:nvSpPr>
          <p:spPr>
            <a:xfrm>
              <a:off x="3819847" y="2887687"/>
              <a:ext cx="2162452" cy="4490935"/>
            </a:xfrm>
            <a:prstGeom prst="rect">
              <a:avLst/>
            </a:prstGeom>
            <a:noFill/>
          </p:spPr>
          <p:txBody>
            <a:bodyPr wrap="square" rtlCol="0">
              <a:spAutoFit/>
            </a:bodyPr>
            <a:lstStyle/>
            <a:p>
              <a:r>
                <a:rPr lang="el-GR" sz="1400" b="1" dirty="0"/>
                <a:t>Οικονομικό περιβάλλον Ελλάδας</a:t>
              </a:r>
            </a:p>
            <a:p>
              <a:endParaRPr lang="el-GR" sz="1400" b="1" dirty="0"/>
            </a:p>
            <a:p>
              <a:pPr marL="285750" indent="-285750">
                <a:buFont typeface="Arial" panose="020B0604020202020204" pitchFamily="34" charset="0"/>
                <a:buChar char="•"/>
              </a:pPr>
              <a:r>
                <a:rPr lang="el-GR" sz="1400" dirty="0"/>
                <a:t>Ονομαστικό ΑΕΠ: 240 δισ. Δολάρια(53</a:t>
              </a:r>
              <a:r>
                <a:rPr lang="el-GR" sz="1400" baseline="30000" dirty="0"/>
                <a:t>η</a:t>
              </a:r>
              <a:r>
                <a:rPr lang="el-GR" sz="1400" dirty="0"/>
                <a:t> θέση παγκοσμίως)</a:t>
              </a:r>
            </a:p>
            <a:p>
              <a:pPr marL="285750" indent="-285750">
                <a:buFont typeface="Arial" panose="020B0604020202020204" pitchFamily="34" charset="0"/>
                <a:buChar char="•"/>
              </a:pPr>
              <a:r>
                <a:rPr lang="el-GR" sz="1400" dirty="0"/>
                <a:t>Κατά κεφαλήν ΑΕΠ:23.000 δολάρια</a:t>
              </a:r>
            </a:p>
            <a:p>
              <a:pPr marL="285750" indent="-285750">
                <a:buFont typeface="Arial" panose="020B0604020202020204" pitchFamily="34" charset="0"/>
                <a:buChar char="•"/>
              </a:pPr>
              <a:r>
                <a:rPr lang="el-GR" sz="1400" dirty="0"/>
                <a:t>ΠοσοστόΑνεργίας:10.8%(Μάιος 2023)</a:t>
              </a:r>
            </a:p>
            <a:p>
              <a:pPr marL="285750" indent="-285750">
                <a:buFont typeface="Arial" panose="020B0604020202020204" pitchFamily="34" charset="0"/>
                <a:buChar char="•"/>
              </a:pPr>
              <a:r>
                <a:rPr lang="el-GR" sz="1400" dirty="0"/>
                <a:t>Υψηλό κόστος στέγασης (60-70 %μέσου μηνιαίου μισθού)</a:t>
              </a:r>
            </a:p>
            <a:p>
              <a:pPr marL="285750" indent="-285750">
                <a:buFont typeface="Arial" panose="020B0604020202020204" pitchFamily="34" charset="0"/>
                <a:buChar char="•"/>
              </a:pPr>
              <a:r>
                <a:rPr lang="el-GR" sz="1400" dirty="0"/>
                <a:t>Κατά κεφαλήν ΑΕΠ 30% χαμηλότερο του Ευρωπαϊκού μέσου όρου</a:t>
              </a:r>
            </a:p>
            <a:p>
              <a:endParaRPr lang="el-GR" sz="1400" dirty="0"/>
            </a:p>
            <a:p>
              <a:endParaRPr lang="el-GR" sz="1400" dirty="0"/>
            </a:p>
          </p:txBody>
        </p:sp>
      </p:grpSp>
      <p:grpSp>
        <p:nvGrpSpPr>
          <p:cNvPr id="15" name="Group 14">
            <a:extLst>
              <a:ext uri="{FF2B5EF4-FFF2-40B4-BE49-F238E27FC236}">
                <a16:creationId xmlns:a16="http://schemas.microsoft.com/office/drawing/2014/main" id="{C2CF7E58-AFE7-E35B-CE76-2AC318559309}"/>
              </a:ext>
            </a:extLst>
          </p:cNvPr>
          <p:cNvGrpSpPr/>
          <p:nvPr/>
        </p:nvGrpSpPr>
        <p:grpSpPr>
          <a:xfrm>
            <a:off x="6410631" y="2927360"/>
            <a:ext cx="2406230" cy="3875579"/>
            <a:chOff x="6410631" y="2927360"/>
            <a:chExt cx="2406230" cy="3875579"/>
          </a:xfrm>
        </p:grpSpPr>
        <p:sp>
          <p:nvSpPr>
            <p:cNvPr id="11" name="Rectangle 10">
              <a:extLst>
                <a:ext uri="{FF2B5EF4-FFF2-40B4-BE49-F238E27FC236}">
                  <a16:creationId xmlns:a16="http://schemas.microsoft.com/office/drawing/2014/main" id="{4297E8B4-6E32-C634-F361-112838E00DF2}"/>
                </a:ext>
              </a:extLst>
            </p:cNvPr>
            <p:cNvSpPr/>
            <p:nvPr/>
          </p:nvSpPr>
          <p:spPr>
            <a:xfrm>
              <a:off x="6410631" y="2927360"/>
              <a:ext cx="2344557" cy="3875579"/>
            </a:xfrm>
            <a:prstGeom prst="rect">
              <a:avLst/>
            </a:prstGeom>
            <a:solidFill>
              <a:srgbClr val="33CCFF">
                <a:alpha val="3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l-GR" dirty="0"/>
            </a:p>
          </p:txBody>
        </p:sp>
        <p:sp>
          <p:nvSpPr>
            <p:cNvPr id="62" name="TextBox 61">
              <a:extLst>
                <a:ext uri="{FF2B5EF4-FFF2-40B4-BE49-F238E27FC236}">
                  <a16:creationId xmlns:a16="http://schemas.microsoft.com/office/drawing/2014/main" id="{200CB0C0-BB65-8AF9-6CAC-3A0E445FEBB4}"/>
                </a:ext>
              </a:extLst>
            </p:cNvPr>
            <p:cNvSpPr txBox="1"/>
            <p:nvPr/>
          </p:nvSpPr>
          <p:spPr>
            <a:xfrm>
              <a:off x="6472304" y="2927360"/>
              <a:ext cx="2344557" cy="2677656"/>
            </a:xfrm>
            <a:prstGeom prst="rect">
              <a:avLst/>
            </a:prstGeom>
            <a:noFill/>
          </p:spPr>
          <p:txBody>
            <a:bodyPr wrap="square" rtlCol="0">
              <a:spAutoFit/>
            </a:bodyPr>
            <a:lstStyle/>
            <a:p>
              <a:r>
                <a:rPr lang="el-GR" sz="1400" dirty="0"/>
                <a:t>Τα γαλακτοκομικά προϊόντα </a:t>
              </a:r>
              <a:r>
                <a:rPr lang="el-GR" sz="1400" b="1" dirty="0"/>
                <a:t>καταναλώνονται σε καθημερινή βάση</a:t>
              </a:r>
              <a:r>
                <a:rPr lang="el-GR" sz="1400" dirty="0"/>
                <a:t> </a:t>
              </a:r>
              <a:r>
                <a:rPr lang="el-GR" sz="1400" b="1" dirty="0"/>
                <a:t>από τους Έλληνες</a:t>
              </a:r>
              <a:r>
                <a:rPr lang="el-GR" sz="1400" dirty="0"/>
                <a:t> και κατέχουν </a:t>
              </a:r>
              <a:r>
                <a:rPr lang="el-GR" sz="1400" b="1" dirty="0"/>
                <a:t>εξέχουσα θέση στην διατροφή</a:t>
              </a:r>
              <a:r>
                <a:rPr lang="el-GR" sz="1400" dirty="0"/>
                <a:t> και στην κουλτούρα τους . </a:t>
              </a:r>
              <a:r>
                <a:rPr lang="el-GR" sz="1400" b="1" dirty="0"/>
                <a:t>Καταναλώνονται γιορτές και παραδοσιακά έθιμα </a:t>
              </a:r>
              <a:r>
                <a:rPr lang="el-GR" sz="1400" dirty="0"/>
                <a:t>, γεγονός που αποδεικνύει τη σημασία τους στην Ελληνική κουλτούρα </a:t>
              </a:r>
            </a:p>
          </p:txBody>
        </p:sp>
      </p:grpSp>
      <p:grpSp>
        <p:nvGrpSpPr>
          <p:cNvPr id="16" name="Group 15">
            <a:extLst>
              <a:ext uri="{FF2B5EF4-FFF2-40B4-BE49-F238E27FC236}">
                <a16:creationId xmlns:a16="http://schemas.microsoft.com/office/drawing/2014/main" id="{21DE5D81-84B4-5718-7A3E-C1716832D04F}"/>
              </a:ext>
            </a:extLst>
          </p:cNvPr>
          <p:cNvGrpSpPr/>
          <p:nvPr/>
        </p:nvGrpSpPr>
        <p:grpSpPr>
          <a:xfrm>
            <a:off x="9263873" y="2987588"/>
            <a:ext cx="2377440" cy="3850617"/>
            <a:chOff x="9263873" y="2987588"/>
            <a:chExt cx="2377440" cy="3850617"/>
          </a:xfrm>
        </p:grpSpPr>
        <p:sp>
          <p:nvSpPr>
            <p:cNvPr id="14" name="Rectangle 13">
              <a:extLst>
                <a:ext uri="{FF2B5EF4-FFF2-40B4-BE49-F238E27FC236}">
                  <a16:creationId xmlns:a16="http://schemas.microsoft.com/office/drawing/2014/main" id="{5AD464F6-3266-470A-F817-DBD1524177E1}"/>
                </a:ext>
              </a:extLst>
            </p:cNvPr>
            <p:cNvSpPr/>
            <p:nvPr/>
          </p:nvSpPr>
          <p:spPr>
            <a:xfrm>
              <a:off x="9263873" y="2997725"/>
              <a:ext cx="2377440" cy="3840480"/>
            </a:xfrm>
            <a:prstGeom prst="rect">
              <a:avLst/>
            </a:prstGeom>
            <a:solidFill>
              <a:srgbClr val="468BBA">
                <a:alpha val="31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l-GR" dirty="0"/>
            </a:p>
          </p:txBody>
        </p:sp>
        <p:sp>
          <p:nvSpPr>
            <p:cNvPr id="63" name="TextBox 62">
              <a:extLst>
                <a:ext uri="{FF2B5EF4-FFF2-40B4-BE49-F238E27FC236}">
                  <a16:creationId xmlns:a16="http://schemas.microsoft.com/office/drawing/2014/main" id="{99E6C53B-1B79-0BEB-FBE6-C51CA0D38FC5}"/>
                </a:ext>
              </a:extLst>
            </p:cNvPr>
            <p:cNvSpPr txBox="1"/>
            <p:nvPr/>
          </p:nvSpPr>
          <p:spPr>
            <a:xfrm>
              <a:off x="9263873" y="2987588"/>
              <a:ext cx="2377440" cy="2893100"/>
            </a:xfrm>
            <a:prstGeom prst="rect">
              <a:avLst/>
            </a:prstGeom>
            <a:noFill/>
          </p:spPr>
          <p:txBody>
            <a:bodyPr wrap="square" rtlCol="0">
              <a:spAutoFit/>
            </a:bodyPr>
            <a:lstStyle/>
            <a:p>
              <a:r>
                <a:rPr lang="el-GR" sz="1400" dirty="0"/>
                <a:t>Στον τεχνολογικό τομέα έχουν αναπτυχθεί </a:t>
              </a:r>
              <a:r>
                <a:rPr lang="el-GR" sz="1400" b="1" dirty="0"/>
                <a:t>τεχνικές που καθιστούν τα γαλακτοκομικά ασφαλέστερα,</a:t>
              </a:r>
              <a:r>
                <a:rPr lang="el-GR" sz="1400" dirty="0"/>
                <a:t> όπως η </a:t>
              </a:r>
              <a:r>
                <a:rPr lang="el-GR" sz="1400" b="1" dirty="0"/>
                <a:t>παστερίωση</a:t>
              </a:r>
              <a:r>
                <a:rPr lang="el-GR" sz="1400" dirty="0"/>
                <a:t> για την </a:t>
              </a:r>
              <a:r>
                <a:rPr lang="el-GR" sz="1400" b="1" dirty="0"/>
                <a:t>εξάλειψη των παθογόνων μικροοργανισμών</a:t>
              </a:r>
              <a:r>
                <a:rPr lang="el-GR" sz="1400" dirty="0"/>
                <a:t>. Επίσης, μηχανήματα όπως οι </a:t>
              </a:r>
              <a:r>
                <a:rPr lang="el-GR" sz="1400" dirty="0" err="1"/>
                <a:t>αναμίκτες</a:t>
              </a:r>
              <a:r>
                <a:rPr lang="el-GR" sz="1400" dirty="0"/>
                <a:t> γάλακτος συνετέλεσαν στην επιμήκυνση του χρόνου ζωής των γαλακτοκομικών.   </a:t>
              </a:r>
            </a:p>
          </p:txBody>
        </p:sp>
      </p:grpSp>
    </p:spTree>
    <p:extLst>
      <p:ext uri="{BB962C8B-B14F-4D97-AF65-F5344CB8AC3E}">
        <p14:creationId xmlns:p14="http://schemas.microsoft.com/office/powerpoint/2010/main" val="712200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anim calcmode="lin" valueType="num">
                                      <p:cBhvr>
                                        <p:cTn id="12" dur="500" fill="hold"/>
                                        <p:tgtEl>
                                          <p:spTgt spid="27"/>
                                        </p:tgtEl>
                                        <p:attrNameLst>
                                          <p:attrName>ppt_w</p:attrName>
                                        </p:attrNameLst>
                                      </p:cBhvr>
                                      <p:tavLst>
                                        <p:tav tm="0">
                                          <p:val>
                                            <p:fltVal val="0"/>
                                          </p:val>
                                        </p:tav>
                                        <p:tav tm="100000">
                                          <p:val>
                                            <p:strVal val="#ppt_w"/>
                                          </p:val>
                                        </p:tav>
                                      </p:tavLst>
                                    </p:anim>
                                    <p:anim calcmode="lin" valueType="num">
                                      <p:cBhvr>
                                        <p:cTn id="13" dur="500" fill="hold"/>
                                        <p:tgtEl>
                                          <p:spTgt spid="27"/>
                                        </p:tgtEl>
                                        <p:attrNameLst>
                                          <p:attrName>ppt_h</p:attrName>
                                        </p:attrNameLst>
                                      </p:cBhvr>
                                      <p:tavLst>
                                        <p:tav tm="0">
                                          <p:val>
                                            <p:fltVal val="0"/>
                                          </p:val>
                                        </p:tav>
                                        <p:tav tm="100000">
                                          <p:val>
                                            <p:strVal val="#ppt_h"/>
                                          </p:val>
                                        </p:tav>
                                      </p:tavLst>
                                    </p:anim>
                                  </p:childTnLst>
                                </p:cTn>
                              </p:par>
                              <p:par>
                                <p:cTn id="14" presetID="2" presetClass="entr" presetSubtype="4" fill="hold" nodeType="withEffect">
                                  <p:stCondLst>
                                    <p:cond delay="0"/>
                                  </p:stCondLst>
                                  <p:childTnLst>
                                    <p:set>
                                      <p:cBhvr>
                                        <p:cTn id="15" dur="1" fill="hold">
                                          <p:stCondLst>
                                            <p:cond delay="0"/>
                                          </p:stCondLst>
                                        </p:cTn>
                                        <p:tgtEl>
                                          <p:spTgt spid="48"/>
                                        </p:tgtEl>
                                        <p:attrNameLst>
                                          <p:attrName>style.visibility</p:attrName>
                                        </p:attrNameLst>
                                      </p:cBhvr>
                                      <p:to>
                                        <p:strVal val="visible"/>
                                      </p:to>
                                    </p:set>
                                    <p:anim calcmode="lin" valueType="num">
                                      <p:cBhvr additive="base">
                                        <p:cTn id="16" dur="500" fill="hold"/>
                                        <p:tgtEl>
                                          <p:spTgt spid="48"/>
                                        </p:tgtEl>
                                        <p:attrNameLst>
                                          <p:attrName>ppt_x</p:attrName>
                                        </p:attrNameLst>
                                      </p:cBhvr>
                                      <p:tavLst>
                                        <p:tav tm="0">
                                          <p:val>
                                            <p:strVal val="#ppt_x"/>
                                          </p:val>
                                        </p:tav>
                                        <p:tav tm="100000">
                                          <p:val>
                                            <p:strVal val="#ppt_x"/>
                                          </p:val>
                                        </p:tav>
                                      </p:tavLst>
                                    </p:anim>
                                    <p:anim calcmode="lin" valueType="num">
                                      <p:cBhvr additive="base">
                                        <p:cTn id="17" dur="500" fill="hold"/>
                                        <p:tgtEl>
                                          <p:spTgt spid="48"/>
                                        </p:tgtEl>
                                        <p:attrNameLst>
                                          <p:attrName>ppt_y</p:attrName>
                                        </p:attrNameLst>
                                      </p:cBhvr>
                                      <p:tavLst>
                                        <p:tav tm="0">
                                          <p:val>
                                            <p:strVal val="1+#ppt_h/2"/>
                                          </p:val>
                                        </p:tav>
                                        <p:tav tm="100000">
                                          <p:val>
                                            <p:strVal val="#ppt_y"/>
                                          </p:val>
                                        </p:tav>
                                      </p:tavLst>
                                    </p:anim>
                                  </p:childTnLst>
                                </p:cTn>
                              </p:par>
                              <p:par>
                                <p:cTn id="18" presetID="2" presetClass="entr" presetSubtype="4" fill="hold" nodeType="withEffect">
                                  <p:stCondLst>
                                    <p:cond delay="0"/>
                                  </p:stCondLst>
                                  <p:childTnLst>
                                    <p:set>
                                      <p:cBhvr>
                                        <p:cTn id="19" dur="1" fill="hold">
                                          <p:stCondLst>
                                            <p:cond delay="0"/>
                                          </p:stCondLst>
                                        </p:cTn>
                                        <p:tgtEl>
                                          <p:spTgt spid="46"/>
                                        </p:tgtEl>
                                        <p:attrNameLst>
                                          <p:attrName>style.visibility</p:attrName>
                                        </p:attrNameLst>
                                      </p:cBhvr>
                                      <p:to>
                                        <p:strVal val="visible"/>
                                      </p:to>
                                    </p:set>
                                    <p:anim calcmode="lin" valueType="num">
                                      <p:cBhvr additive="base">
                                        <p:cTn id="20" dur="500" fill="hold"/>
                                        <p:tgtEl>
                                          <p:spTgt spid="46"/>
                                        </p:tgtEl>
                                        <p:attrNameLst>
                                          <p:attrName>ppt_x</p:attrName>
                                        </p:attrNameLst>
                                      </p:cBhvr>
                                      <p:tavLst>
                                        <p:tav tm="0">
                                          <p:val>
                                            <p:strVal val="#ppt_x"/>
                                          </p:val>
                                        </p:tav>
                                        <p:tav tm="100000">
                                          <p:val>
                                            <p:strVal val="#ppt_x"/>
                                          </p:val>
                                        </p:tav>
                                      </p:tavLst>
                                    </p:anim>
                                    <p:anim calcmode="lin" valueType="num">
                                      <p:cBhvr additive="base">
                                        <p:cTn id="21" dur="500" fill="hold"/>
                                        <p:tgtEl>
                                          <p:spTgt spid="46"/>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nodeType="clickEffect">
                                  <p:stCondLst>
                                    <p:cond delay="0"/>
                                  </p:stCondLst>
                                  <p:childTnLst>
                                    <p:set>
                                      <p:cBhvr>
                                        <p:cTn id="25" dur="1" fill="hold">
                                          <p:stCondLst>
                                            <p:cond delay="0"/>
                                          </p:stCondLst>
                                        </p:cTn>
                                        <p:tgtEl>
                                          <p:spTgt spid="28"/>
                                        </p:tgtEl>
                                        <p:attrNameLst>
                                          <p:attrName>style.visibility</p:attrName>
                                        </p:attrNameLst>
                                      </p:cBhvr>
                                      <p:to>
                                        <p:strVal val="visible"/>
                                      </p:to>
                                    </p:set>
                                    <p:anim calcmode="lin" valueType="num">
                                      <p:cBhvr>
                                        <p:cTn id="26" dur="500" fill="hold"/>
                                        <p:tgtEl>
                                          <p:spTgt spid="28"/>
                                        </p:tgtEl>
                                        <p:attrNameLst>
                                          <p:attrName>ppt_w</p:attrName>
                                        </p:attrNameLst>
                                      </p:cBhvr>
                                      <p:tavLst>
                                        <p:tav tm="0">
                                          <p:val>
                                            <p:fltVal val="0"/>
                                          </p:val>
                                        </p:tav>
                                        <p:tav tm="100000">
                                          <p:val>
                                            <p:strVal val="#ppt_w"/>
                                          </p:val>
                                        </p:tav>
                                      </p:tavLst>
                                    </p:anim>
                                    <p:anim calcmode="lin" valueType="num">
                                      <p:cBhvr>
                                        <p:cTn id="27" dur="500" fill="hold"/>
                                        <p:tgtEl>
                                          <p:spTgt spid="28"/>
                                        </p:tgtEl>
                                        <p:attrNameLst>
                                          <p:attrName>ppt_h</p:attrName>
                                        </p:attrNameLst>
                                      </p:cBhvr>
                                      <p:tavLst>
                                        <p:tav tm="0">
                                          <p:val>
                                            <p:fltVal val="0"/>
                                          </p:val>
                                        </p:tav>
                                        <p:tav tm="100000">
                                          <p:val>
                                            <p:strVal val="#ppt_h"/>
                                          </p:val>
                                        </p:tav>
                                      </p:tavLst>
                                    </p:anim>
                                    <p:animEffect transition="in" filter="fade">
                                      <p:cBhvr>
                                        <p:cTn id="28" dur="500"/>
                                        <p:tgtEl>
                                          <p:spTgt spid="28"/>
                                        </p:tgtEl>
                                      </p:cBhvr>
                                    </p:animEffect>
                                  </p:childTnLst>
                                </p:cTn>
                              </p:par>
                              <p:par>
                                <p:cTn id="29" presetID="2" presetClass="entr" presetSubtype="4" fill="hold" nodeType="withEffect">
                                  <p:stCondLst>
                                    <p:cond delay="0"/>
                                  </p:stCondLst>
                                  <p:childTnLst>
                                    <p:set>
                                      <p:cBhvr>
                                        <p:cTn id="30" dur="1" fill="hold">
                                          <p:stCondLst>
                                            <p:cond delay="0"/>
                                          </p:stCondLst>
                                        </p:cTn>
                                        <p:tgtEl>
                                          <p:spTgt spid="3"/>
                                        </p:tgtEl>
                                        <p:attrNameLst>
                                          <p:attrName>style.visibility</p:attrName>
                                        </p:attrNameLst>
                                      </p:cBhvr>
                                      <p:to>
                                        <p:strVal val="visible"/>
                                      </p:to>
                                    </p:set>
                                    <p:anim calcmode="lin" valueType="num">
                                      <p:cBhvr additive="base">
                                        <p:cTn id="31" dur="500" fill="hold"/>
                                        <p:tgtEl>
                                          <p:spTgt spid="3"/>
                                        </p:tgtEl>
                                        <p:attrNameLst>
                                          <p:attrName>ppt_x</p:attrName>
                                        </p:attrNameLst>
                                      </p:cBhvr>
                                      <p:tavLst>
                                        <p:tav tm="0">
                                          <p:val>
                                            <p:strVal val="#ppt_x"/>
                                          </p:val>
                                        </p:tav>
                                        <p:tav tm="100000">
                                          <p:val>
                                            <p:strVal val="#ppt_x"/>
                                          </p:val>
                                        </p:tav>
                                      </p:tavLst>
                                    </p:anim>
                                    <p:anim calcmode="lin" valueType="num">
                                      <p:cBhvr additive="base">
                                        <p:cTn id="32" dur="500" fill="hold"/>
                                        <p:tgtEl>
                                          <p:spTgt spid="3"/>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17"/>
                                        </p:tgtEl>
                                        <p:attrNameLst>
                                          <p:attrName>style.visibility</p:attrName>
                                        </p:attrNameLst>
                                      </p:cBhvr>
                                      <p:to>
                                        <p:strVal val="visible"/>
                                      </p:to>
                                    </p:set>
                                    <p:anim calcmode="lin" valueType="num">
                                      <p:cBhvr additive="base">
                                        <p:cTn id="35" dur="500" fill="hold"/>
                                        <p:tgtEl>
                                          <p:spTgt spid="17"/>
                                        </p:tgtEl>
                                        <p:attrNameLst>
                                          <p:attrName>ppt_x</p:attrName>
                                        </p:attrNameLst>
                                      </p:cBhvr>
                                      <p:tavLst>
                                        <p:tav tm="0">
                                          <p:val>
                                            <p:strVal val="#ppt_x"/>
                                          </p:val>
                                        </p:tav>
                                        <p:tav tm="100000">
                                          <p:val>
                                            <p:strVal val="#ppt_x"/>
                                          </p:val>
                                        </p:tav>
                                      </p:tavLst>
                                    </p:anim>
                                    <p:anim calcmode="lin" valueType="num">
                                      <p:cBhvr additive="base">
                                        <p:cTn id="36"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53" presetClass="entr" presetSubtype="16" fill="hold" nodeType="clickEffect">
                                  <p:stCondLst>
                                    <p:cond delay="0"/>
                                  </p:stCondLst>
                                  <p:childTnLst>
                                    <p:set>
                                      <p:cBhvr>
                                        <p:cTn id="40" dur="1" fill="hold">
                                          <p:stCondLst>
                                            <p:cond delay="0"/>
                                          </p:stCondLst>
                                        </p:cTn>
                                        <p:tgtEl>
                                          <p:spTgt spid="33"/>
                                        </p:tgtEl>
                                        <p:attrNameLst>
                                          <p:attrName>style.visibility</p:attrName>
                                        </p:attrNameLst>
                                      </p:cBhvr>
                                      <p:to>
                                        <p:strVal val="visible"/>
                                      </p:to>
                                    </p:set>
                                    <p:anim calcmode="lin" valueType="num">
                                      <p:cBhvr>
                                        <p:cTn id="41" dur="500" fill="hold"/>
                                        <p:tgtEl>
                                          <p:spTgt spid="33"/>
                                        </p:tgtEl>
                                        <p:attrNameLst>
                                          <p:attrName>ppt_w</p:attrName>
                                        </p:attrNameLst>
                                      </p:cBhvr>
                                      <p:tavLst>
                                        <p:tav tm="0">
                                          <p:val>
                                            <p:fltVal val="0"/>
                                          </p:val>
                                        </p:tav>
                                        <p:tav tm="100000">
                                          <p:val>
                                            <p:strVal val="#ppt_w"/>
                                          </p:val>
                                        </p:tav>
                                      </p:tavLst>
                                    </p:anim>
                                    <p:anim calcmode="lin" valueType="num">
                                      <p:cBhvr>
                                        <p:cTn id="42" dur="500" fill="hold"/>
                                        <p:tgtEl>
                                          <p:spTgt spid="33"/>
                                        </p:tgtEl>
                                        <p:attrNameLst>
                                          <p:attrName>ppt_h</p:attrName>
                                        </p:attrNameLst>
                                      </p:cBhvr>
                                      <p:tavLst>
                                        <p:tav tm="0">
                                          <p:val>
                                            <p:fltVal val="0"/>
                                          </p:val>
                                        </p:tav>
                                        <p:tav tm="100000">
                                          <p:val>
                                            <p:strVal val="#ppt_h"/>
                                          </p:val>
                                        </p:tav>
                                      </p:tavLst>
                                    </p:anim>
                                    <p:animEffect transition="in" filter="fade">
                                      <p:cBhvr>
                                        <p:cTn id="43" dur="500"/>
                                        <p:tgtEl>
                                          <p:spTgt spid="33"/>
                                        </p:tgtEl>
                                      </p:cBhvr>
                                    </p:animEffect>
                                  </p:childTnLst>
                                </p:cTn>
                              </p:par>
                              <p:par>
                                <p:cTn id="44" presetID="2" presetClass="entr" presetSubtype="4" fill="hold" nodeType="withEffect">
                                  <p:stCondLst>
                                    <p:cond delay="0"/>
                                  </p:stCondLst>
                                  <p:childTnLst>
                                    <p:set>
                                      <p:cBhvr>
                                        <p:cTn id="45" dur="1" fill="hold">
                                          <p:stCondLst>
                                            <p:cond delay="0"/>
                                          </p:stCondLst>
                                        </p:cTn>
                                        <p:tgtEl>
                                          <p:spTgt spid="18"/>
                                        </p:tgtEl>
                                        <p:attrNameLst>
                                          <p:attrName>style.visibility</p:attrName>
                                        </p:attrNameLst>
                                      </p:cBhvr>
                                      <p:to>
                                        <p:strVal val="visible"/>
                                      </p:to>
                                    </p:set>
                                    <p:anim calcmode="lin" valueType="num">
                                      <p:cBhvr additive="base">
                                        <p:cTn id="46" dur="500" fill="hold"/>
                                        <p:tgtEl>
                                          <p:spTgt spid="18"/>
                                        </p:tgtEl>
                                        <p:attrNameLst>
                                          <p:attrName>ppt_x</p:attrName>
                                        </p:attrNameLst>
                                      </p:cBhvr>
                                      <p:tavLst>
                                        <p:tav tm="0">
                                          <p:val>
                                            <p:strVal val="#ppt_x"/>
                                          </p:val>
                                        </p:tav>
                                        <p:tav tm="100000">
                                          <p:val>
                                            <p:strVal val="#ppt_x"/>
                                          </p:val>
                                        </p:tav>
                                      </p:tavLst>
                                    </p:anim>
                                    <p:anim calcmode="lin" valueType="num">
                                      <p:cBhvr additive="base">
                                        <p:cTn id="47" dur="500" fill="hold"/>
                                        <p:tgtEl>
                                          <p:spTgt spid="18"/>
                                        </p:tgtEl>
                                        <p:attrNameLst>
                                          <p:attrName>ppt_y</p:attrName>
                                        </p:attrNameLst>
                                      </p:cBhvr>
                                      <p:tavLst>
                                        <p:tav tm="0">
                                          <p:val>
                                            <p:strVal val="1+#ppt_h/2"/>
                                          </p:val>
                                        </p:tav>
                                        <p:tav tm="100000">
                                          <p:val>
                                            <p:strVal val="#ppt_y"/>
                                          </p:val>
                                        </p:tav>
                                      </p:tavLst>
                                    </p:anim>
                                  </p:childTnLst>
                                </p:cTn>
                              </p:par>
                              <p:par>
                                <p:cTn id="48" presetID="2" presetClass="entr" presetSubtype="4" fill="hold" nodeType="withEffect">
                                  <p:stCondLst>
                                    <p:cond delay="0"/>
                                  </p:stCondLst>
                                  <p:childTnLst>
                                    <p:set>
                                      <p:cBhvr>
                                        <p:cTn id="49" dur="1" fill="hold">
                                          <p:stCondLst>
                                            <p:cond delay="0"/>
                                          </p:stCondLst>
                                        </p:cTn>
                                        <p:tgtEl>
                                          <p:spTgt spid="15"/>
                                        </p:tgtEl>
                                        <p:attrNameLst>
                                          <p:attrName>style.visibility</p:attrName>
                                        </p:attrNameLst>
                                      </p:cBhvr>
                                      <p:to>
                                        <p:strVal val="visible"/>
                                      </p:to>
                                    </p:set>
                                    <p:anim calcmode="lin" valueType="num">
                                      <p:cBhvr additive="base">
                                        <p:cTn id="50" dur="500" fill="hold"/>
                                        <p:tgtEl>
                                          <p:spTgt spid="15"/>
                                        </p:tgtEl>
                                        <p:attrNameLst>
                                          <p:attrName>ppt_x</p:attrName>
                                        </p:attrNameLst>
                                      </p:cBhvr>
                                      <p:tavLst>
                                        <p:tav tm="0">
                                          <p:val>
                                            <p:strVal val="#ppt_x"/>
                                          </p:val>
                                        </p:tav>
                                        <p:tav tm="100000">
                                          <p:val>
                                            <p:strVal val="#ppt_x"/>
                                          </p:val>
                                        </p:tav>
                                      </p:tavLst>
                                    </p:anim>
                                    <p:anim calcmode="lin" valueType="num">
                                      <p:cBhvr additive="base">
                                        <p:cTn id="51"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53" presetClass="entr" presetSubtype="16" fill="hold" nodeType="clickEffect">
                                  <p:stCondLst>
                                    <p:cond delay="0"/>
                                  </p:stCondLst>
                                  <p:childTnLst>
                                    <p:set>
                                      <p:cBhvr>
                                        <p:cTn id="55" dur="1" fill="hold">
                                          <p:stCondLst>
                                            <p:cond delay="0"/>
                                          </p:stCondLst>
                                        </p:cTn>
                                        <p:tgtEl>
                                          <p:spTgt spid="36"/>
                                        </p:tgtEl>
                                        <p:attrNameLst>
                                          <p:attrName>style.visibility</p:attrName>
                                        </p:attrNameLst>
                                      </p:cBhvr>
                                      <p:to>
                                        <p:strVal val="visible"/>
                                      </p:to>
                                    </p:set>
                                    <p:anim calcmode="lin" valueType="num">
                                      <p:cBhvr>
                                        <p:cTn id="56" dur="500" fill="hold"/>
                                        <p:tgtEl>
                                          <p:spTgt spid="36"/>
                                        </p:tgtEl>
                                        <p:attrNameLst>
                                          <p:attrName>ppt_w</p:attrName>
                                        </p:attrNameLst>
                                      </p:cBhvr>
                                      <p:tavLst>
                                        <p:tav tm="0">
                                          <p:val>
                                            <p:fltVal val="0"/>
                                          </p:val>
                                        </p:tav>
                                        <p:tav tm="100000">
                                          <p:val>
                                            <p:strVal val="#ppt_w"/>
                                          </p:val>
                                        </p:tav>
                                      </p:tavLst>
                                    </p:anim>
                                    <p:anim calcmode="lin" valueType="num">
                                      <p:cBhvr>
                                        <p:cTn id="57" dur="500" fill="hold"/>
                                        <p:tgtEl>
                                          <p:spTgt spid="36"/>
                                        </p:tgtEl>
                                        <p:attrNameLst>
                                          <p:attrName>ppt_h</p:attrName>
                                        </p:attrNameLst>
                                      </p:cBhvr>
                                      <p:tavLst>
                                        <p:tav tm="0">
                                          <p:val>
                                            <p:fltVal val="0"/>
                                          </p:val>
                                        </p:tav>
                                        <p:tav tm="100000">
                                          <p:val>
                                            <p:strVal val="#ppt_h"/>
                                          </p:val>
                                        </p:tav>
                                      </p:tavLst>
                                    </p:anim>
                                    <p:animEffect transition="in" filter="fade">
                                      <p:cBhvr>
                                        <p:cTn id="58" dur="500"/>
                                        <p:tgtEl>
                                          <p:spTgt spid="36"/>
                                        </p:tgtEl>
                                      </p:cBhvr>
                                    </p:animEffect>
                                  </p:childTnLst>
                                </p:cTn>
                              </p:par>
                              <p:par>
                                <p:cTn id="59" presetID="2" presetClass="entr" presetSubtype="4" fill="hold" nodeType="withEffect">
                                  <p:stCondLst>
                                    <p:cond delay="0"/>
                                  </p:stCondLst>
                                  <p:childTnLst>
                                    <p:set>
                                      <p:cBhvr>
                                        <p:cTn id="60" dur="1" fill="hold">
                                          <p:stCondLst>
                                            <p:cond delay="0"/>
                                          </p:stCondLst>
                                        </p:cTn>
                                        <p:tgtEl>
                                          <p:spTgt spid="19"/>
                                        </p:tgtEl>
                                        <p:attrNameLst>
                                          <p:attrName>style.visibility</p:attrName>
                                        </p:attrNameLst>
                                      </p:cBhvr>
                                      <p:to>
                                        <p:strVal val="visible"/>
                                      </p:to>
                                    </p:set>
                                    <p:anim calcmode="lin" valueType="num">
                                      <p:cBhvr additive="base">
                                        <p:cTn id="61" dur="500" fill="hold"/>
                                        <p:tgtEl>
                                          <p:spTgt spid="19"/>
                                        </p:tgtEl>
                                        <p:attrNameLst>
                                          <p:attrName>ppt_x</p:attrName>
                                        </p:attrNameLst>
                                      </p:cBhvr>
                                      <p:tavLst>
                                        <p:tav tm="0">
                                          <p:val>
                                            <p:strVal val="#ppt_x"/>
                                          </p:val>
                                        </p:tav>
                                        <p:tav tm="100000">
                                          <p:val>
                                            <p:strVal val="#ppt_x"/>
                                          </p:val>
                                        </p:tav>
                                      </p:tavLst>
                                    </p:anim>
                                    <p:anim calcmode="lin" valueType="num">
                                      <p:cBhvr additive="base">
                                        <p:cTn id="62" dur="500" fill="hold"/>
                                        <p:tgtEl>
                                          <p:spTgt spid="19"/>
                                        </p:tgtEl>
                                        <p:attrNameLst>
                                          <p:attrName>ppt_y</p:attrName>
                                        </p:attrNameLst>
                                      </p:cBhvr>
                                      <p:tavLst>
                                        <p:tav tm="0">
                                          <p:val>
                                            <p:strVal val="1+#ppt_h/2"/>
                                          </p:val>
                                        </p:tav>
                                        <p:tav tm="100000">
                                          <p:val>
                                            <p:strVal val="#ppt_y"/>
                                          </p:val>
                                        </p:tav>
                                      </p:tavLst>
                                    </p:anim>
                                  </p:childTnLst>
                                </p:cTn>
                              </p:par>
                              <p:par>
                                <p:cTn id="63" presetID="2" presetClass="entr" presetSubtype="4" fill="hold" nodeType="withEffect">
                                  <p:stCondLst>
                                    <p:cond delay="0"/>
                                  </p:stCondLst>
                                  <p:childTnLst>
                                    <p:set>
                                      <p:cBhvr>
                                        <p:cTn id="64" dur="1" fill="hold">
                                          <p:stCondLst>
                                            <p:cond delay="0"/>
                                          </p:stCondLst>
                                        </p:cTn>
                                        <p:tgtEl>
                                          <p:spTgt spid="16"/>
                                        </p:tgtEl>
                                        <p:attrNameLst>
                                          <p:attrName>style.visibility</p:attrName>
                                        </p:attrNameLst>
                                      </p:cBhvr>
                                      <p:to>
                                        <p:strVal val="visible"/>
                                      </p:to>
                                    </p:set>
                                    <p:anim calcmode="lin" valueType="num">
                                      <p:cBhvr additive="base">
                                        <p:cTn id="65" dur="500" fill="hold"/>
                                        <p:tgtEl>
                                          <p:spTgt spid="16"/>
                                        </p:tgtEl>
                                        <p:attrNameLst>
                                          <p:attrName>ppt_x</p:attrName>
                                        </p:attrNameLst>
                                      </p:cBhvr>
                                      <p:tavLst>
                                        <p:tav tm="0">
                                          <p:val>
                                            <p:strVal val="#ppt_x"/>
                                          </p:val>
                                        </p:tav>
                                        <p:tav tm="100000">
                                          <p:val>
                                            <p:strVal val="#ppt_x"/>
                                          </p:val>
                                        </p:tav>
                                      </p:tavLst>
                                    </p:anim>
                                    <p:anim calcmode="lin" valueType="num">
                                      <p:cBhvr additive="base">
                                        <p:cTn id="66"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1426EB20-6178-04BF-6DB2-FAF214593ED7}"/>
              </a:ext>
            </a:extLst>
          </p:cNvPr>
          <p:cNvSpPr/>
          <p:nvPr/>
        </p:nvSpPr>
        <p:spPr>
          <a:xfrm>
            <a:off x="2865107" y="98776"/>
            <a:ext cx="5393989" cy="477054"/>
          </a:xfrm>
          <a:custGeom>
            <a:avLst/>
            <a:gdLst/>
            <a:ahLst/>
            <a:cxnLst/>
            <a:rect l="l" t="t" r="r" b="b"/>
            <a:pathLst>
              <a:path w="5393989" h="477054">
                <a:moveTo>
                  <a:pt x="3559703" y="251056"/>
                </a:moveTo>
                <a:lnTo>
                  <a:pt x="3593468" y="251056"/>
                </a:lnTo>
                <a:cubicBezTo>
                  <a:pt x="3604007" y="251056"/>
                  <a:pt x="3612705" y="253026"/>
                  <a:pt x="3619560" y="256965"/>
                </a:cubicBezTo>
                <a:cubicBezTo>
                  <a:pt x="3626415" y="260905"/>
                  <a:pt x="3629843" y="267479"/>
                  <a:pt x="3629843" y="276687"/>
                </a:cubicBezTo>
                <a:cubicBezTo>
                  <a:pt x="3629843" y="283850"/>
                  <a:pt x="3628231" y="289554"/>
                  <a:pt x="3625008" y="293800"/>
                </a:cubicBezTo>
                <a:cubicBezTo>
                  <a:pt x="3621785" y="298046"/>
                  <a:pt x="3617411" y="301014"/>
                  <a:pt x="3611886" y="302702"/>
                </a:cubicBezTo>
                <a:cubicBezTo>
                  <a:pt x="3606361" y="304390"/>
                  <a:pt x="3600221" y="305234"/>
                  <a:pt x="3593468" y="305234"/>
                </a:cubicBezTo>
                <a:lnTo>
                  <a:pt x="3559703" y="305234"/>
                </a:lnTo>
                <a:close/>
                <a:moveTo>
                  <a:pt x="3779671" y="177079"/>
                </a:moveTo>
                <a:lnTo>
                  <a:pt x="3806530" y="259805"/>
                </a:lnTo>
                <a:lnTo>
                  <a:pt x="3752812" y="259805"/>
                </a:lnTo>
                <a:close/>
                <a:moveTo>
                  <a:pt x="607846" y="177079"/>
                </a:moveTo>
                <a:lnTo>
                  <a:pt x="634705" y="259805"/>
                </a:lnTo>
                <a:lnTo>
                  <a:pt x="580987" y="259805"/>
                </a:lnTo>
                <a:close/>
                <a:moveTo>
                  <a:pt x="188746" y="177079"/>
                </a:moveTo>
                <a:lnTo>
                  <a:pt x="215605" y="259805"/>
                </a:lnTo>
                <a:lnTo>
                  <a:pt x="161887" y="259805"/>
                </a:lnTo>
                <a:close/>
                <a:moveTo>
                  <a:pt x="1914152" y="176312"/>
                </a:moveTo>
                <a:lnTo>
                  <a:pt x="1958604" y="305234"/>
                </a:lnTo>
                <a:lnTo>
                  <a:pt x="1869194" y="305234"/>
                </a:lnTo>
                <a:close/>
                <a:moveTo>
                  <a:pt x="3559703" y="169252"/>
                </a:moveTo>
                <a:lnTo>
                  <a:pt x="3586562" y="169252"/>
                </a:lnTo>
                <a:cubicBezTo>
                  <a:pt x="3592189" y="169252"/>
                  <a:pt x="3597203" y="169994"/>
                  <a:pt x="3601603" y="171477"/>
                </a:cubicBezTo>
                <a:cubicBezTo>
                  <a:pt x="3606002" y="172961"/>
                  <a:pt x="3609482" y="175417"/>
                  <a:pt x="3612039" y="178844"/>
                </a:cubicBezTo>
                <a:cubicBezTo>
                  <a:pt x="3614597" y="182272"/>
                  <a:pt x="3615876" y="186902"/>
                  <a:pt x="3615876" y="192734"/>
                </a:cubicBezTo>
                <a:cubicBezTo>
                  <a:pt x="3615876" y="201022"/>
                  <a:pt x="3613062" y="207315"/>
                  <a:pt x="3607435" y="211612"/>
                </a:cubicBezTo>
                <a:cubicBezTo>
                  <a:pt x="3601807" y="215910"/>
                  <a:pt x="3594850" y="218058"/>
                  <a:pt x="3586562" y="218058"/>
                </a:cubicBezTo>
                <a:lnTo>
                  <a:pt x="3559703" y="218058"/>
                </a:lnTo>
                <a:close/>
                <a:moveTo>
                  <a:pt x="3273953" y="169252"/>
                </a:moveTo>
                <a:lnTo>
                  <a:pt x="3307872" y="169252"/>
                </a:lnTo>
                <a:cubicBezTo>
                  <a:pt x="3317592" y="169252"/>
                  <a:pt x="3325624" y="171861"/>
                  <a:pt x="3331968" y="177079"/>
                </a:cubicBezTo>
                <a:cubicBezTo>
                  <a:pt x="3338312" y="182298"/>
                  <a:pt x="3341484" y="190330"/>
                  <a:pt x="3341484" y="201176"/>
                </a:cubicBezTo>
                <a:cubicBezTo>
                  <a:pt x="3341484" y="211612"/>
                  <a:pt x="3338389" y="219491"/>
                  <a:pt x="3332198" y="224811"/>
                </a:cubicBezTo>
                <a:cubicBezTo>
                  <a:pt x="3326008" y="230132"/>
                  <a:pt x="3317899" y="232792"/>
                  <a:pt x="3307872" y="232792"/>
                </a:cubicBezTo>
                <a:lnTo>
                  <a:pt x="3273953" y="232792"/>
                </a:lnTo>
                <a:close/>
                <a:moveTo>
                  <a:pt x="4988867" y="167564"/>
                </a:moveTo>
                <a:cubicBezTo>
                  <a:pt x="5002270" y="167564"/>
                  <a:pt x="5013065" y="170736"/>
                  <a:pt x="5021251" y="177079"/>
                </a:cubicBezTo>
                <a:cubicBezTo>
                  <a:pt x="5029436" y="183423"/>
                  <a:pt x="5035422" y="191916"/>
                  <a:pt x="5039208" y="202557"/>
                </a:cubicBezTo>
                <a:cubicBezTo>
                  <a:pt x="5042994" y="213198"/>
                  <a:pt x="5044887" y="224965"/>
                  <a:pt x="5044887" y="237857"/>
                </a:cubicBezTo>
                <a:cubicBezTo>
                  <a:pt x="5044887" y="250545"/>
                  <a:pt x="5042994" y="262209"/>
                  <a:pt x="5039208" y="272850"/>
                </a:cubicBezTo>
                <a:cubicBezTo>
                  <a:pt x="5035422" y="283492"/>
                  <a:pt x="5029436" y="291984"/>
                  <a:pt x="5021251" y="298328"/>
                </a:cubicBezTo>
                <a:cubicBezTo>
                  <a:pt x="5013065" y="304672"/>
                  <a:pt x="5002270" y="307844"/>
                  <a:pt x="4988867" y="307844"/>
                </a:cubicBezTo>
                <a:cubicBezTo>
                  <a:pt x="4975361" y="307844"/>
                  <a:pt x="4964489" y="304672"/>
                  <a:pt x="4956252" y="298328"/>
                </a:cubicBezTo>
                <a:cubicBezTo>
                  <a:pt x="4948016" y="291984"/>
                  <a:pt x="4942030" y="283492"/>
                  <a:pt x="4938295" y="272850"/>
                </a:cubicBezTo>
                <a:cubicBezTo>
                  <a:pt x="4934561" y="262209"/>
                  <a:pt x="4932693" y="250545"/>
                  <a:pt x="4932693" y="237857"/>
                </a:cubicBezTo>
                <a:cubicBezTo>
                  <a:pt x="4932693" y="224965"/>
                  <a:pt x="4934561" y="213198"/>
                  <a:pt x="4938295" y="202557"/>
                </a:cubicBezTo>
                <a:cubicBezTo>
                  <a:pt x="4942030" y="191916"/>
                  <a:pt x="4948016" y="183423"/>
                  <a:pt x="4956252" y="177079"/>
                </a:cubicBezTo>
                <a:cubicBezTo>
                  <a:pt x="4964489" y="170736"/>
                  <a:pt x="4975361" y="167564"/>
                  <a:pt x="4988867" y="167564"/>
                </a:cubicBezTo>
                <a:close/>
                <a:moveTo>
                  <a:pt x="4369742" y="167564"/>
                </a:moveTo>
                <a:cubicBezTo>
                  <a:pt x="4383146" y="167564"/>
                  <a:pt x="4393940" y="170736"/>
                  <a:pt x="4402126" y="177079"/>
                </a:cubicBezTo>
                <a:cubicBezTo>
                  <a:pt x="4410312" y="183423"/>
                  <a:pt x="4416297" y="191916"/>
                  <a:pt x="4420083" y="202557"/>
                </a:cubicBezTo>
                <a:cubicBezTo>
                  <a:pt x="4423869" y="213198"/>
                  <a:pt x="4425762" y="224965"/>
                  <a:pt x="4425762" y="237857"/>
                </a:cubicBezTo>
                <a:cubicBezTo>
                  <a:pt x="4425762" y="250545"/>
                  <a:pt x="4423869" y="262209"/>
                  <a:pt x="4420083" y="272850"/>
                </a:cubicBezTo>
                <a:cubicBezTo>
                  <a:pt x="4416297" y="283492"/>
                  <a:pt x="4410312" y="291984"/>
                  <a:pt x="4402126" y="298328"/>
                </a:cubicBezTo>
                <a:cubicBezTo>
                  <a:pt x="4393940" y="304672"/>
                  <a:pt x="4383146" y="307844"/>
                  <a:pt x="4369742" y="307844"/>
                </a:cubicBezTo>
                <a:cubicBezTo>
                  <a:pt x="4356236" y="307844"/>
                  <a:pt x="4345364" y="304672"/>
                  <a:pt x="4337128" y="298328"/>
                </a:cubicBezTo>
                <a:cubicBezTo>
                  <a:pt x="4328891" y="291984"/>
                  <a:pt x="4322905" y="283492"/>
                  <a:pt x="4319171" y="272850"/>
                </a:cubicBezTo>
                <a:cubicBezTo>
                  <a:pt x="4315436" y="262209"/>
                  <a:pt x="4313569" y="250545"/>
                  <a:pt x="4313569" y="237857"/>
                </a:cubicBezTo>
                <a:cubicBezTo>
                  <a:pt x="4313569" y="224965"/>
                  <a:pt x="4315436" y="213198"/>
                  <a:pt x="4319171" y="202557"/>
                </a:cubicBezTo>
                <a:cubicBezTo>
                  <a:pt x="4322905" y="191916"/>
                  <a:pt x="4328891" y="183423"/>
                  <a:pt x="4337128" y="177079"/>
                </a:cubicBezTo>
                <a:cubicBezTo>
                  <a:pt x="4345364" y="170736"/>
                  <a:pt x="4356236" y="167564"/>
                  <a:pt x="4369742" y="167564"/>
                </a:cubicBezTo>
                <a:close/>
                <a:moveTo>
                  <a:pt x="2426642" y="167564"/>
                </a:moveTo>
                <a:cubicBezTo>
                  <a:pt x="2440046" y="167564"/>
                  <a:pt x="2450840" y="170736"/>
                  <a:pt x="2459026" y="177079"/>
                </a:cubicBezTo>
                <a:cubicBezTo>
                  <a:pt x="2467211" y="183423"/>
                  <a:pt x="2473197" y="191916"/>
                  <a:pt x="2476983" y="202557"/>
                </a:cubicBezTo>
                <a:cubicBezTo>
                  <a:pt x="2480769" y="213198"/>
                  <a:pt x="2482662" y="224965"/>
                  <a:pt x="2482662" y="237857"/>
                </a:cubicBezTo>
                <a:cubicBezTo>
                  <a:pt x="2482662" y="250545"/>
                  <a:pt x="2480769" y="262209"/>
                  <a:pt x="2476983" y="272850"/>
                </a:cubicBezTo>
                <a:cubicBezTo>
                  <a:pt x="2473197" y="283492"/>
                  <a:pt x="2467211" y="291984"/>
                  <a:pt x="2459026" y="298328"/>
                </a:cubicBezTo>
                <a:cubicBezTo>
                  <a:pt x="2450840" y="304672"/>
                  <a:pt x="2440046" y="307844"/>
                  <a:pt x="2426642" y="307844"/>
                </a:cubicBezTo>
                <a:cubicBezTo>
                  <a:pt x="2413136" y="307844"/>
                  <a:pt x="2402264" y="304672"/>
                  <a:pt x="2394028" y="298328"/>
                </a:cubicBezTo>
                <a:cubicBezTo>
                  <a:pt x="2385791" y="291984"/>
                  <a:pt x="2379805" y="283492"/>
                  <a:pt x="2376071" y="272850"/>
                </a:cubicBezTo>
                <a:cubicBezTo>
                  <a:pt x="2372336" y="262209"/>
                  <a:pt x="2370469" y="250545"/>
                  <a:pt x="2370469" y="237857"/>
                </a:cubicBezTo>
                <a:cubicBezTo>
                  <a:pt x="2370469" y="224965"/>
                  <a:pt x="2372336" y="213198"/>
                  <a:pt x="2376071" y="202557"/>
                </a:cubicBezTo>
                <a:cubicBezTo>
                  <a:pt x="2379805" y="191916"/>
                  <a:pt x="2385791" y="183423"/>
                  <a:pt x="2394028" y="177079"/>
                </a:cubicBezTo>
                <a:cubicBezTo>
                  <a:pt x="2402264" y="170736"/>
                  <a:pt x="2413136" y="167564"/>
                  <a:pt x="2426642" y="167564"/>
                </a:cubicBezTo>
                <a:close/>
                <a:moveTo>
                  <a:pt x="5113715" y="134412"/>
                </a:moveTo>
                <a:lnTo>
                  <a:pt x="5113715" y="167871"/>
                </a:lnTo>
                <a:lnTo>
                  <a:pt x="5179250" y="231871"/>
                </a:lnTo>
                <a:lnTo>
                  <a:pt x="5108957" y="307537"/>
                </a:lnTo>
                <a:lnTo>
                  <a:pt x="5108957" y="340995"/>
                </a:lnTo>
                <a:lnTo>
                  <a:pt x="5260134" y="340995"/>
                </a:lnTo>
                <a:lnTo>
                  <a:pt x="5260134" y="305234"/>
                </a:lnTo>
                <a:lnTo>
                  <a:pt x="5159145" y="305081"/>
                </a:lnTo>
                <a:lnTo>
                  <a:pt x="5220229" y="239545"/>
                </a:lnTo>
                <a:lnTo>
                  <a:pt x="5220229" y="222509"/>
                </a:lnTo>
                <a:lnTo>
                  <a:pt x="5165130" y="170326"/>
                </a:lnTo>
                <a:lnTo>
                  <a:pt x="5250004" y="170173"/>
                </a:lnTo>
                <a:lnTo>
                  <a:pt x="5250004" y="134412"/>
                </a:lnTo>
                <a:close/>
                <a:moveTo>
                  <a:pt x="4713828" y="134412"/>
                </a:moveTo>
                <a:lnTo>
                  <a:pt x="4713828" y="170326"/>
                </a:lnTo>
                <a:lnTo>
                  <a:pt x="4769080" y="170326"/>
                </a:lnTo>
                <a:lnTo>
                  <a:pt x="4769080" y="340995"/>
                </a:lnTo>
                <a:lnTo>
                  <a:pt x="4812208" y="340995"/>
                </a:lnTo>
                <a:lnTo>
                  <a:pt x="4812208" y="170326"/>
                </a:lnTo>
                <a:lnTo>
                  <a:pt x="4867153" y="170326"/>
                </a:lnTo>
                <a:lnTo>
                  <a:pt x="4867153" y="134412"/>
                </a:lnTo>
                <a:close/>
                <a:moveTo>
                  <a:pt x="4507175" y="134412"/>
                </a:moveTo>
                <a:lnTo>
                  <a:pt x="4507175" y="340995"/>
                </a:lnTo>
                <a:lnTo>
                  <a:pt x="4547540" y="340995"/>
                </a:lnTo>
                <a:lnTo>
                  <a:pt x="4547540" y="200869"/>
                </a:lnTo>
                <a:lnTo>
                  <a:pt x="4642697" y="340995"/>
                </a:lnTo>
                <a:lnTo>
                  <a:pt x="4685058" y="340995"/>
                </a:lnTo>
                <a:lnTo>
                  <a:pt x="4685058" y="134412"/>
                </a:lnTo>
                <a:lnTo>
                  <a:pt x="4644386" y="134412"/>
                </a:lnTo>
                <a:lnTo>
                  <a:pt x="4644386" y="273618"/>
                </a:lnTo>
                <a:lnTo>
                  <a:pt x="4549382" y="134412"/>
                </a:lnTo>
                <a:close/>
                <a:moveTo>
                  <a:pt x="3757109" y="134412"/>
                </a:moveTo>
                <a:lnTo>
                  <a:pt x="3682826" y="340995"/>
                </a:lnTo>
                <a:lnTo>
                  <a:pt x="3727335" y="340995"/>
                </a:lnTo>
                <a:lnTo>
                  <a:pt x="3742529" y="295565"/>
                </a:lnTo>
                <a:lnTo>
                  <a:pt x="3817120" y="295565"/>
                </a:lnTo>
                <a:lnTo>
                  <a:pt x="3831854" y="340995"/>
                </a:lnTo>
                <a:lnTo>
                  <a:pt x="3873326" y="340995"/>
                </a:lnTo>
                <a:lnTo>
                  <a:pt x="3876823" y="340995"/>
                </a:lnTo>
                <a:lnTo>
                  <a:pt x="3919676" y="340995"/>
                </a:lnTo>
                <a:lnTo>
                  <a:pt x="3970171" y="180916"/>
                </a:lnTo>
                <a:lnTo>
                  <a:pt x="4020205" y="340995"/>
                </a:lnTo>
                <a:lnTo>
                  <a:pt x="4063826" y="340995"/>
                </a:lnTo>
                <a:lnTo>
                  <a:pt x="4066249" y="340995"/>
                </a:lnTo>
                <a:lnTo>
                  <a:pt x="4110176" y="340995"/>
                </a:lnTo>
                <a:lnTo>
                  <a:pt x="4160671" y="180916"/>
                </a:lnTo>
                <a:lnTo>
                  <a:pt x="4210705" y="340995"/>
                </a:lnTo>
                <a:lnTo>
                  <a:pt x="4256749" y="340995"/>
                </a:lnTo>
                <a:lnTo>
                  <a:pt x="4186455" y="134412"/>
                </a:lnTo>
                <a:lnTo>
                  <a:pt x="4135500" y="134412"/>
                </a:lnTo>
                <a:lnTo>
                  <a:pt x="4065049" y="337469"/>
                </a:lnTo>
                <a:lnTo>
                  <a:pt x="3995955" y="134412"/>
                </a:lnTo>
                <a:lnTo>
                  <a:pt x="3945000" y="134412"/>
                </a:lnTo>
                <a:lnTo>
                  <a:pt x="3875041" y="336050"/>
                </a:lnTo>
                <a:lnTo>
                  <a:pt x="3802386" y="134412"/>
                </a:lnTo>
                <a:close/>
                <a:moveTo>
                  <a:pt x="3516575" y="134412"/>
                </a:moveTo>
                <a:lnTo>
                  <a:pt x="3516575" y="340995"/>
                </a:lnTo>
                <a:lnTo>
                  <a:pt x="3595003" y="340995"/>
                </a:lnTo>
                <a:cubicBezTo>
                  <a:pt x="3611374" y="340995"/>
                  <a:pt x="3625417" y="338821"/>
                  <a:pt x="3637133" y="334472"/>
                </a:cubicBezTo>
                <a:cubicBezTo>
                  <a:pt x="3648849" y="330124"/>
                  <a:pt x="3657853" y="323473"/>
                  <a:pt x="3664145" y="314520"/>
                </a:cubicBezTo>
                <a:cubicBezTo>
                  <a:pt x="3670438" y="305567"/>
                  <a:pt x="3673584" y="294184"/>
                  <a:pt x="3673584" y="280371"/>
                </a:cubicBezTo>
                <a:cubicBezTo>
                  <a:pt x="3673584" y="267479"/>
                  <a:pt x="3669824" y="256633"/>
                  <a:pt x="3662304" y="247833"/>
                </a:cubicBezTo>
                <a:cubicBezTo>
                  <a:pt x="3654783" y="239034"/>
                  <a:pt x="3643861" y="233202"/>
                  <a:pt x="3629536" y="230337"/>
                </a:cubicBezTo>
                <a:cubicBezTo>
                  <a:pt x="3638642" y="226960"/>
                  <a:pt x="3645933" y="221460"/>
                  <a:pt x="3651407" y="213838"/>
                </a:cubicBezTo>
                <a:cubicBezTo>
                  <a:pt x="3656881" y="206215"/>
                  <a:pt x="3659618" y="196929"/>
                  <a:pt x="3659618" y="185981"/>
                </a:cubicBezTo>
                <a:cubicBezTo>
                  <a:pt x="3659618" y="168485"/>
                  <a:pt x="3653120" y="155516"/>
                  <a:pt x="3640126" y="147074"/>
                </a:cubicBezTo>
                <a:cubicBezTo>
                  <a:pt x="3627131" y="138633"/>
                  <a:pt x="3609482" y="134412"/>
                  <a:pt x="3587176" y="134412"/>
                </a:cubicBezTo>
                <a:close/>
                <a:moveTo>
                  <a:pt x="3421325" y="134412"/>
                </a:moveTo>
                <a:lnTo>
                  <a:pt x="3421325" y="340995"/>
                </a:lnTo>
                <a:lnTo>
                  <a:pt x="3464453" y="340995"/>
                </a:lnTo>
                <a:lnTo>
                  <a:pt x="3464453" y="134412"/>
                </a:lnTo>
                <a:close/>
                <a:moveTo>
                  <a:pt x="3230825" y="134412"/>
                </a:moveTo>
                <a:lnTo>
                  <a:pt x="3230825" y="340995"/>
                </a:lnTo>
                <a:lnTo>
                  <a:pt x="3273953" y="340995"/>
                </a:lnTo>
                <a:lnTo>
                  <a:pt x="3273953" y="267479"/>
                </a:lnTo>
                <a:lnTo>
                  <a:pt x="3311862" y="267479"/>
                </a:lnTo>
                <a:cubicBezTo>
                  <a:pt x="3325471" y="267479"/>
                  <a:pt x="3337877" y="265100"/>
                  <a:pt x="3349081" y="260342"/>
                </a:cubicBezTo>
                <a:cubicBezTo>
                  <a:pt x="3360285" y="255584"/>
                  <a:pt x="3369212" y="248294"/>
                  <a:pt x="3375863" y="238471"/>
                </a:cubicBezTo>
                <a:cubicBezTo>
                  <a:pt x="3382514" y="228648"/>
                  <a:pt x="3385839" y="216217"/>
                  <a:pt x="3385839" y="201176"/>
                </a:cubicBezTo>
                <a:cubicBezTo>
                  <a:pt x="3385839" y="185930"/>
                  <a:pt x="3382514" y="173396"/>
                  <a:pt x="3375863" y="163573"/>
                </a:cubicBezTo>
                <a:cubicBezTo>
                  <a:pt x="3369212" y="153751"/>
                  <a:pt x="3360285" y="146435"/>
                  <a:pt x="3349081" y="141626"/>
                </a:cubicBezTo>
                <a:cubicBezTo>
                  <a:pt x="3337877" y="136817"/>
                  <a:pt x="3325471" y="134412"/>
                  <a:pt x="3311862" y="134412"/>
                </a:cubicBezTo>
                <a:close/>
                <a:moveTo>
                  <a:pt x="3049850" y="134412"/>
                </a:moveTo>
                <a:lnTo>
                  <a:pt x="3049850" y="340995"/>
                </a:lnTo>
                <a:lnTo>
                  <a:pt x="3188442" y="340995"/>
                </a:lnTo>
                <a:lnTo>
                  <a:pt x="3188442" y="305234"/>
                </a:lnTo>
                <a:lnTo>
                  <a:pt x="3092978" y="305234"/>
                </a:lnTo>
                <a:lnTo>
                  <a:pt x="3092978" y="252745"/>
                </a:lnTo>
                <a:lnTo>
                  <a:pt x="3179540" y="252745"/>
                </a:lnTo>
                <a:lnTo>
                  <a:pt x="3179540" y="218212"/>
                </a:lnTo>
                <a:lnTo>
                  <a:pt x="3092978" y="218212"/>
                </a:lnTo>
                <a:lnTo>
                  <a:pt x="3092978" y="170173"/>
                </a:lnTo>
                <a:lnTo>
                  <a:pt x="3188442" y="170173"/>
                </a:lnTo>
                <a:lnTo>
                  <a:pt x="3188442" y="134412"/>
                </a:lnTo>
                <a:close/>
                <a:moveTo>
                  <a:pt x="2821250" y="134412"/>
                </a:moveTo>
                <a:lnTo>
                  <a:pt x="2821250" y="340995"/>
                </a:lnTo>
                <a:lnTo>
                  <a:pt x="2864378" y="340995"/>
                </a:lnTo>
                <a:lnTo>
                  <a:pt x="2864378" y="170480"/>
                </a:lnTo>
                <a:lnTo>
                  <a:pt x="2954931" y="170480"/>
                </a:lnTo>
                <a:lnTo>
                  <a:pt x="2954931" y="340995"/>
                </a:lnTo>
                <a:lnTo>
                  <a:pt x="2998058" y="340995"/>
                </a:lnTo>
                <a:lnTo>
                  <a:pt x="2998058" y="134412"/>
                </a:lnTo>
                <a:close/>
                <a:moveTo>
                  <a:pt x="2539365" y="134412"/>
                </a:moveTo>
                <a:lnTo>
                  <a:pt x="2609352" y="263795"/>
                </a:lnTo>
                <a:lnTo>
                  <a:pt x="2609352" y="340995"/>
                </a:lnTo>
                <a:lnTo>
                  <a:pt x="2653554" y="340995"/>
                </a:lnTo>
                <a:lnTo>
                  <a:pt x="2653554" y="263795"/>
                </a:lnTo>
                <a:lnTo>
                  <a:pt x="2723540" y="134412"/>
                </a:lnTo>
                <a:lnTo>
                  <a:pt x="2675655" y="134412"/>
                </a:lnTo>
                <a:lnTo>
                  <a:pt x="2631453" y="224197"/>
                </a:lnTo>
                <a:lnTo>
                  <a:pt x="2587251" y="134412"/>
                </a:lnTo>
                <a:close/>
                <a:moveTo>
                  <a:pt x="2135450" y="134412"/>
                </a:moveTo>
                <a:lnTo>
                  <a:pt x="2135450" y="340995"/>
                </a:lnTo>
                <a:lnTo>
                  <a:pt x="2178578" y="340995"/>
                </a:lnTo>
                <a:lnTo>
                  <a:pt x="2178578" y="235248"/>
                </a:lnTo>
                <a:lnTo>
                  <a:pt x="2255625" y="340995"/>
                </a:lnTo>
                <a:lnTo>
                  <a:pt x="2305505" y="340995"/>
                </a:lnTo>
                <a:lnTo>
                  <a:pt x="2224008" y="231258"/>
                </a:lnTo>
                <a:lnTo>
                  <a:pt x="2300440" y="134412"/>
                </a:lnTo>
                <a:lnTo>
                  <a:pt x="2252708" y="134412"/>
                </a:lnTo>
                <a:lnTo>
                  <a:pt x="2178578" y="232946"/>
                </a:lnTo>
                <a:lnTo>
                  <a:pt x="2178578" y="134412"/>
                </a:lnTo>
                <a:close/>
                <a:moveTo>
                  <a:pt x="2040200" y="134412"/>
                </a:moveTo>
                <a:lnTo>
                  <a:pt x="2040200" y="340995"/>
                </a:lnTo>
                <a:lnTo>
                  <a:pt x="2083328" y="340995"/>
                </a:lnTo>
                <a:lnTo>
                  <a:pt x="2083328" y="134412"/>
                </a:lnTo>
                <a:close/>
                <a:moveTo>
                  <a:pt x="1888982" y="134412"/>
                </a:moveTo>
                <a:lnTo>
                  <a:pt x="1823753" y="307844"/>
                </a:lnTo>
                <a:lnTo>
                  <a:pt x="1823753" y="340995"/>
                </a:lnTo>
                <a:lnTo>
                  <a:pt x="2004245" y="340995"/>
                </a:lnTo>
                <a:lnTo>
                  <a:pt x="2004245" y="307844"/>
                </a:lnTo>
                <a:lnTo>
                  <a:pt x="1939937" y="134412"/>
                </a:lnTo>
                <a:close/>
                <a:moveTo>
                  <a:pt x="1744925" y="134412"/>
                </a:moveTo>
                <a:lnTo>
                  <a:pt x="1744925" y="340995"/>
                </a:lnTo>
                <a:lnTo>
                  <a:pt x="1788053" y="340995"/>
                </a:lnTo>
                <a:lnTo>
                  <a:pt x="1788053" y="134412"/>
                </a:lnTo>
                <a:close/>
                <a:moveTo>
                  <a:pt x="1563951" y="134412"/>
                </a:moveTo>
                <a:lnTo>
                  <a:pt x="1563951" y="340995"/>
                </a:lnTo>
                <a:lnTo>
                  <a:pt x="1702542" y="340995"/>
                </a:lnTo>
                <a:lnTo>
                  <a:pt x="1702542" y="305234"/>
                </a:lnTo>
                <a:lnTo>
                  <a:pt x="1607078" y="305234"/>
                </a:lnTo>
                <a:lnTo>
                  <a:pt x="1607078" y="252745"/>
                </a:lnTo>
                <a:lnTo>
                  <a:pt x="1693640" y="252745"/>
                </a:lnTo>
                <a:lnTo>
                  <a:pt x="1693640" y="218212"/>
                </a:lnTo>
                <a:lnTo>
                  <a:pt x="1607078" y="218212"/>
                </a:lnTo>
                <a:lnTo>
                  <a:pt x="1607078" y="170173"/>
                </a:lnTo>
                <a:lnTo>
                  <a:pt x="1702542" y="170173"/>
                </a:lnTo>
                <a:lnTo>
                  <a:pt x="1702542" y="134412"/>
                </a:lnTo>
                <a:close/>
                <a:moveTo>
                  <a:pt x="1240100" y="134412"/>
                </a:moveTo>
                <a:lnTo>
                  <a:pt x="1240100" y="340995"/>
                </a:lnTo>
                <a:lnTo>
                  <a:pt x="1283228" y="340995"/>
                </a:lnTo>
                <a:lnTo>
                  <a:pt x="1283228" y="253205"/>
                </a:lnTo>
                <a:lnTo>
                  <a:pt x="1376850" y="253205"/>
                </a:lnTo>
                <a:lnTo>
                  <a:pt x="1376850" y="340995"/>
                </a:lnTo>
                <a:lnTo>
                  <a:pt x="1419978" y="340995"/>
                </a:lnTo>
                <a:lnTo>
                  <a:pt x="1419978" y="134412"/>
                </a:lnTo>
                <a:lnTo>
                  <a:pt x="1376850" y="134412"/>
                </a:lnTo>
                <a:lnTo>
                  <a:pt x="1376850" y="215142"/>
                </a:lnTo>
                <a:lnTo>
                  <a:pt x="1283228" y="215142"/>
                </a:lnTo>
                <a:lnTo>
                  <a:pt x="1283228" y="134412"/>
                </a:lnTo>
                <a:close/>
                <a:moveTo>
                  <a:pt x="1065590" y="134412"/>
                </a:moveTo>
                <a:lnTo>
                  <a:pt x="1065590" y="167871"/>
                </a:lnTo>
                <a:lnTo>
                  <a:pt x="1131126" y="231871"/>
                </a:lnTo>
                <a:lnTo>
                  <a:pt x="1060832" y="307537"/>
                </a:lnTo>
                <a:lnTo>
                  <a:pt x="1060832" y="340995"/>
                </a:lnTo>
                <a:lnTo>
                  <a:pt x="1212009" y="340995"/>
                </a:lnTo>
                <a:lnTo>
                  <a:pt x="1212009" y="305234"/>
                </a:lnTo>
                <a:lnTo>
                  <a:pt x="1111020" y="305081"/>
                </a:lnTo>
                <a:lnTo>
                  <a:pt x="1172105" y="239545"/>
                </a:lnTo>
                <a:lnTo>
                  <a:pt x="1172105" y="222509"/>
                </a:lnTo>
                <a:lnTo>
                  <a:pt x="1117006" y="170326"/>
                </a:lnTo>
                <a:lnTo>
                  <a:pt x="1201879" y="170173"/>
                </a:lnTo>
                <a:lnTo>
                  <a:pt x="1201879" y="134412"/>
                </a:lnTo>
                <a:close/>
                <a:moveTo>
                  <a:pt x="872490" y="134412"/>
                </a:moveTo>
                <a:lnTo>
                  <a:pt x="942477" y="263795"/>
                </a:lnTo>
                <a:lnTo>
                  <a:pt x="942477" y="340995"/>
                </a:lnTo>
                <a:lnTo>
                  <a:pt x="986679" y="340995"/>
                </a:lnTo>
                <a:lnTo>
                  <a:pt x="986679" y="263795"/>
                </a:lnTo>
                <a:lnTo>
                  <a:pt x="1056665" y="134412"/>
                </a:lnTo>
                <a:lnTo>
                  <a:pt x="1008780" y="134412"/>
                </a:lnTo>
                <a:lnTo>
                  <a:pt x="964578" y="224197"/>
                </a:lnTo>
                <a:lnTo>
                  <a:pt x="920376" y="134412"/>
                </a:lnTo>
                <a:close/>
                <a:moveTo>
                  <a:pt x="585284" y="134412"/>
                </a:moveTo>
                <a:lnTo>
                  <a:pt x="511001" y="340995"/>
                </a:lnTo>
                <a:lnTo>
                  <a:pt x="555510" y="340995"/>
                </a:lnTo>
                <a:lnTo>
                  <a:pt x="570704" y="295565"/>
                </a:lnTo>
                <a:lnTo>
                  <a:pt x="645295" y="295565"/>
                </a:lnTo>
                <a:lnTo>
                  <a:pt x="660029" y="340995"/>
                </a:lnTo>
                <a:lnTo>
                  <a:pt x="701501" y="340995"/>
                </a:lnTo>
                <a:lnTo>
                  <a:pt x="704998" y="340995"/>
                </a:lnTo>
                <a:lnTo>
                  <a:pt x="747851" y="340995"/>
                </a:lnTo>
                <a:lnTo>
                  <a:pt x="798346" y="180916"/>
                </a:lnTo>
                <a:lnTo>
                  <a:pt x="848380" y="340995"/>
                </a:lnTo>
                <a:lnTo>
                  <a:pt x="894424" y="340995"/>
                </a:lnTo>
                <a:lnTo>
                  <a:pt x="824130" y="134412"/>
                </a:lnTo>
                <a:lnTo>
                  <a:pt x="773175" y="134412"/>
                </a:lnTo>
                <a:lnTo>
                  <a:pt x="703216" y="336050"/>
                </a:lnTo>
                <a:lnTo>
                  <a:pt x="630561" y="134412"/>
                </a:lnTo>
                <a:close/>
                <a:moveTo>
                  <a:pt x="306650" y="134412"/>
                </a:moveTo>
                <a:lnTo>
                  <a:pt x="306650" y="340995"/>
                </a:lnTo>
                <a:lnTo>
                  <a:pt x="347015" y="340995"/>
                </a:lnTo>
                <a:lnTo>
                  <a:pt x="347015" y="200869"/>
                </a:lnTo>
                <a:lnTo>
                  <a:pt x="442172" y="340995"/>
                </a:lnTo>
                <a:lnTo>
                  <a:pt x="484532" y="340995"/>
                </a:lnTo>
                <a:lnTo>
                  <a:pt x="484532" y="134412"/>
                </a:lnTo>
                <a:lnTo>
                  <a:pt x="443861" y="134412"/>
                </a:lnTo>
                <a:lnTo>
                  <a:pt x="443861" y="273618"/>
                </a:lnTo>
                <a:lnTo>
                  <a:pt x="348857" y="134412"/>
                </a:lnTo>
                <a:close/>
                <a:moveTo>
                  <a:pt x="166184" y="134412"/>
                </a:moveTo>
                <a:lnTo>
                  <a:pt x="91901" y="340995"/>
                </a:lnTo>
                <a:lnTo>
                  <a:pt x="136410" y="340995"/>
                </a:lnTo>
                <a:lnTo>
                  <a:pt x="151604" y="295565"/>
                </a:lnTo>
                <a:lnTo>
                  <a:pt x="226195" y="295565"/>
                </a:lnTo>
                <a:lnTo>
                  <a:pt x="240929" y="340995"/>
                </a:lnTo>
                <a:lnTo>
                  <a:pt x="285898" y="340995"/>
                </a:lnTo>
                <a:lnTo>
                  <a:pt x="211461" y="134412"/>
                </a:lnTo>
                <a:close/>
                <a:moveTo>
                  <a:pt x="4988867" y="131650"/>
                </a:moveTo>
                <a:cubicBezTo>
                  <a:pt x="4967277" y="131650"/>
                  <a:pt x="4948988" y="136024"/>
                  <a:pt x="4933998" y="144772"/>
                </a:cubicBezTo>
                <a:cubicBezTo>
                  <a:pt x="4919008" y="153520"/>
                  <a:pt x="4907625" y="165850"/>
                  <a:pt x="4899849" y="181761"/>
                </a:cubicBezTo>
                <a:cubicBezTo>
                  <a:pt x="4892073" y="197671"/>
                  <a:pt x="4888184" y="216370"/>
                  <a:pt x="4888184" y="237857"/>
                </a:cubicBezTo>
                <a:cubicBezTo>
                  <a:pt x="4888184" y="259344"/>
                  <a:pt x="4892073" y="277992"/>
                  <a:pt x="4899849" y="293800"/>
                </a:cubicBezTo>
                <a:cubicBezTo>
                  <a:pt x="4907625" y="309609"/>
                  <a:pt x="4919008" y="321887"/>
                  <a:pt x="4933998" y="330635"/>
                </a:cubicBezTo>
                <a:cubicBezTo>
                  <a:pt x="4948988" y="339384"/>
                  <a:pt x="4967277" y="343758"/>
                  <a:pt x="4988867" y="343758"/>
                </a:cubicBezTo>
                <a:cubicBezTo>
                  <a:pt x="5010456" y="343758"/>
                  <a:pt x="5028720" y="339384"/>
                  <a:pt x="5043659" y="330635"/>
                </a:cubicBezTo>
                <a:cubicBezTo>
                  <a:pt x="5058597" y="321887"/>
                  <a:pt x="5069955" y="309609"/>
                  <a:pt x="5077731" y="293800"/>
                </a:cubicBezTo>
                <a:cubicBezTo>
                  <a:pt x="5085507" y="277992"/>
                  <a:pt x="5089395" y="259344"/>
                  <a:pt x="5089395" y="237857"/>
                </a:cubicBezTo>
                <a:cubicBezTo>
                  <a:pt x="5089395" y="216370"/>
                  <a:pt x="5085507" y="197671"/>
                  <a:pt x="5077731" y="181761"/>
                </a:cubicBezTo>
                <a:cubicBezTo>
                  <a:pt x="5069955" y="165850"/>
                  <a:pt x="5058597" y="153520"/>
                  <a:pt x="5043659" y="144772"/>
                </a:cubicBezTo>
                <a:cubicBezTo>
                  <a:pt x="5028720" y="136024"/>
                  <a:pt x="5010456" y="131650"/>
                  <a:pt x="4988867" y="131650"/>
                </a:cubicBezTo>
                <a:close/>
                <a:moveTo>
                  <a:pt x="4369742" y="131650"/>
                </a:moveTo>
                <a:cubicBezTo>
                  <a:pt x="4348153" y="131650"/>
                  <a:pt x="4329863" y="136024"/>
                  <a:pt x="4314873" y="144772"/>
                </a:cubicBezTo>
                <a:cubicBezTo>
                  <a:pt x="4299883" y="153520"/>
                  <a:pt x="4288500" y="165850"/>
                  <a:pt x="4280724" y="181761"/>
                </a:cubicBezTo>
                <a:cubicBezTo>
                  <a:pt x="4272948" y="197671"/>
                  <a:pt x="4269060" y="216370"/>
                  <a:pt x="4269060" y="237857"/>
                </a:cubicBezTo>
                <a:cubicBezTo>
                  <a:pt x="4269060" y="259344"/>
                  <a:pt x="4272948" y="277992"/>
                  <a:pt x="4280724" y="293800"/>
                </a:cubicBezTo>
                <a:cubicBezTo>
                  <a:pt x="4288500" y="309609"/>
                  <a:pt x="4299883" y="321887"/>
                  <a:pt x="4314873" y="330635"/>
                </a:cubicBezTo>
                <a:cubicBezTo>
                  <a:pt x="4329863" y="339384"/>
                  <a:pt x="4348153" y="343758"/>
                  <a:pt x="4369742" y="343758"/>
                </a:cubicBezTo>
                <a:cubicBezTo>
                  <a:pt x="4391331" y="343758"/>
                  <a:pt x="4409595" y="339384"/>
                  <a:pt x="4424534" y="330635"/>
                </a:cubicBezTo>
                <a:cubicBezTo>
                  <a:pt x="4439473" y="321887"/>
                  <a:pt x="4450830" y="309609"/>
                  <a:pt x="4458606" y="293800"/>
                </a:cubicBezTo>
                <a:cubicBezTo>
                  <a:pt x="4466383" y="277992"/>
                  <a:pt x="4470271" y="259344"/>
                  <a:pt x="4470271" y="237857"/>
                </a:cubicBezTo>
                <a:cubicBezTo>
                  <a:pt x="4470271" y="216370"/>
                  <a:pt x="4466382" y="197671"/>
                  <a:pt x="4458606" y="181761"/>
                </a:cubicBezTo>
                <a:cubicBezTo>
                  <a:pt x="4450830" y="165850"/>
                  <a:pt x="4439473" y="153520"/>
                  <a:pt x="4424534" y="144772"/>
                </a:cubicBezTo>
                <a:cubicBezTo>
                  <a:pt x="4409595" y="136024"/>
                  <a:pt x="4391331" y="131650"/>
                  <a:pt x="4369742" y="131650"/>
                </a:cubicBezTo>
                <a:close/>
                <a:moveTo>
                  <a:pt x="2426642" y="131650"/>
                </a:moveTo>
                <a:cubicBezTo>
                  <a:pt x="2405053" y="131650"/>
                  <a:pt x="2386763" y="136024"/>
                  <a:pt x="2371773" y="144772"/>
                </a:cubicBezTo>
                <a:cubicBezTo>
                  <a:pt x="2356783" y="153520"/>
                  <a:pt x="2345400" y="165850"/>
                  <a:pt x="2337624" y="181761"/>
                </a:cubicBezTo>
                <a:cubicBezTo>
                  <a:pt x="2329848" y="197671"/>
                  <a:pt x="2325960" y="216370"/>
                  <a:pt x="2325960" y="237857"/>
                </a:cubicBezTo>
                <a:cubicBezTo>
                  <a:pt x="2325960" y="259344"/>
                  <a:pt x="2329848" y="277992"/>
                  <a:pt x="2337624" y="293800"/>
                </a:cubicBezTo>
                <a:cubicBezTo>
                  <a:pt x="2345400" y="309609"/>
                  <a:pt x="2356783" y="321887"/>
                  <a:pt x="2371773" y="330635"/>
                </a:cubicBezTo>
                <a:cubicBezTo>
                  <a:pt x="2386763" y="339384"/>
                  <a:pt x="2405053" y="343758"/>
                  <a:pt x="2426642" y="343758"/>
                </a:cubicBezTo>
                <a:cubicBezTo>
                  <a:pt x="2448231" y="343758"/>
                  <a:pt x="2466495" y="339384"/>
                  <a:pt x="2481434" y="330635"/>
                </a:cubicBezTo>
                <a:cubicBezTo>
                  <a:pt x="2496372" y="321887"/>
                  <a:pt x="2507730" y="309609"/>
                  <a:pt x="2515506" y="293800"/>
                </a:cubicBezTo>
                <a:cubicBezTo>
                  <a:pt x="2523282" y="277992"/>
                  <a:pt x="2527171" y="259344"/>
                  <a:pt x="2527171" y="237857"/>
                </a:cubicBezTo>
                <a:cubicBezTo>
                  <a:pt x="2527171" y="216370"/>
                  <a:pt x="2523282" y="197671"/>
                  <a:pt x="2515506" y="181761"/>
                </a:cubicBezTo>
                <a:cubicBezTo>
                  <a:pt x="2507730" y="165850"/>
                  <a:pt x="2496372" y="153520"/>
                  <a:pt x="2481434" y="144772"/>
                </a:cubicBezTo>
                <a:cubicBezTo>
                  <a:pt x="2466495" y="136024"/>
                  <a:pt x="2448231" y="131650"/>
                  <a:pt x="2426642" y="131650"/>
                </a:cubicBezTo>
                <a:close/>
                <a:moveTo>
                  <a:pt x="79511" y="0"/>
                </a:moveTo>
                <a:lnTo>
                  <a:pt x="5314478" y="0"/>
                </a:lnTo>
                <a:cubicBezTo>
                  <a:pt x="5358391" y="0"/>
                  <a:pt x="5393989" y="35598"/>
                  <a:pt x="5393989" y="79511"/>
                </a:cubicBezTo>
                <a:lnTo>
                  <a:pt x="5393989" y="397543"/>
                </a:lnTo>
                <a:cubicBezTo>
                  <a:pt x="5393989" y="441456"/>
                  <a:pt x="5358391" y="477054"/>
                  <a:pt x="5314478" y="477054"/>
                </a:cubicBezTo>
                <a:lnTo>
                  <a:pt x="79511" y="477054"/>
                </a:lnTo>
                <a:cubicBezTo>
                  <a:pt x="35598" y="477054"/>
                  <a:pt x="0" y="441456"/>
                  <a:pt x="0" y="397543"/>
                </a:cubicBezTo>
                <a:lnTo>
                  <a:pt x="0" y="79511"/>
                </a:lnTo>
                <a:cubicBezTo>
                  <a:pt x="0" y="35598"/>
                  <a:pt x="35598" y="0"/>
                  <a:pt x="79511" y="0"/>
                </a:cubicBezTo>
                <a:close/>
              </a:path>
            </a:pathLst>
          </a:cu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l-GR"/>
          </a:p>
        </p:txBody>
      </p:sp>
      <p:sp>
        <p:nvSpPr>
          <p:cNvPr id="8" name="TextBox 7">
            <a:extLst>
              <a:ext uri="{FF2B5EF4-FFF2-40B4-BE49-F238E27FC236}">
                <a16:creationId xmlns:a16="http://schemas.microsoft.com/office/drawing/2014/main" id="{700A256F-7EE8-1350-5D81-EAE2C96D1100}"/>
              </a:ext>
            </a:extLst>
          </p:cNvPr>
          <p:cNvSpPr txBox="1"/>
          <p:nvPr/>
        </p:nvSpPr>
        <p:spPr>
          <a:xfrm>
            <a:off x="4104969" y="1164274"/>
            <a:ext cx="1917290" cy="408623"/>
          </a:xfrm>
          <a:prstGeom prst="flowChartAlternateProcess">
            <a:avLst/>
          </a:prstGeom>
          <a:noFill/>
          <a:ln w="28575" cap="sq">
            <a:solidFill>
              <a:schemeClr val="tx1"/>
            </a:solidFill>
          </a:ln>
          <a:effectLst/>
          <a:scene3d>
            <a:camera prst="orthographicFront"/>
            <a:lightRig rig="threePt" dir="t"/>
          </a:scene3d>
          <a:sp3d>
            <a:bevelT prst="angle"/>
          </a:sp3d>
        </p:spPr>
        <p:txBody>
          <a:bodyPr wrap="square" rtlCol="0">
            <a:spAutoFit/>
          </a:bodyPr>
          <a:lstStyle/>
          <a:p>
            <a:r>
              <a:rPr lang="el-GR" b="1" kern="100" dirty="0">
                <a:solidFill>
                  <a:schemeClr val="tx2">
                    <a:lumMod val="75000"/>
                    <a:lumOff val="25000"/>
                  </a:schemeClr>
                </a:solidFill>
                <a:latin typeface="Aptos" panose="020B0004020202020204" pitchFamily="34" charset="0"/>
                <a:ea typeface="Aptos" panose="020B0004020202020204" pitchFamily="34" charset="0"/>
                <a:cs typeface="Times New Roman" panose="02020603050405020304" pitchFamily="18" charset="0"/>
              </a:rPr>
              <a:t>ΠΡΟΜΗΘΕΥΤΕΣ</a:t>
            </a:r>
            <a:endParaRPr lang="el-GR" b="1" kern="100" dirty="0">
              <a:solidFill>
                <a:schemeClr val="tx2">
                  <a:lumMod val="75000"/>
                  <a:lumOff val="25000"/>
                </a:schemeClr>
              </a:solidFill>
              <a:effectLst/>
              <a:latin typeface="Aptos" panose="020B0004020202020204" pitchFamily="34" charset="0"/>
              <a:ea typeface="Aptos" panose="020B0004020202020204" pitchFamily="34" charset="0"/>
              <a:cs typeface="Times New Roman" panose="02020603050405020304" pitchFamily="18" charset="0"/>
            </a:endParaRPr>
          </a:p>
        </p:txBody>
      </p:sp>
      <p:sp>
        <p:nvSpPr>
          <p:cNvPr id="9" name="TextBox 8">
            <a:extLst>
              <a:ext uri="{FF2B5EF4-FFF2-40B4-BE49-F238E27FC236}">
                <a16:creationId xmlns:a16="http://schemas.microsoft.com/office/drawing/2014/main" id="{FC925CD6-91EB-D156-5D5D-5576CC0B3601}"/>
              </a:ext>
            </a:extLst>
          </p:cNvPr>
          <p:cNvSpPr txBox="1"/>
          <p:nvPr/>
        </p:nvSpPr>
        <p:spPr>
          <a:xfrm>
            <a:off x="1646903" y="1164274"/>
            <a:ext cx="1917290" cy="408623"/>
          </a:xfrm>
          <a:prstGeom prst="flowChartAlternateProcess">
            <a:avLst/>
          </a:prstGeom>
          <a:noFill/>
          <a:ln w="28575" cap="sq">
            <a:solidFill>
              <a:schemeClr val="tx1"/>
            </a:solidFill>
          </a:ln>
          <a:effectLst/>
          <a:scene3d>
            <a:camera prst="orthographicFront"/>
            <a:lightRig rig="threePt" dir="t"/>
          </a:scene3d>
          <a:sp3d>
            <a:bevelT prst="angle"/>
          </a:sp3d>
        </p:spPr>
        <p:txBody>
          <a:bodyPr wrap="square" rtlCol="0">
            <a:spAutoFit/>
          </a:bodyPr>
          <a:lstStyle/>
          <a:p>
            <a:r>
              <a:rPr lang="el-GR" b="1" kern="100" dirty="0">
                <a:solidFill>
                  <a:srgbClr val="215E99"/>
                </a:solidFill>
                <a:effectLst/>
                <a:latin typeface="Aptos" panose="020B0004020202020204" pitchFamily="34" charset="0"/>
                <a:ea typeface="Aptos" panose="020B0004020202020204" pitchFamily="34" charset="0"/>
                <a:cs typeface="Times New Roman" panose="02020603050405020304" pitchFamily="18" charset="0"/>
              </a:rPr>
              <a:t>ΑΝΤΑΓΩΝΙΣΜΟΣ</a:t>
            </a:r>
            <a:endParaRPr lang="el-GR" b="1"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10" name="TextBox 9">
            <a:extLst>
              <a:ext uri="{FF2B5EF4-FFF2-40B4-BE49-F238E27FC236}">
                <a16:creationId xmlns:a16="http://schemas.microsoft.com/office/drawing/2014/main" id="{79974ED0-BF8F-34DB-9FD8-DC621D70661E}"/>
              </a:ext>
            </a:extLst>
          </p:cNvPr>
          <p:cNvSpPr txBox="1"/>
          <p:nvPr/>
        </p:nvSpPr>
        <p:spPr>
          <a:xfrm>
            <a:off x="6513869" y="1164274"/>
            <a:ext cx="4714570" cy="411480"/>
          </a:xfrm>
          <a:prstGeom prst="flowChartAlternateProcess">
            <a:avLst/>
          </a:prstGeom>
          <a:noFill/>
          <a:ln w="28575" cap="sq">
            <a:solidFill>
              <a:schemeClr val="tx1"/>
            </a:solidFill>
          </a:ln>
          <a:effectLst/>
          <a:scene3d>
            <a:camera prst="orthographicFront"/>
            <a:lightRig rig="threePt" dir="t"/>
          </a:scene3d>
          <a:sp3d>
            <a:bevelT prst="angle"/>
          </a:sp3d>
        </p:spPr>
        <p:txBody>
          <a:bodyPr wrap="square" rtlCol="0">
            <a:spAutoFit/>
          </a:bodyPr>
          <a:lstStyle/>
          <a:p>
            <a:r>
              <a:rPr lang="el-GR" b="1" kern="100" dirty="0">
                <a:solidFill>
                  <a:srgbClr val="215E99"/>
                </a:solidFill>
                <a:effectLst/>
                <a:latin typeface="Aptos" panose="020B0004020202020204" pitchFamily="34" charset="0"/>
                <a:ea typeface="Aptos" panose="020B0004020202020204" pitchFamily="34" charset="0"/>
                <a:cs typeface="Times New Roman" panose="02020603050405020304" pitchFamily="18" charset="0"/>
              </a:rPr>
              <a:t>ΣΥΝΕΡΓΑΖΟΜΕΝΑ ΚΑΤΑΣΤΗΜΑΤΑ ΛΙΑΝΙΚΗΣ</a:t>
            </a:r>
            <a:endParaRPr lang="el-GR" b="1" kern="100" dirty="0">
              <a:effectLst/>
              <a:latin typeface="Aptos" panose="020B0004020202020204" pitchFamily="34" charset="0"/>
              <a:ea typeface="Aptos" panose="020B0004020202020204" pitchFamily="34" charset="0"/>
              <a:cs typeface="Times New Roman" panose="02020603050405020304" pitchFamily="18" charset="0"/>
            </a:endParaRPr>
          </a:p>
          <a:p>
            <a:endParaRPr lang="el-GR" sz="1600" b="1" kern="100" dirty="0">
              <a:effectLst/>
              <a:latin typeface="Aptos" panose="020B0004020202020204" pitchFamily="34" charset="0"/>
              <a:ea typeface="Aptos" panose="020B0004020202020204" pitchFamily="34" charset="0"/>
              <a:cs typeface="Times New Roman" panose="02020603050405020304" pitchFamily="18" charset="0"/>
            </a:endParaRPr>
          </a:p>
        </p:txBody>
      </p:sp>
      <p:cxnSp>
        <p:nvCxnSpPr>
          <p:cNvPr id="12" name="Straight Arrow Connector 11">
            <a:extLst>
              <a:ext uri="{FF2B5EF4-FFF2-40B4-BE49-F238E27FC236}">
                <a16:creationId xmlns:a16="http://schemas.microsoft.com/office/drawing/2014/main" id="{4FC30BCB-1622-01A3-D40F-8B75EC2F9C76}"/>
              </a:ext>
            </a:extLst>
          </p:cNvPr>
          <p:cNvCxnSpPr/>
          <p:nvPr/>
        </p:nvCxnSpPr>
        <p:spPr>
          <a:xfrm>
            <a:off x="2959510" y="575830"/>
            <a:ext cx="0" cy="588444"/>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A81A3F91-9210-F726-5BAA-72BC639CCF09}"/>
              </a:ext>
            </a:extLst>
          </p:cNvPr>
          <p:cNvCxnSpPr/>
          <p:nvPr/>
        </p:nvCxnSpPr>
        <p:spPr>
          <a:xfrm>
            <a:off x="8185355" y="575830"/>
            <a:ext cx="0" cy="588444"/>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E9BA1541-413C-7C41-8433-6F5C63F26A17}"/>
              </a:ext>
            </a:extLst>
          </p:cNvPr>
          <p:cNvCxnSpPr/>
          <p:nvPr/>
        </p:nvCxnSpPr>
        <p:spPr>
          <a:xfrm>
            <a:off x="4984955" y="575830"/>
            <a:ext cx="0" cy="588444"/>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004389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1ECA54BA-E048-0DF0-BD18-5466A3E08D51}"/>
              </a:ext>
            </a:extLst>
          </p:cNvPr>
          <p:cNvGrpSpPr/>
          <p:nvPr/>
        </p:nvGrpSpPr>
        <p:grpSpPr>
          <a:xfrm>
            <a:off x="586403" y="1516269"/>
            <a:ext cx="11228594" cy="2143125"/>
            <a:chOff x="645396" y="864775"/>
            <a:chExt cx="11228594" cy="2143125"/>
          </a:xfrm>
        </p:grpSpPr>
        <p:pic>
          <p:nvPicPr>
            <p:cNvPr id="1026" name="Picture 2" descr="Δέλτα Α.Ε. - Βικιπαίδεια">
              <a:extLst>
                <a:ext uri="{FF2B5EF4-FFF2-40B4-BE49-F238E27FC236}">
                  <a16:creationId xmlns:a16="http://schemas.microsoft.com/office/drawing/2014/main" id="{E4D0B12A-428B-D5A4-196C-5D387D842F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5396" y="1005195"/>
              <a:ext cx="2524125" cy="181927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ΜΕΒΓΑΛ - Βικιπαίδεια">
              <a:extLst>
                <a:ext uri="{FF2B5EF4-FFF2-40B4-BE49-F238E27FC236}">
                  <a16:creationId xmlns:a16="http://schemas.microsoft.com/office/drawing/2014/main" id="{57ABFC83-3F08-85F0-84C2-596F7577B5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97185" y="1036226"/>
              <a:ext cx="2543175" cy="180022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Όλυμπος (γαλακτοβιομηχανία) - Βικιπαίδεια">
              <a:extLst>
                <a:ext uri="{FF2B5EF4-FFF2-40B4-BE49-F238E27FC236}">
                  <a16:creationId xmlns:a16="http://schemas.microsoft.com/office/drawing/2014/main" id="{005B55B1-7284-65F8-7A5E-8F16E5E4BCE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35366" y="1024245"/>
              <a:ext cx="2457450" cy="1857375"/>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Η ιστορία μας | Κρι Κρι">
              <a:extLst>
                <a:ext uri="{FF2B5EF4-FFF2-40B4-BE49-F238E27FC236}">
                  <a16:creationId xmlns:a16="http://schemas.microsoft.com/office/drawing/2014/main" id="{90D403C2-F680-5F9F-2C78-CC69FEC5FBB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730865" y="864775"/>
              <a:ext cx="2143125" cy="2143125"/>
            </a:xfrm>
            <a:prstGeom prst="rect">
              <a:avLst/>
            </a:prstGeom>
            <a:noFill/>
            <a:extLst>
              <a:ext uri="{909E8E84-426E-40DD-AFC4-6F175D3DCCD1}">
                <a14:hiddenFill xmlns:a14="http://schemas.microsoft.com/office/drawing/2010/main">
                  <a:solidFill>
                    <a:srgbClr val="FFFFFF"/>
                  </a:solidFill>
                </a14:hiddenFill>
              </a:ext>
            </a:extLst>
          </p:spPr>
        </p:pic>
      </p:grpSp>
      <p:sp>
        <p:nvSpPr>
          <p:cNvPr id="5" name="TextBox 4">
            <a:extLst>
              <a:ext uri="{FF2B5EF4-FFF2-40B4-BE49-F238E27FC236}">
                <a16:creationId xmlns:a16="http://schemas.microsoft.com/office/drawing/2014/main" id="{83CBCCE6-573A-7113-BE1E-F544AEF440B3}"/>
              </a:ext>
            </a:extLst>
          </p:cNvPr>
          <p:cNvSpPr txBox="1"/>
          <p:nvPr/>
        </p:nvSpPr>
        <p:spPr>
          <a:xfrm>
            <a:off x="2664539" y="944410"/>
            <a:ext cx="5987847" cy="369332"/>
          </a:xfrm>
          <a:prstGeom prst="rect">
            <a:avLst/>
          </a:prstGeom>
          <a:noFill/>
        </p:spPr>
        <p:txBody>
          <a:bodyPr wrap="square" rtlCol="0">
            <a:spAutoFit/>
          </a:bodyPr>
          <a:lstStyle/>
          <a:p>
            <a:r>
              <a:rPr lang="el-GR" dirty="0"/>
              <a:t>ΜΕΡΙΔΙΑ ΑΓΟΡΑΣ (συνολική παραγωγή – πωλήσεις 2022)</a:t>
            </a:r>
          </a:p>
        </p:txBody>
      </p:sp>
      <p:sp>
        <p:nvSpPr>
          <p:cNvPr id="6" name="TextBox 5">
            <a:extLst>
              <a:ext uri="{FF2B5EF4-FFF2-40B4-BE49-F238E27FC236}">
                <a16:creationId xmlns:a16="http://schemas.microsoft.com/office/drawing/2014/main" id="{D12E1B05-61EA-04F4-3E57-40A423605B5C}"/>
              </a:ext>
            </a:extLst>
          </p:cNvPr>
          <p:cNvSpPr txBox="1"/>
          <p:nvPr/>
        </p:nvSpPr>
        <p:spPr>
          <a:xfrm>
            <a:off x="938981" y="3752168"/>
            <a:ext cx="1622323" cy="369332"/>
          </a:xfrm>
          <a:prstGeom prst="rect">
            <a:avLst/>
          </a:prstGeom>
          <a:noFill/>
        </p:spPr>
        <p:txBody>
          <a:bodyPr wrap="square" rtlCol="0">
            <a:spAutoFit/>
          </a:bodyPr>
          <a:lstStyle/>
          <a:p>
            <a:r>
              <a:rPr lang="el-GR" dirty="0"/>
              <a:t>11.0%-15.0%</a:t>
            </a:r>
          </a:p>
        </p:txBody>
      </p:sp>
      <p:sp>
        <p:nvSpPr>
          <p:cNvPr id="7" name="TextBox 6">
            <a:extLst>
              <a:ext uri="{FF2B5EF4-FFF2-40B4-BE49-F238E27FC236}">
                <a16:creationId xmlns:a16="http://schemas.microsoft.com/office/drawing/2014/main" id="{B12A589B-091A-576A-C3DE-A060904464A0}"/>
              </a:ext>
            </a:extLst>
          </p:cNvPr>
          <p:cNvSpPr txBox="1"/>
          <p:nvPr/>
        </p:nvSpPr>
        <p:spPr>
          <a:xfrm>
            <a:off x="4336025" y="3742576"/>
            <a:ext cx="1622323" cy="369332"/>
          </a:xfrm>
          <a:prstGeom prst="rect">
            <a:avLst/>
          </a:prstGeom>
          <a:noFill/>
        </p:spPr>
        <p:txBody>
          <a:bodyPr wrap="square" rtlCol="0">
            <a:spAutoFit/>
          </a:bodyPr>
          <a:lstStyle/>
          <a:p>
            <a:r>
              <a:rPr lang="el-GR" dirty="0"/>
              <a:t>4.2%-4.7%</a:t>
            </a:r>
          </a:p>
        </p:txBody>
      </p:sp>
      <p:sp>
        <p:nvSpPr>
          <p:cNvPr id="8" name="TextBox 7">
            <a:extLst>
              <a:ext uri="{FF2B5EF4-FFF2-40B4-BE49-F238E27FC236}">
                <a16:creationId xmlns:a16="http://schemas.microsoft.com/office/drawing/2014/main" id="{66C7B1D4-09C7-6C38-87DE-3220E2DE69F2}"/>
              </a:ext>
            </a:extLst>
          </p:cNvPr>
          <p:cNvSpPr txBox="1"/>
          <p:nvPr/>
        </p:nvSpPr>
        <p:spPr>
          <a:xfrm>
            <a:off x="7398773" y="3752168"/>
            <a:ext cx="1622323" cy="369332"/>
          </a:xfrm>
          <a:prstGeom prst="rect">
            <a:avLst/>
          </a:prstGeom>
          <a:noFill/>
        </p:spPr>
        <p:txBody>
          <a:bodyPr wrap="square" rtlCol="0">
            <a:spAutoFit/>
          </a:bodyPr>
          <a:lstStyle/>
          <a:p>
            <a:r>
              <a:rPr lang="el-GR" dirty="0"/>
              <a:t>7.0%-8.8%</a:t>
            </a:r>
          </a:p>
        </p:txBody>
      </p:sp>
      <p:sp>
        <p:nvSpPr>
          <p:cNvPr id="9" name="TextBox 8">
            <a:extLst>
              <a:ext uri="{FF2B5EF4-FFF2-40B4-BE49-F238E27FC236}">
                <a16:creationId xmlns:a16="http://schemas.microsoft.com/office/drawing/2014/main" id="{878E466D-BD88-CD53-E25E-6069E192C0B5}"/>
              </a:ext>
            </a:extLst>
          </p:cNvPr>
          <p:cNvSpPr txBox="1"/>
          <p:nvPr/>
        </p:nvSpPr>
        <p:spPr>
          <a:xfrm>
            <a:off x="9960076" y="3742576"/>
            <a:ext cx="1622323" cy="369332"/>
          </a:xfrm>
          <a:prstGeom prst="rect">
            <a:avLst/>
          </a:prstGeom>
          <a:noFill/>
        </p:spPr>
        <p:txBody>
          <a:bodyPr wrap="square" rtlCol="0">
            <a:spAutoFit/>
          </a:bodyPr>
          <a:lstStyle/>
          <a:p>
            <a:r>
              <a:rPr lang="el-GR" dirty="0"/>
              <a:t>15.7%-15.8%</a:t>
            </a:r>
          </a:p>
        </p:txBody>
      </p:sp>
      <p:pic>
        <p:nvPicPr>
          <p:cNvPr id="10" name="Picture 9" descr="A red white and blue logo">
            <a:extLst>
              <a:ext uri="{FF2B5EF4-FFF2-40B4-BE49-F238E27FC236}">
                <a16:creationId xmlns:a16="http://schemas.microsoft.com/office/drawing/2014/main" id="{EF3974FD-77B9-721F-47AC-DDD6BB6E04B3}"/>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742757" y="3752168"/>
            <a:ext cx="4080062" cy="2404275"/>
          </a:xfrm>
          <a:prstGeom prst="rect">
            <a:avLst/>
          </a:prstGeom>
          <a:noFill/>
          <a:ln>
            <a:noFill/>
          </a:ln>
        </p:spPr>
      </p:pic>
      <p:sp>
        <p:nvSpPr>
          <p:cNvPr id="11" name="TextBox 10">
            <a:extLst>
              <a:ext uri="{FF2B5EF4-FFF2-40B4-BE49-F238E27FC236}">
                <a16:creationId xmlns:a16="http://schemas.microsoft.com/office/drawing/2014/main" id="{5432F584-8E2E-86A9-4CFE-D250DC449839}"/>
              </a:ext>
            </a:extLst>
          </p:cNvPr>
          <p:cNvSpPr txBox="1"/>
          <p:nvPr/>
        </p:nvSpPr>
        <p:spPr>
          <a:xfrm>
            <a:off x="5097209" y="5828524"/>
            <a:ext cx="1622323" cy="369332"/>
          </a:xfrm>
          <a:prstGeom prst="rect">
            <a:avLst/>
          </a:prstGeom>
          <a:noFill/>
        </p:spPr>
        <p:txBody>
          <a:bodyPr wrap="square" rtlCol="0">
            <a:spAutoFit/>
          </a:bodyPr>
          <a:lstStyle/>
          <a:p>
            <a:r>
              <a:rPr lang="el-GR" dirty="0"/>
              <a:t>20.2%-22.2%</a:t>
            </a:r>
          </a:p>
        </p:txBody>
      </p:sp>
      <p:sp>
        <p:nvSpPr>
          <p:cNvPr id="12" name="Oval 11">
            <a:extLst>
              <a:ext uri="{FF2B5EF4-FFF2-40B4-BE49-F238E27FC236}">
                <a16:creationId xmlns:a16="http://schemas.microsoft.com/office/drawing/2014/main" id="{5043C4AC-F8E7-1B3C-B39D-0777ECD28AA6}"/>
              </a:ext>
            </a:extLst>
          </p:cNvPr>
          <p:cNvSpPr/>
          <p:nvPr/>
        </p:nvSpPr>
        <p:spPr>
          <a:xfrm>
            <a:off x="4885818" y="5694961"/>
            <a:ext cx="1986116" cy="68756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l-GR"/>
          </a:p>
        </p:txBody>
      </p:sp>
      <p:cxnSp>
        <p:nvCxnSpPr>
          <p:cNvPr id="16" name="Straight Arrow Connector 15">
            <a:extLst>
              <a:ext uri="{FF2B5EF4-FFF2-40B4-BE49-F238E27FC236}">
                <a16:creationId xmlns:a16="http://schemas.microsoft.com/office/drawing/2014/main" id="{119E2B5E-6A26-E854-B5AA-2FEA1BD0C3FB}"/>
              </a:ext>
            </a:extLst>
          </p:cNvPr>
          <p:cNvCxnSpPr>
            <a:endCxn id="12" idx="6"/>
          </p:cNvCxnSpPr>
          <p:nvPr/>
        </p:nvCxnSpPr>
        <p:spPr>
          <a:xfrm flipH="1" flipV="1">
            <a:off x="6871934" y="6038742"/>
            <a:ext cx="776748" cy="15911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nvGrpSpPr>
          <p:cNvPr id="19" name="Group 18">
            <a:extLst>
              <a:ext uri="{FF2B5EF4-FFF2-40B4-BE49-F238E27FC236}">
                <a16:creationId xmlns:a16="http://schemas.microsoft.com/office/drawing/2014/main" id="{6303FCFC-4700-8BE3-9F1C-331F47B40D66}"/>
              </a:ext>
            </a:extLst>
          </p:cNvPr>
          <p:cNvGrpSpPr/>
          <p:nvPr/>
        </p:nvGrpSpPr>
        <p:grpSpPr>
          <a:xfrm>
            <a:off x="7668345" y="5971540"/>
            <a:ext cx="1335927" cy="452632"/>
            <a:chOff x="7975221" y="5997329"/>
            <a:chExt cx="1335927" cy="452632"/>
          </a:xfrm>
        </p:grpSpPr>
        <p:sp>
          <p:nvSpPr>
            <p:cNvPr id="17" name="Rectangle: Rounded Corners 16">
              <a:extLst>
                <a:ext uri="{FF2B5EF4-FFF2-40B4-BE49-F238E27FC236}">
                  <a16:creationId xmlns:a16="http://schemas.microsoft.com/office/drawing/2014/main" id="{35950F6B-0CD8-59F3-F185-67C395F3449E}"/>
                </a:ext>
              </a:extLst>
            </p:cNvPr>
            <p:cNvSpPr/>
            <p:nvPr/>
          </p:nvSpPr>
          <p:spPr>
            <a:xfrm>
              <a:off x="7975221" y="5997329"/>
              <a:ext cx="1335927" cy="452632"/>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18" name="TextBox 17">
              <a:extLst>
                <a:ext uri="{FF2B5EF4-FFF2-40B4-BE49-F238E27FC236}">
                  <a16:creationId xmlns:a16="http://schemas.microsoft.com/office/drawing/2014/main" id="{61DF591F-9AA8-8928-469E-44FCDA1E95E8}"/>
                </a:ext>
              </a:extLst>
            </p:cNvPr>
            <p:cNvSpPr txBox="1"/>
            <p:nvPr/>
          </p:nvSpPr>
          <p:spPr>
            <a:xfrm>
              <a:off x="8197705" y="6062062"/>
              <a:ext cx="940243" cy="323165"/>
            </a:xfrm>
            <a:prstGeom prst="rect">
              <a:avLst/>
            </a:prstGeom>
            <a:noFill/>
          </p:spPr>
          <p:txBody>
            <a:bodyPr wrap="square" rtlCol="0">
              <a:spAutoFit/>
            </a:bodyPr>
            <a:lstStyle/>
            <a:p>
              <a:r>
                <a:rPr lang="el-GR" sz="1500" dirty="0"/>
                <a:t>1</a:t>
              </a:r>
              <a:r>
                <a:rPr lang="el-GR" sz="1500" baseline="30000" dirty="0"/>
                <a:t>η</a:t>
              </a:r>
              <a:r>
                <a:rPr lang="el-GR" sz="1500" dirty="0"/>
                <a:t> ΘΕΣΗ</a:t>
              </a:r>
            </a:p>
          </p:txBody>
        </p:sp>
      </p:grpSp>
      <p:sp>
        <p:nvSpPr>
          <p:cNvPr id="13" name="Flowchart: Alternative Process 12">
            <a:extLst>
              <a:ext uri="{FF2B5EF4-FFF2-40B4-BE49-F238E27FC236}">
                <a16:creationId xmlns:a16="http://schemas.microsoft.com/office/drawing/2014/main" id="{18593DCD-6926-9D47-62A8-4BA9ED378771}"/>
              </a:ext>
            </a:extLst>
          </p:cNvPr>
          <p:cNvSpPr/>
          <p:nvPr/>
        </p:nvSpPr>
        <p:spPr>
          <a:xfrm>
            <a:off x="4411188" y="172762"/>
            <a:ext cx="2743200" cy="688258"/>
          </a:xfrm>
          <a:prstGeom prst="flowChartAlternateProcess">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0" lang="el-GR" sz="2000" b="1" i="0" u="none" strike="noStrike" kern="1200" cap="none" spc="0" normalizeH="0" baseline="0" noProof="0" dirty="0">
                <a:ln>
                  <a:noFill/>
                </a:ln>
                <a:solidFill>
                  <a:prstClr val="black"/>
                </a:solidFill>
                <a:effectLst/>
                <a:uLnTx/>
                <a:uFillTx/>
                <a:latin typeface="Aptos" panose="02110004020202020204"/>
                <a:ea typeface="+mn-ea"/>
                <a:cs typeface="+mn-cs"/>
              </a:rPr>
              <a:t>ΑΝΤΑΓΩΝΙΣΜΟΣ</a:t>
            </a:r>
            <a:endParaRPr lang="el-GR" dirty="0"/>
          </a:p>
        </p:txBody>
      </p:sp>
    </p:spTree>
    <p:extLst>
      <p:ext uri="{BB962C8B-B14F-4D97-AF65-F5344CB8AC3E}">
        <p14:creationId xmlns:p14="http://schemas.microsoft.com/office/powerpoint/2010/main" val="16446559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3" presetClass="entr" presetSubtype="16"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500" fill="hold"/>
                                        <p:tgtEl>
                                          <p:spTgt spid="5"/>
                                        </p:tgtEl>
                                        <p:attrNameLst>
                                          <p:attrName>ppt_w</p:attrName>
                                        </p:attrNameLst>
                                      </p:cBhvr>
                                      <p:tavLst>
                                        <p:tav tm="0">
                                          <p:val>
                                            <p:fltVal val="0"/>
                                          </p:val>
                                        </p:tav>
                                        <p:tav tm="100000">
                                          <p:val>
                                            <p:strVal val="#ppt_w"/>
                                          </p:val>
                                        </p:tav>
                                      </p:tavLst>
                                    </p:anim>
                                    <p:anim calcmode="lin" valueType="num">
                                      <p:cBhvr>
                                        <p:cTn id="14" dur="500" fill="hold"/>
                                        <p:tgtEl>
                                          <p:spTgt spid="5"/>
                                        </p:tgtEl>
                                        <p:attrNameLst>
                                          <p:attrName>ppt_h</p:attrName>
                                        </p:attrNameLst>
                                      </p:cBhvr>
                                      <p:tavLst>
                                        <p:tav tm="0">
                                          <p:val>
                                            <p:fltVal val="0"/>
                                          </p:val>
                                        </p:tav>
                                        <p:tav tm="100000">
                                          <p:val>
                                            <p:strVal val="#ppt_h"/>
                                          </p:val>
                                        </p:tav>
                                      </p:tavLst>
                                    </p:anim>
                                    <p:animEffect transition="in" filter="fade">
                                      <p:cBhvr>
                                        <p:cTn id="15" dur="500"/>
                                        <p:tgtEl>
                                          <p:spTgt spid="5"/>
                                        </p:tgtEl>
                                      </p:cBhvr>
                                    </p:animEffect>
                                  </p:childTnLst>
                                </p:cTn>
                              </p:par>
                            </p:childTnLst>
                          </p:cTn>
                        </p:par>
                        <p:par>
                          <p:cTn id="16" fill="hold">
                            <p:stCondLst>
                              <p:cond delay="500"/>
                            </p:stCondLst>
                            <p:childTnLst>
                              <p:par>
                                <p:cTn id="17" presetID="53" presetClass="entr" presetSubtype="16" fill="hold" grpId="0" nodeType="after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p:cTn id="19" dur="500" fill="hold"/>
                                        <p:tgtEl>
                                          <p:spTgt spid="6"/>
                                        </p:tgtEl>
                                        <p:attrNameLst>
                                          <p:attrName>ppt_w</p:attrName>
                                        </p:attrNameLst>
                                      </p:cBhvr>
                                      <p:tavLst>
                                        <p:tav tm="0">
                                          <p:val>
                                            <p:fltVal val="0"/>
                                          </p:val>
                                        </p:tav>
                                        <p:tav tm="100000">
                                          <p:val>
                                            <p:strVal val="#ppt_w"/>
                                          </p:val>
                                        </p:tav>
                                      </p:tavLst>
                                    </p:anim>
                                    <p:anim calcmode="lin" valueType="num">
                                      <p:cBhvr>
                                        <p:cTn id="20" dur="500" fill="hold"/>
                                        <p:tgtEl>
                                          <p:spTgt spid="6"/>
                                        </p:tgtEl>
                                        <p:attrNameLst>
                                          <p:attrName>ppt_h</p:attrName>
                                        </p:attrNameLst>
                                      </p:cBhvr>
                                      <p:tavLst>
                                        <p:tav tm="0">
                                          <p:val>
                                            <p:fltVal val="0"/>
                                          </p:val>
                                        </p:tav>
                                        <p:tav tm="100000">
                                          <p:val>
                                            <p:strVal val="#ppt_h"/>
                                          </p:val>
                                        </p:tav>
                                      </p:tavLst>
                                    </p:anim>
                                    <p:animEffect transition="in" filter="fade">
                                      <p:cBhvr>
                                        <p:cTn id="21" dur="500"/>
                                        <p:tgtEl>
                                          <p:spTgt spid="6"/>
                                        </p:tgtEl>
                                      </p:cBhvr>
                                    </p:animEffect>
                                  </p:childTnLst>
                                </p:cTn>
                              </p:par>
                            </p:childTnLst>
                          </p:cTn>
                        </p:par>
                        <p:par>
                          <p:cTn id="22" fill="hold">
                            <p:stCondLst>
                              <p:cond delay="1000"/>
                            </p:stCondLst>
                            <p:childTnLst>
                              <p:par>
                                <p:cTn id="23" presetID="53" presetClass="entr" presetSubtype="16" fill="hold" grpId="0" nodeType="after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p:cTn id="25" dur="500" fill="hold"/>
                                        <p:tgtEl>
                                          <p:spTgt spid="7"/>
                                        </p:tgtEl>
                                        <p:attrNameLst>
                                          <p:attrName>ppt_w</p:attrName>
                                        </p:attrNameLst>
                                      </p:cBhvr>
                                      <p:tavLst>
                                        <p:tav tm="0">
                                          <p:val>
                                            <p:fltVal val="0"/>
                                          </p:val>
                                        </p:tav>
                                        <p:tav tm="100000">
                                          <p:val>
                                            <p:strVal val="#ppt_w"/>
                                          </p:val>
                                        </p:tav>
                                      </p:tavLst>
                                    </p:anim>
                                    <p:anim calcmode="lin" valueType="num">
                                      <p:cBhvr>
                                        <p:cTn id="26" dur="500" fill="hold"/>
                                        <p:tgtEl>
                                          <p:spTgt spid="7"/>
                                        </p:tgtEl>
                                        <p:attrNameLst>
                                          <p:attrName>ppt_h</p:attrName>
                                        </p:attrNameLst>
                                      </p:cBhvr>
                                      <p:tavLst>
                                        <p:tav tm="0">
                                          <p:val>
                                            <p:fltVal val="0"/>
                                          </p:val>
                                        </p:tav>
                                        <p:tav tm="100000">
                                          <p:val>
                                            <p:strVal val="#ppt_h"/>
                                          </p:val>
                                        </p:tav>
                                      </p:tavLst>
                                    </p:anim>
                                    <p:animEffect transition="in" filter="fade">
                                      <p:cBhvr>
                                        <p:cTn id="27" dur="500"/>
                                        <p:tgtEl>
                                          <p:spTgt spid="7"/>
                                        </p:tgtEl>
                                      </p:cBhvr>
                                    </p:animEffect>
                                  </p:childTnLst>
                                </p:cTn>
                              </p:par>
                            </p:childTnLst>
                          </p:cTn>
                        </p:par>
                        <p:par>
                          <p:cTn id="28" fill="hold">
                            <p:stCondLst>
                              <p:cond delay="1500"/>
                            </p:stCondLst>
                            <p:childTnLst>
                              <p:par>
                                <p:cTn id="29" presetID="53" presetClass="entr" presetSubtype="16" fill="hold" grpId="0" nodeType="after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p:cTn id="31" dur="500" fill="hold"/>
                                        <p:tgtEl>
                                          <p:spTgt spid="8"/>
                                        </p:tgtEl>
                                        <p:attrNameLst>
                                          <p:attrName>ppt_w</p:attrName>
                                        </p:attrNameLst>
                                      </p:cBhvr>
                                      <p:tavLst>
                                        <p:tav tm="0">
                                          <p:val>
                                            <p:fltVal val="0"/>
                                          </p:val>
                                        </p:tav>
                                        <p:tav tm="100000">
                                          <p:val>
                                            <p:strVal val="#ppt_w"/>
                                          </p:val>
                                        </p:tav>
                                      </p:tavLst>
                                    </p:anim>
                                    <p:anim calcmode="lin" valueType="num">
                                      <p:cBhvr>
                                        <p:cTn id="32" dur="500" fill="hold"/>
                                        <p:tgtEl>
                                          <p:spTgt spid="8"/>
                                        </p:tgtEl>
                                        <p:attrNameLst>
                                          <p:attrName>ppt_h</p:attrName>
                                        </p:attrNameLst>
                                      </p:cBhvr>
                                      <p:tavLst>
                                        <p:tav tm="0">
                                          <p:val>
                                            <p:fltVal val="0"/>
                                          </p:val>
                                        </p:tav>
                                        <p:tav tm="100000">
                                          <p:val>
                                            <p:strVal val="#ppt_h"/>
                                          </p:val>
                                        </p:tav>
                                      </p:tavLst>
                                    </p:anim>
                                    <p:animEffect transition="in" filter="fade">
                                      <p:cBhvr>
                                        <p:cTn id="33" dur="500"/>
                                        <p:tgtEl>
                                          <p:spTgt spid="8"/>
                                        </p:tgtEl>
                                      </p:cBhvr>
                                    </p:animEffect>
                                  </p:childTnLst>
                                </p:cTn>
                              </p:par>
                            </p:childTnLst>
                          </p:cTn>
                        </p:par>
                        <p:par>
                          <p:cTn id="34" fill="hold">
                            <p:stCondLst>
                              <p:cond delay="2000"/>
                            </p:stCondLst>
                            <p:childTnLst>
                              <p:par>
                                <p:cTn id="35" presetID="53" presetClass="entr" presetSubtype="16" fill="hold" grpId="0" nodeType="afterEffect">
                                  <p:stCondLst>
                                    <p:cond delay="0"/>
                                  </p:stCondLst>
                                  <p:childTnLst>
                                    <p:set>
                                      <p:cBhvr>
                                        <p:cTn id="36" dur="1" fill="hold">
                                          <p:stCondLst>
                                            <p:cond delay="0"/>
                                          </p:stCondLst>
                                        </p:cTn>
                                        <p:tgtEl>
                                          <p:spTgt spid="9"/>
                                        </p:tgtEl>
                                        <p:attrNameLst>
                                          <p:attrName>style.visibility</p:attrName>
                                        </p:attrNameLst>
                                      </p:cBhvr>
                                      <p:to>
                                        <p:strVal val="visible"/>
                                      </p:to>
                                    </p:set>
                                    <p:anim calcmode="lin" valueType="num">
                                      <p:cBhvr>
                                        <p:cTn id="37" dur="500" fill="hold"/>
                                        <p:tgtEl>
                                          <p:spTgt spid="9"/>
                                        </p:tgtEl>
                                        <p:attrNameLst>
                                          <p:attrName>ppt_w</p:attrName>
                                        </p:attrNameLst>
                                      </p:cBhvr>
                                      <p:tavLst>
                                        <p:tav tm="0">
                                          <p:val>
                                            <p:fltVal val="0"/>
                                          </p:val>
                                        </p:tav>
                                        <p:tav tm="100000">
                                          <p:val>
                                            <p:strVal val="#ppt_w"/>
                                          </p:val>
                                        </p:tav>
                                      </p:tavLst>
                                    </p:anim>
                                    <p:anim calcmode="lin" valueType="num">
                                      <p:cBhvr>
                                        <p:cTn id="38" dur="500" fill="hold"/>
                                        <p:tgtEl>
                                          <p:spTgt spid="9"/>
                                        </p:tgtEl>
                                        <p:attrNameLst>
                                          <p:attrName>ppt_h</p:attrName>
                                        </p:attrNameLst>
                                      </p:cBhvr>
                                      <p:tavLst>
                                        <p:tav tm="0">
                                          <p:val>
                                            <p:fltVal val="0"/>
                                          </p:val>
                                        </p:tav>
                                        <p:tav tm="100000">
                                          <p:val>
                                            <p:strVal val="#ppt_h"/>
                                          </p:val>
                                        </p:tav>
                                      </p:tavLst>
                                    </p:anim>
                                    <p:animEffect transition="in" filter="fade">
                                      <p:cBhvr>
                                        <p:cTn id="39" dur="500"/>
                                        <p:tgtEl>
                                          <p:spTgt spid="9"/>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10"/>
                                        </p:tgtEl>
                                        <p:attrNameLst>
                                          <p:attrName>style.visibility</p:attrName>
                                        </p:attrNameLst>
                                      </p:cBhvr>
                                      <p:to>
                                        <p:strVal val="visible"/>
                                      </p:to>
                                    </p:set>
                                  </p:childTnLst>
                                </p:cTn>
                              </p:par>
                              <p:par>
                                <p:cTn id="44" presetID="53" presetClass="entr" presetSubtype="16" fill="hold" grpId="0" nodeType="withEffect">
                                  <p:stCondLst>
                                    <p:cond delay="0"/>
                                  </p:stCondLst>
                                  <p:childTnLst>
                                    <p:set>
                                      <p:cBhvr>
                                        <p:cTn id="45" dur="1" fill="hold">
                                          <p:stCondLst>
                                            <p:cond delay="0"/>
                                          </p:stCondLst>
                                        </p:cTn>
                                        <p:tgtEl>
                                          <p:spTgt spid="11"/>
                                        </p:tgtEl>
                                        <p:attrNameLst>
                                          <p:attrName>style.visibility</p:attrName>
                                        </p:attrNameLst>
                                      </p:cBhvr>
                                      <p:to>
                                        <p:strVal val="visible"/>
                                      </p:to>
                                    </p:set>
                                    <p:anim calcmode="lin" valueType="num">
                                      <p:cBhvr>
                                        <p:cTn id="46" dur="500" fill="hold"/>
                                        <p:tgtEl>
                                          <p:spTgt spid="11"/>
                                        </p:tgtEl>
                                        <p:attrNameLst>
                                          <p:attrName>ppt_w</p:attrName>
                                        </p:attrNameLst>
                                      </p:cBhvr>
                                      <p:tavLst>
                                        <p:tav tm="0">
                                          <p:val>
                                            <p:fltVal val="0"/>
                                          </p:val>
                                        </p:tav>
                                        <p:tav tm="100000">
                                          <p:val>
                                            <p:strVal val="#ppt_w"/>
                                          </p:val>
                                        </p:tav>
                                      </p:tavLst>
                                    </p:anim>
                                    <p:anim calcmode="lin" valueType="num">
                                      <p:cBhvr>
                                        <p:cTn id="47" dur="500" fill="hold"/>
                                        <p:tgtEl>
                                          <p:spTgt spid="11"/>
                                        </p:tgtEl>
                                        <p:attrNameLst>
                                          <p:attrName>ppt_h</p:attrName>
                                        </p:attrNameLst>
                                      </p:cBhvr>
                                      <p:tavLst>
                                        <p:tav tm="0">
                                          <p:val>
                                            <p:fltVal val="0"/>
                                          </p:val>
                                        </p:tav>
                                        <p:tav tm="100000">
                                          <p:val>
                                            <p:strVal val="#ppt_h"/>
                                          </p:val>
                                        </p:tav>
                                      </p:tavLst>
                                    </p:anim>
                                    <p:animEffect transition="in" filter="fade">
                                      <p:cBhvr>
                                        <p:cTn id="48" dur="500"/>
                                        <p:tgtEl>
                                          <p:spTgt spid="11"/>
                                        </p:tgtEl>
                                      </p:cBhvr>
                                    </p:animEffect>
                                  </p:childTnLst>
                                </p:cTn>
                              </p:par>
                              <p:par>
                                <p:cTn id="49" presetID="21" presetClass="entr" presetSubtype="1" fill="hold" grpId="0" nodeType="withEffect">
                                  <p:stCondLst>
                                    <p:cond delay="0"/>
                                  </p:stCondLst>
                                  <p:childTnLst>
                                    <p:set>
                                      <p:cBhvr>
                                        <p:cTn id="50" dur="1" fill="hold">
                                          <p:stCondLst>
                                            <p:cond delay="0"/>
                                          </p:stCondLst>
                                        </p:cTn>
                                        <p:tgtEl>
                                          <p:spTgt spid="12"/>
                                        </p:tgtEl>
                                        <p:attrNameLst>
                                          <p:attrName>style.visibility</p:attrName>
                                        </p:attrNameLst>
                                      </p:cBhvr>
                                      <p:to>
                                        <p:strVal val="visible"/>
                                      </p:to>
                                    </p:set>
                                    <p:animEffect transition="in" filter="wheel(1)">
                                      <p:cBhvr>
                                        <p:cTn id="51" dur="2000"/>
                                        <p:tgtEl>
                                          <p:spTgt spid="12"/>
                                        </p:tgtEl>
                                      </p:cBhvr>
                                    </p:animEffect>
                                  </p:childTnLst>
                                </p:cTn>
                              </p:par>
                              <p:par>
                                <p:cTn id="52" presetID="53" presetClass="entr" presetSubtype="16" fill="hold" nodeType="withEffect">
                                  <p:stCondLst>
                                    <p:cond delay="0"/>
                                  </p:stCondLst>
                                  <p:childTnLst>
                                    <p:set>
                                      <p:cBhvr>
                                        <p:cTn id="53" dur="1" fill="hold">
                                          <p:stCondLst>
                                            <p:cond delay="0"/>
                                          </p:stCondLst>
                                        </p:cTn>
                                        <p:tgtEl>
                                          <p:spTgt spid="16"/>
                                        </p:tgtEl>
                                        <p:attrNameLst>
                                          <p:attrName>style.visibility</p:attrName>
                                        </p:attrNameLst>
                                      </p:cBhvr>
                                      <p:to>
                                        <p:strVal val="visible"/>
                                      </p:to>
                                    </p:set>
                                    <p:anim calcmode="lin" valueType="num">
                                      <p:cBhvr>
                                        <p:cTn id="54" dur="500" fill="hold"/>
                                        <p:tgtEl>
                                          <p:spTgt spid="16"/>
                                        </p:tgtEl>
                                        <p:attrNameLst>
                                          <p:attrName>ppt_w</p:attrName>
                                        </p:attrNameLst>
                                      </p:cBhvr>
                                      <p:tavLst>
                                        <p:tav tm="0">
                                          <p:val>
                                            <p:fltVal val="0"/>
                                          </p:val>
                                        </p:tav>
                                        <p:tav tm="100000">
                                          <p:val>
                                            <p:strVal val="#ppt_w"/>
                                          </p:val>
                                        </p:tav>
                                      </p:tavLst>
                                    </p:anim>
                                    <p:anim calcmode="lin" valueType="num">
                                      <p:cBhvr>
                                        <p:cTn id="55" dur="500" fill="hold"/>
                                        <p:tgtEl>
                                          <p:spTgt spid="16"/>
                                        </p:tgtEl>
                                        <p:attrNameLst>
                                          <p:attrName>ppt_h</p:attrName>
                                        </p:attrNameLst>
                                      </p:cBhvr>
                                      <p:tavLst>
                                        <p:tav tm="0">
                                          <p:val>
                                            <p:fltVal val="0"/>
                                          </p:val>
                                        </p:tav>
                                        <p:tav tm="100000">
                                          <p:val>
                                            <p:strVal val="#ppt_h"/>
                                          </p:val>
                                        </p:tav>
                                      </p:tavLst>
                                    </p:anim>
                                    <p:animEffect transition="in" filter="fade">
                                      <p:cBhvr>
                                        <p:cTn id="56" dur="500"/>
                                        <p:tgtEl>
                                          <p:spTgt spid="16"/>
                                        </p:tgtEl>
                                      </p:cBhvr>
                                    </p:animEffect>
                                  </p:childTnLst>
                                </p:cTn>
                              </p:par>
                              <p:par>
                                <p:cTn id="57" presetID="2" presetClass="entr" presetSubtype="4" fill="hold" nodeType="withEffect">
                                  <p:stCondLst>
                                    <p:cond delay="0"/>
                                  </p:stCondLst>
                                  <p:childTnLst>
                                    <p:set>
                                      <p:cBhvr>
                                        <p:cTn id="58" dur="1" fill="hold">
                                          <p:stCondLst>
                                            <p:cond delay="0"/>
                                          </p:stCondLst>
                                        </p:cTn>
                                        <p:tgtEl>
                                          <p:spTgt spid="19"/>
                                        </p:tgtEl>
                                        <p:attrNameLst>
                                          <p:attrName>style.visibility</p:attrName>
                                        </p:attrNameLst>
                                      </p:cBhvr>
                                      <p:to>
                                        <p:strVal val="visible"/>
                                      </p:to>
                                    </p:set>
                                    <p:anim calcmode="lin" valueType="num">
                                      <p:cBhvr additive="base">
                                        <p:cTn id="59" dur="500" fill="hold"/>
                                        <p:tgtEl>
                                          <p:spTgt spid="19"/>
                                        </p:tgtEl>
                                        <p:attrNameLst>
                                          <p:attrName>ppt_x</p:attrName>
                                        </p:attrNameLst>
                                      </p:cBhvr>
                                      <p:tavLst>
                                        <p:tav tm="0">
                                          <p:val>
                                            <p:strVal val="#ppt_x"/>
                                          </p:val>
                                        </p:tav>
                                        <p:tav tm="100000">
                                          <p:val>
                                            <p:strVal val="#ppt_x"/>
                                          </p:val>
                                        </p:tav>
                                      </p:tavLst>
                                    </p:anim>
                                    <p:anim calcmode="lin" valueType="num">
                                      <p:cBhvr additive="base">
                                        <p:cTn id="60"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1" grpId="0"/>
      <p:bldP spid="1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8ECBD119-44D7-61E9-8113-84AA2610D35B}"/>
              </a:ext>
            </a:extLst>
          </p:cNvPr>
          <p:cNvGrpSpPr/>
          <p:nvPr/>
        </p:nvGrpSpPr>
        <p:grpSpPr>
          <a:xfrm>
            <a:off x="0" y="4974781"/>
            <a:ext cx="11366337" cy="1866126"/>
            <a:chOff x="0" y="4974781"/>
            <a:chExt cx="11366337" cy="1866126"/>
          </a:xfrm>
        </p:grpSpPr>
        <p:pic>
          <p:nvPicPr>
            <p:cNvPr id="1030" name="Picture 6" descr="My market">
              <a:extLst>
                <a:ext uri="{FF2B5EF4-FFF2-40B4-BE49-F238E27FC236}">
                  <a16:creationId xmlns:a16="http://schemas.microsoft.com/office/drawing/2014/main" id="{7714B556-7AAF-8FBF-D0E8-746EC3CA1E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00211" y="4974781"/>
              <a:ext cx="1866126" cy="1866126"/>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Σκλαβενίτης">
              <a:extLst>
                <a:ext uri="{FF2B5EF4-FFF2-40B4-BE49-F238E27FC236}">
                  <a16:creationId xmlns:a16="http://schemas.microsoft.com/office/drawing/2014/main" id="{75A06291-963F-6EDA-BA46-BFF46B07B9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5231364"/>
              <a:ext cx="3028950" cy="151447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ΔΕΛΤΙΑ ΤΥΠΟΥ 2022">
              <a:extLst>
                <a:ext uri="{FF2B5EF4-FFF2-40B4-BE49-F238E27FC236}">
                  <a16:creationId xmlns:a16="http://schemas.microsoft.com/office/drawing/2014/main" id="{6EAF2CDD-BD38-D9B8-CD4F-41F5AD37D3D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49445" y="5272335"/>
              <a:ext cx="3048000" cy="150495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Lidl - Βικιπαίδεια">
              <a:extLst>
                <a:ext uri="{FF2B5EF4-FFF2-40B4-BE49-F238E27FC236}">
                  <a16:creationId xmlns:a16="http://schemas.microsoft.com/office/drawing/2014/main" id="{ACDBAFF1-535D-332A-EDD4-744E6D6B405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98274" y="5156296"/>
              <a:ext cx="1826122" cy="1684611"/>
            </a:xfrm>
            <a:prstGeom prst="rect">
              <a:avLst/>
            </a:prstGeom>
            <a:noFill/>
            <a:extLst>
              <a:ext uri="{909E8E84-426E-40DD-AFC4-6F175D3DCCD1}">
                <a14:hiddenFill xmlns:a14="http://schemas.microsoft.com/office/drawing/2010/main">
                  <a:solidFill>
                    <a:srgbClr val="FFFFFF"/>
                  </a:solidFill>
                </a14:hiddenFill>
              </a:ext>
            </a:extLst>
          </p:spPr>
        </p:pic>
      </p:grpSp>
      <p:sp>
        <p:nvSpPr>
          <p:cNvPr id="2" name="Rectangle: Rounded Corners 1">
            <a:extLst>
              <a:ext uri="{FF2B5EF4-FFF2-40B4-BE49-F238E27FC236}">
                <a16:creationId xmlns:a16="http://schemas.microsoft.com/office/drawing/2014/main" id="{08117B1C-BA34-3B87-5D0F-0A3ABBC866E0}"/>
              </a:ext>
            </a:extLst>
          </p:cNvPr>
          <p:cNvSpPr/>
          <p:nvPr/>
        </p:nvSpPr>
        <p:spPr>
          <a:xfrm>
            <a:off x="4493341" y="39330"/>
            <a:ext cx="2733368" cy="688258"/>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3" name="TextBox 2">
            <a:extLst>
              <a:ext uri="{FF2B5EF4-FFF2-40B4-BE49-F238E27FC236}">
                <a16:creationId xmlns:a16="http://schemas.microsoft.com/office/drawing/2014/main" id="{994B8A42-6AED-0E14-6D74-0DD83869C402}"/>
              </a:ext>
            </a:extLst>
          </p:cNvPr>
          <p:cNvSpPr txBox="1"/>
          <p:nvPr/>
        </p:nvSpPr>
        <p:spPr>
          <a:xfrm>
            <a:off x="4833970" y="160235"/>
            <a:ext cx="2270360" cy="400110"/>
          </a:xfrm>
          <a:prstGeom prst="rect">
            <a:avLst/>
          </a:prstGeom>
          <a:noFill/>
        </p:spPr>
        <p:txBody>
          <a:bodyPr wrap="square" rtlCol="0">
            <a:spAutoFit/>
          </a:bodyPr>
          <a:lstStyle/>
          <a:p>
            <a:r>
              <a:rPr lang="el-GR" sz="2000" b="1" dirty="0"/>
              <a:t>ΠΡΟΜΗΘΕΥΤΕΣ</a:t>
            </a:r>
          </a:p>
        </p:txBody>
      </p:sp>
      <p:sp>
        <p:nvSpPr>
          <p:cNvPr id="5" name="TextBox 4">
            <a:extLst>
              <a:ext uri="{FF2B5EF4-FFF2-40B4-BE49-F238E27FC236}">
                <a16:creationId xmlns:a16="http://schemas.microsoft.com/office/drawing/2014/main" id="{246409D8-78E9-E6D2-766D-510E2626C652}"/>
              </a:ext>
            </a:extLst>
          </p:cNvPr>
          <p:cNvSpPr txBox="1"/>
          <p:nvPr/>
        </p:nvSpPr>
        <p:spPr>
          <a:xfrm>
            <a:off x="299329" y="833190"/>
            <a:ext cx="3677264" cy="1477328"/>
          </a:xfrm>
          <a:prstGeom prst="rect">
            <a:avLst/>
          </a:prstGeom>
          <a:noFill/>
          <a:ln w="28575">
            <a:solidFill>
              <a:schemeClr val="tx1"/>
            </a:solidFill>
          </a:ln>
        </p:spPr>
        <p:txBody>
          <a:bodyPr wrap="square" rtlCol="0">
            <a:spAutoFit/>
          </a:bodyPr>
          <a:lstStyle/>
          <a:p>
            <a:r>
              <a:rPr lang="el-GR" sz="1500" dirty="0">
                <a:effectLst/>
                <a:latin typeface="Aptos" panose="020B0004020202020204" pitchFamily="34" charset="0"/>
                <a:ea typeface="Aptos" panose="020B0004020202020204" pitchFamily="34" charset="0"/>
                <a:cs typeface="Times New Roman" panose="02020603050405020304" pitchFamily="18" charset="0"/>
              </a:rPr>
              <a:t>Η ΦΑΓΕ προμηθεύεται το γάλα  για την παραγωγή των προϊόντων της από διάφορες φάρμες, οι οποίες συμμορφώνονται στα πρότυπα </a:t>
            </a:r>
            <a:r>
              <a:rPr lang="en-US" sz="1500" dirty="0">
                <a:effectLst/>
                <a:latin typeface="Aptos" panose="020B0004020202020204" pitchFamily="34" charset="0"/>
                <a:ea typeface="Aptos" panose="020B0004020202020204" pitchFamily="34" charset="0"/>
                <a:cs typeface="Times New Roman" panose="02020603050405020304" pitchFamily="18" charset="0"/>
              </a:rPr>
              <a:t>non</a:t>
            </a:r>
            <a:r>
              <a:rPr lang="el-GR" sz="1500" dirty="0">
                <a:effectLst/>
                <a:latin typeface="Aptos" panose="020B0004020202020204" pitchFamily="34" charset="0"/>
                <a:ea typeface="Aptos" panose="020B0004020202020204" pitchFamily="34" charset="0"/>
                <a:cs typeface="Times New Roman" panose="02020603050405020304" pitchFamily="18" charset="0"/>
              </a:rPr>
              <a:t>-</a:t>
            </a:r>
            <a:r>
              <a:rPr lang="en-US" sz="1500" dirty="0">
                <a:effectLst/>
                <a:latin typeface="Aptos" panose="020B0004020202020204" pitchFamily="34" charset="0"/>
                <a:ea typeface="Aptos" panose="020B0004020202020204" pitchFamily="34" charset="0"/>
                <a:cs typeface="Times New Roman" panose="02020603050405020304" pitchFamily="18" charset="0"/>
              </a:rPr>
              <a:t>GMO</a:t>
            </a:r>
            <a:r>
              <a:rPr lang="el-GR" sz="1500" dirty="0">
                <a:effectLst/>
                <a:latin typeface="Aptos" panose="020B0004020202020204" pitchFamily="34" charset="0"/>
                <a:ea typeface="Aptos" panose="020B0004020202020204" pitchFamily="34" charset="0"/>
                <a:cs typeface="Times New Roman" panose="02020603050405020304" pitchFamily="18" charset="0"/>
              </a:rPr>
              <a:t>, όσον αφορά την εκτροφή των γαλακτοπαραγωγών ζώων. </a:t>
            </a:r>
            <a:endParaRPr lang="el-GR" sz="1500" dirty="0"/>
          </a:p>
        </p:txBody>
      </p:sp>
      <p:pic>
        <p:nvPicPr>
          <p:cNvPr id="7" name="Picture 6" descr="Cows grazing in a field">
            <a:extLst>
              <a:ext uri="{FF2B5EF4-FFF2-40B4-BE49-F238E27FC236}">
                <a16:creationId xmlns:a16="http://schemas.microsoft.com/office/drawing/2014/main" id="{17872F0B-5702-60FD-49AF-1FFD09F76FFC}"/>
              </a:ext>
            </a:extLst>
          </p:cNvPr>
          <p:cNvPicPr>
            <a:picLocks noChangeAspect="1"/>
          </p:cNvPicPr>
          <p:nvPr/>
        </p:nvPicPr>
        <p:blipFill>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tretch>
            <a:fillRect/>
          </a:stretch>
        </p:blipFill>
        <p:spPr>
          <a:xfrm>
            <a:off x="4379715" y="924723"/>
            <a:ext cx="2318142" cy="1546277"/>
          </a:xfrm>
          <a:prstGeom prst="rect">
            <a:avLst/>
          </a:prstGeom>
        </p:spPr>
      </p:pic>
      <p:pic>
        <p:nvPicPr>
          <p:cNvPr id="2052" name="Picture 4" descr="‫Non-GMO - גלעם‬‎">
            <a:extLst>
              <a:ext uri="{FF2B5EF4-FFF2-40B4-BE49-F238E27FC236}">
                <a16:creationId xmlns:a16="http://schemas.microsoft.com/office/drawing/2014/main" id="{1BA1EFD0-D96C-9374-05F0-AA9632803F2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379715" y="2463657"/>
            <a:ext cx="1979665" cy="1122696"/>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ΦΑΓΕ Total Στραγγιστό Γιαούρτι 2% 500gr | Market In">
            <a:extLst>
              <a:ext uri="{FF2B5EF4-FFF2-40B4-BE49-F238E27FC236}">
                <a16:creationId xmlns:a16="http://schemas.microsoft.com/office/drawing/2014/main" id="{AB0D5A39-0274-A0E5-526A-58403BBDA88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377238" y="0"/>
            <a:ext cx="1641833" cy="1641833"/>
          </a:xfrm>
          <a:prstGeom prst="rect">
            <a:avLst/>
          </a:prstGeom>
          <a:noFill/>
          <a:extLst>
            <a:ext uri="{909E8E84-426E-40DD-AFC4-6F175D3DCCD1}">
              <a14:hiddenFill xmlns:a14="http://schemas.microsoft.com/office/drawing/2010/main">
                <a:solidFill>
                  <a:srgbClr val="FFFFFF"/>
                </a:solidFill>
              </a14:hiddenFill>
            </a:ext>
          </a:extLst>
        </p:spPr>
      </p:pic>
      <p:cxnSp>
        <p:nvCxnSpPr>
          <p:cNvPr id="9" name="Straight Arrow Connector 8">
            <a:extLst>
              <a:ext uri="{FF2B5EF4-FFF2-40B4-BE49-F238E27FC236}">
                <a16:creationId xmlns:a16="http://schemas.microsoft.com/office/drawing/2014/main" id="{3B077179-8F33-0D78-1273-B0677DAB7891}"/>
              </a:ext>
            </a:extLst>
          </p:cNvPr>
          <p:cNvCxnSpPr/>
          <p:nvPr/>
        </p:nvCxnSpPr>
        <p:spPr>
          <a:xfrm flipV="1">
            <a:off x="7924799" y="957011"/>
            <a:ext cx="688258" cy="64931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 name="Connector: Elbow 12">
            <a:extLst>
              <a:ext uri="{FF2B5EF4-FFF2-40B4-BE49-F238E27FC236}">
                <a16:creationId xmlns:a16="http://schemas.microsoft.com/office/drawing/2014/main" id="{67CE6085-78B8-76C8-A36F-55EAD52BF4CD}"/>
              </a:ext>
            </a:extLst>
          </p:cNvPr>
          <p:cNvCxnSpPr/>
          <p:nvPr/>
        </p:nvCxnSpPr>
        <p:spPr>
          <a:xfrm>
            <a:off x="3549445" y="1789471"/>
            <a:ext cx="1396181" cy="1366684"/>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F996868C-3719-4D9A-4B16-07BD53A0A67F}"/>
              </a:ext>
            </a:extLst>
          </p:cNvPr>
          <p:cNvSpPr txBox="1"/>
          <p:nvPr/>
        </p:nvSpPr>
        <p:spPr>
          <a:xfrm>
            <a:off x="7483326" y="1678827"/>
            <a:ext cx="3677264" cy="784830"/>
          </a:xfrm>
          <a:prstGeom prst="rect">
            <a:avLst/>
          </a:prstGeom>
          <a:noFill/>
          <a:ln w="28575">
            <a:solidFill>
              <a:schemeClr val="tx1"/>
            </a:solidFill>
          </a:ln>
        </p:spPr>
        <p:txBody>
          <a:bodyPr wrap="square" rtlCol="0">
            <a:spAutoFit/>
          </a:bodyPr>
          <a:lstStyle/>
          <a:p>
            <a:r>
              <a:rPr lang="el-GR" sz="1500" dirty="0">
                <a:latin typeface="Aptos" panose="020B0004020202020204" pitchFamily="34" charset="0"/>
                <a:cs typeface="Times New Roman" panose="02020603050405020304" pitchFamily="18" charset="0"/>
              </a:rPr>
              <a:t>Προμήθεια πλαστικού και αλουμινόχαρτου για τις συσκευασίες από τις ΗΠΑ, την Ελλάδα και άλλες χώρες της Ε.Ε. .</a:t>
            </a:r>
            <a:endParaRPr lang="el-GR" sz="1500" dirty="0"/>
          </a:p>
        </p:txBody>
      </p:sp>
      <p:sp>
        <p:nvSpPr>
          <p:cNvPr id="15" name="Rectangle: Rounded Corners 14">
            <a:extLst>
              <a:ext uri="{FF2B5EF4-FFF2-40B4-BE49-F238E27FC236}">
                <a16:creationId xmlns:a16="http://schemas.microsoft.com/office/drawing/2014/main" id="{DB984DE5-FEEA-F6B4-7B1C-9943D8DBE69E}"/>
              </a:ext>
            </a:extLst>
          </p:cNvPr>
          <p:cNvSpPr/>
          <p:nvPr/>
        </p:nvSpPr>
        <p:spPr>
          <a:xfrm>
            <a:off x="3554885" y="3706086"/>
            <a:ext cx="4222955" cy="688258"/>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16" name="TextBox 15">
            <a:extLst>
              <a:ext uri="{FF2B5EF4-FFF2-40B4-BE49-F238E27FC236}">
                <a16:creationId xmlns:a16="http://schemas.microsoft.com/office/drawing/2014/main" id="{C5AB3BE0-5DA7-52B3-7497-713D0F0CBDF8}"/>
              </a:ext>
            </a:extLst>
          </p:cNvPr>
          <p:cNvSpPr txBox="1"/>
          <p:nvPr/>
        </p:nvSpPr>
        <p:spPr>
          <a:xfrm>
            <a:off x="3682149" y="3834771"/>
            <a:ext cx="4015501" cy="430887"/>
          </a:xfrm>
          <a:prstGeom prst="rect">
            <a:avLst/>
          </a:prstGeom>
          <a:noFill/>
        </p:spPr>
        <p:txBody>
          <a:bodyPr wrap="square" rtlCol="0">
            <a:spAutoFit/>
          </a:bodyPr>
          <a:lstStyle/>
          <a:p>
            <a:r>
              <a:rPr lang="el-GR" sz="2000" b="1" dirty="0"/>
              <a:t>ΣΥΝΕΡΓΑΖΟΜΕΝΑ ΚΑΤΑΣΤΗΜΑΤΑ</a:t>
            </a:r>
            <a:r>
              <a:rPr lang="el-GR" sz="2200" b="1" dirty="0"/>
              <a:t> </a:t>
            </a:r>
          </a:p>
        </p:txBody>
      </p:sp>
      <p:sp>
        <p:nvSpPr>
          <p:cNvPr id="19" name="TextBox 18">
            <a:extLst>
              <a:ext uri="{FF2B5EF4-FFF2-40B4-BE49-F238E27FC236}">
                <a16:creationId xmlns:a16="http://schemas.microsoft.com/office/drawing/2014/main" id="{4B447926-C6E8-404A-F320-D48385BE54A2}"/>
              </a:ext>
            </a:extLst>
          </p:cNvPr>
          <p:cNvSpPr txBox="1"/>
          <p:nvPr/>
        </p:nvSpPr>
        <p:spPr>
          <a:xfrm>
            <a:off x="1323562" y="4523029"/>
            <a:ext cx="9109712" cy="553998"/>
          </a:xfrm>
          <a:prstGeom prst="rect">
            <a:avLst/>
          </a:prstGeom>
          <a:noFill/>
          <a:ln w="28575">
            <a:solidFill>
              <a:schemeClr val="tx1"/>
            </a:solidFill>
          </a:ln>
        </p:spPr>
        <p:txBody>
          <a:bodyPr wrap="square" rtlCol="0">
            <a:spAutoFit/>
          </a:bodyPr>
          <a:lstStyle/>
          <a:p>
            <a:r>
              <a:rPr lang="el-GR" sz="1500" dirty="0"/>
              <a:t>Η ΦΑΓΕ διαθέτει τα προϊόντα της στις μεγαλύτερες αλυσίδες </a:t>
            </a:r>
            <a:r>
              <a:rPr lang="el-GR" sz="1500" dirty="0" err="1"/>
              <a:t>σούπερμαρκετ</a:t>
            </a:r>
            <a:r>
              <a:rPr lang="el-GR" sz="1500" dirty="0"/>
              <a:t> στην Ελλάδα. </a:t>
            </a:r>
            <a:r>
              <a:rPr lang="el-GR" sz="1500"/>
              <a:t>Μερικές </a:t>
            </a:r>
            <a:r>
              <a:rPr lang="el-GR" sz="1500" dirty="0"/>
              <a:t>από  αυτές είναι οι:</a:t>
            </a:r>
          </a:p>
        </p:txBody>
      </p:sp>
    </p:spTree>
    <p:extLst>
      <p:ext uri="{BB962C8B-B14F-4D97-AF65-F5344CB8AC3E}">
        <p14:creationId xmlns:p14="http://schemas.microsoft.com/office/powerpoint/2010/main" val="354627752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par>
                          <p:cTn id="8" fill="hold">
                            <p:stCondLst>
                              <p:cond delay="500"/>
                            </p:stCondLst>
                            <p:childTnLst>
                              <p:par>
                                <p:cTn id="9" presetID="22" presetClass="entr" presetSubtype="4" fill="hold" nodeType="afterEffect">
                                  <p:stCondLst>
                                    <p:cond delay="500"/>
                                  </p:stCondLst>
                                  <p:childTnLst>
                                    <p:set>
                                      <p:cBhvr>
                                        <p:cTn id="10" dur="1" fill="hold">
                                          <p:stCondLst>
                                            <p:cond delay="0"/>
                                          </p:stCondLst>
                                        </p:cTn>
                                        <p:tgtEl>
                                          <p:spTgt spid="7"/>
                                        </p:tgtEl>
                                        <p:attrNameLst>
                                          <p:attrName>style.visibility</p:attrName>
                                        </p:attrNameLst>
                                      </p:cBhvr>
                                      <p:to>
                                        <p:strVal val="visible"/>
                                      </p:to>
                                    </p:set>
                                    <p:animEffect transition="in" filter="wipe(down)">
                                      <p:cBhvr>
                                        <p:cTn id="11" dur="500"/>
                                        <p:tgtEl>
                                          <p:spTgt spid="7"/>
                                        </p:tgtEl>
                                      </p:cBhvr>
                                    </p:animEffect>
                                  </p:childTnLst>
                                </p:cTn>
                              </p:par>
                            </p:childTnLst>
                          </p:cTn>
                        </p:par>
                        <p:par>
                          <p:cTn id="12" fill="hold">
                            <p:stCondLst>
                              <p:cond delay="1500"/>
                            </p:stCondLst>
                            <p:childTnLst>
                              <p:par>
                                <p:cTn id="13" presetID="18" presetClass="entr" presetSubtype="12" fill="hold"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strips(downLeft)">
                                      <p:cBhvr>
                                        <p:cTn id="15" dur="500"/>
                                        <p:tgtEl>
                                          <p:spTgt spid="13"/>
                                        </p:tgtEl>
                                      </p:cBhvr>
                                    </p:animEffect>
                                  </p:childTnLst>
                                </p:cTn>
                              </p:par>
                            </p:childTnLst>
                          </p:cTn>
                        </p:par>
                        <p:par>
                          <p:cTn id="16" fill="hold">
                            <p:stCondLst>
                              <p:cond delay="2000"/>
                            </p:stCondLst>
                            <p:childTnLst>
                              <p:par>
                                <p:cTn id="17" presetID="55" presetClass="entr" presetSubtype="0" fill="hold" nodeType="afterEffect">
                                  <p:stCondLst>
                                    <p:cond delay="0"/>
                                  </p:stCondLst>
                                  <p:childTnLst>
                                    <p:set>
                                      <p:cBhvr>
                                        <p:cTn id="18" dur="1" fill="hold">
                                          <p:stCondLst>
                                            <p:cond delay="0"/>
                                          </p:stCondLst>
                                        </p:cTn>
                                        <p:tgtEl>
                                          <p:spTgt spid="2052"/>
                                        </p:tgtEl>
                                        <p:attrNameLst>
                                          <p:attrName>style.visibility</p:attrName>
                                        </p:attrNameLst>
                                      </p:cBhvr>
                                      <p:to>
                                        <p:strVal val="visible"/>
                                      </p:to>
                                    </p:set>
                                    <p:anim calcmode="lin" valueType="num">
                                      <p:cBhvr>
                                        <p:cTn id="19" dur="500" fill="hold"/>
                                        <p:tgtEl>
                                          <p:spTgt spid="2052"/>
                                        </p:tgtEl>
                                        <p:attrNameLst>
                                          <p:attrName>ppt_w</p:attrName>
                                        </p:attrNameLst>
                                      </p:cBhvr>
                                      <p:tavLst>
                                        <p:tav tm="0">
                                          <p:val>
                                            <p:strVal val="#ppt_w*0.70"/>
                                          </p:val>
                                        </p:tav>
                                        <p:tav tm="100000">
                                          <p:val>
                                            <p:strVal val="#ppt_w"/>
                                          </p:val>
                                        </p:tav>
                                      </p:tavLst>
                                    </p:anim>
                                    <p:anim calcmode="lin" valueType="num">
                                      <p:cBhvr>
                                        <p:cTn id="20" dur="500" fill="hold"/>
                                        <p:tgtEl>
                                          <p:spTgt spid="2052"/>
                                        </p:tgtEl>
                                        <p:attrNameLst>
                                          <p:attrName>ppt_h</p:attrName>
                                        </p:attrNameLst>
                                      </p:cBhvr>
                                      <p:tavLst>
                                        <p:tav tm="0">
                                          <p:val>
                                            <p:strVal val="#ppt_h"/>
                                          </p:val>
                                        </p:tav>
                                        <p:tav tm="100000">
                                          <p:val>
                                            <p:strVal val="#ppt_h"/>
                                          </p:val>
                                        </p:tav>
                                      </p:tavLst>
                                    </p:anim>
                                    <p:animEffect transition="in" filter="fade">
                                      <p:cBhvr>
                                        <p:cTn id="21" dur="500"/>
                                        <p:tgtEl>
                                          <p:spTgt spid="2052"/>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500"/>
                                        <p:tgtEl>
                                          <p:spTgt spid="14"/>
                                        </p:tgtEl>
                                      </p:cBhvr>
                                    </p:animEffect>
                                  </p:childTnLst>
                                </p:cTn>
                              </p:par>
                            </p:childTnLst>
                          </p:cTn>
                        </p:par>
                        <p:par>
                          <p:cTn id="27" fill="hold">
                            <p:stCondLst>
                              <p:cond delay="500"/>
                            </p:stCondLst>
                            <p:childTnLst>
                              <p:par>
                                <p:cTn id="28" presetID="53" presetClass="entr" presetSubtype="16" fill="hold" nodeType="afterEffect">
                                  <p:stCondLst>
                                    <p:cond delay="0"/>
                                  </p:stCondLst>
                                  <p:childTnLst>
                                    <p:set>
                                      <p:cBhvr>
                                        <p:cTn id="29" dur="1" fill="hold">
                                          <p:stCondLst>
                                            <p:cond delay="0"/>
                                          </p:stCondLst>
                                        </p:cTn>
                                        <p:tgtEl>
                                          <p:spTgt spid="2054"/>
                                        </p:tgtEl>
                                        <p:attrNameLst>
                                          <p:attrName>style.visibility</p:attrName>
                                        </p:attrNameLst>
                                      </p:cBhvr>
                                      <p:to>
                                        <p:strVal val="visible"/>
                                      </p:to>
                                    </p:set>
                                    <p:anim calcmode="lin" valueType="num">
                                      <p:cBhvr>
                                        <p:cTn id="30" dur="500" fill="hold"/>
                                        <p:tgtEl>
                                          <p:spTgt spid="2054"/>
                                        </p:tgtEl>
                                        <p:attrNameLst>
                                          <p:attrName>ppt_w</p:attrName>
                                        </p:attrNameLst>
                                      </p:cBhvr>
                                      <p:tavLst>
                                        <p:tav tm="0">
                                          <p:val>
                                            <p:fltVal val="0"/>
                                          </p:val>
                                        </p:tav>
                                        <p:tav tm="100000">
                                          <p:val>
                                            <p:strVal val="#ppt_w"/>
                                          </p:val>
                                        </p:tav>
                                      </p:tavLst>
                                    </p:anim>
                                    <p:anim calcmode="lin" valueType="num">
                                      <p:cBhvr>
                                        <p:cTn id="31" dur="500" fill="hold"/>
                                        <p:tgtEl>
                                          <p:spTgt spid="2054"/>
                                        </p:tgtEl>
                                        <p:attrNameLst>
                                          <p:attrName>ppt_h</p:attrName>
                                        </p:attrNameLst>
                                      </p:cBhvr>
                                      <p:tavLst>
                                        <p:tav tm="0">
                                          <p:val>
                                            <p:fltVal val="0"/>
                                          </p:val>
                                        </p:tav>
                                        <p:tav tm="100000">
                                          <p:val>
                                            <p:strVal val="#ppt_h"/>
                                          </p:val>
                                        </p:tav>
                                      </p:tavLst>
                                    </p:anim>
                                    <p:animEffect transition="in" filter="fade">
                                      <p:cBhvr>
                                        <p:cTn id="32" dur="500"/>
                                        <p:tgtEl>
                                          <p:spTgt spid="2054"/>
                                        </p:tgtEl>
                                      </p:cBhvr>
                                    </p:animEffect>
                                  </p:childTnLst>
                                </p:cTn>
                              </p:par>
                              <p:par>
                                <p:cTn id="33" presetID="53" presetClass="entr" presetSubtype="16" fill="hold" nodeType="with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p:cTn id="35" dur="500" fill="hold"/>
                                        <p:tgtEl>
                                          <p:spTgt spid="9"/>
                                        </p:tgtEl>
                                        <p:attrNameLst>
                                          <p:attrName>ppt_w</p:attrName>
                                        </p:attrNameLst>
                                      </p:cBhvr>
                                      <p:tavLst>
                                        <p:tav tm="0">
                                          <p:val>
                                            <p:fltVal val="0"/>
                                          </p:val>
                                        </p:tav>
                                        <p:tav tm="100000">
                                          <p:val>
                                            <p:strVal val="#ppt_w"/>
                                          </p:val>
                                        </p:tav>
                                      </p:tavLst>
                                    </p:anim>
                                    <p:anim calcmode="lin" valueType="num">
                                      <p:cBhvr>
                                        <p:cTn id="36" dur="500" fill="hold"/>
                                        <p:tgtEl>
                                          <p:spTgt spid="9"/>
                                        </p:tgtEl>
                                        <p:attrNameLst>
                                          <p:attrName>ppt_h</p:attrName>
                                        </p:attrNameLst>
                                      </p:cBhvr>
                                      <p:tavLst>
                                        <p:tav tm="0">
                                          <p:val>
                                            <p:fltVal val="0"/>
                                          </p:val>
                                        </p:tav>
                                        <p:tav tm="100000">
                                          <p:val>
                                            <p:strVal val="#ppt_h"/>
                                          </p:val>
                                        </p:tav>
                                      </p:tavLst>
                                    </p:anim>
                                    <p:animEffect transition="in" filter="fade">
                                      <p:cBhvr>
                                        <p:cTn id="37" dur="5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500"/>
                                        <p:tgtEl>
                                          <p:spTgt spid="15"/>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500"/>
                                        <p:tgtEl>
                                          <p:spTgt spid="16"/>
                                        </p:tgtEl>
                                      </p:cBhvr>
                                    </p:animEffect>
                                  </p:childTnLst>
                                </p:cTn>
                              </p:par>
                            </p:childTnLst>
                          </p:cTn>
                        </p:par>
                      </p:childTnLst>
                    </p:cTn>
                  </p:par>
                  <p:par>
                    <p:cTn id="46" fill="hold">
                      <p:stCondLst>
                        <p:cond delay="indefinite"/>
                      </p:stCondLst>
                      <p:childTnLst>
                        <p:par>
                          <p:cTn id="47" fill="hold">
                            <p:stCondLst>
                              <p:cond delay="0"/>
                            </p:stCondLst>
                            <p:childTnLst>
                              <p:par>
                                <p:cTn id="48" presetID="42" presetClass="entr" presetSubtype="0" fill="hold" grpId="0" nodeType="click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1000"/>
                                        <p:tgtEl>
                                          <p:spTgt spid="19"/>
                                        </p:tgtEl>
                                      </p:cBhvr>
                                    </p:animEffect>
                                    <p:anim calcmode="lin" valueType="num">
                                      <p:cBhvr>
                                        <p:cTn id="51" dur="1000" fill="hold"/>
                                        <p:tgtEl>
                                          <p:spTgt spid="19"/>
                                        </p:tgtEl>
                                        <p:attrNameLst>
                                          <p:attrName>ppt_x</p:attrName>
                                        </p:attrNameLst>
                                      </p:cBhvr>
                                      <p:tavLst>
                                        <p:tav tm="0">
                                          <p:val>
                                            <p:strVal val="#ppt_x"/>
                                          </p:val>
                                        </p:tav>
                                        <p:tav tm="100000">
                                          <p:val>
                                            <p:strVal val="#ppt_x"/>
                                          </p:val>
                                        </p:tav>
                                      </p:tavLst>
                                    </p:anim>
                                    <p:anim calcmode="lin" valueType="num">
                                      <p:cBhvr>
                                        <p:cTn id="52"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nodeType="clickEffect">
                                  <p:stCondLst>
                                    <p:cond delay="0"/>
                                  </p:stCondLst>
                                  <p:childTnLst>
                                    <p:set>
                                      <p:cBhvr>
                                        <p:cTn id="56" dur="1" fill="hold">
                                          <p:stCondLst>
                                            <p:cond delay="0"/>
                                          </p:stCondLst>
                                        </p:cTn>
                                        <p:tgtEl>
                                          <p:spTgt spid="6"/>
                                        </p:tgtEl>
                                        <p:attrNameLst>
                                          <p:attrName>style.visibility</p:attrName>
                                        </p:attrNameLst>
                                      </p:cBhvr>
                                      <p:to>
                                        <p:strVal val="visible"/>
                                      </p:to>
                                    </p:set>
                                    <p:anim calcmode="lin" valueType="num">
                                      <p:cBhvr additive="base">
                                        <p:cTn id="57" dur="500" fill="hold"/>
                                        <p:tgtEl>
                                          <p:spTgt spid="6"/>
                                        </p:tgtEl>
                                        <p:attrNameLst>
                                          <p:attrName>ppt_x</p:attrName>
                                        </p:attrNameLst>
                                      </p:cBhvr>
                                      <p:tavLst>
                                        <p:tav tm="0">
                                          <p:val>
                                            <p:strVal val="#ppt_x"/>
                                          </p:val>
                                        </p:tav>
                                        <p:tav tm="100000">
                                          <p:val>
                                            <p:strVal val="#ppt_x"/>
                                          </p:val>
                                        </p:tav>
                                      </p:tavLst>
                                    </p:anim>
                                    <p:anim calcmode="lin" valueType="num">
                                      <p:cBhvr additive="base">
                                        <p:cTn id="5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4" grpId="0" animBg="1"/>
      <p:bldP spid="15" grpId="0" animBg="1"/>
      <p:bldP spid="16" grpId="0"/>
      <p:bldP spid="1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p:cNvGrpSpPr/>
        <p:nvPr/>
      </p:nvGrpSpPr>
      <p:grpSpPr>
        <a:xfrm>
          <a:off x="0" y="0"/>
          <a:ext cx="0" cy="0"/>
          <a:chOff x="0" y="0"/>
          <a:chExt cx="0" cy="0"/>
        </a:xfrm>
      </p:grpSpPr>
      <p:grpSp>
        <p:nvGrpSpPr>
          <p:cNvPr id="7" name="Ομάδα 6">
            <a:extLst>
              <a:ext uri="{FF2B5EF4-FFF2-40B4-BE49-F238E27FC236}">
                <a16:creationId xmlns:a16="http://schemas.microsoft.com/office/drawing/2014/main" id="{DA34A7E8-C4F5-8395-A238-7851710BC0E3}"/>
              </a:ext>
            </a:extLst>
          </p:cNvPr>
          <p:cNvGrpSpPr/>
          <p:nvPr/>
        </p:nvGrpSpPr>
        <p:grpSpPr>
          <a:xfrm>
            <a:off x="6211152" y="-2555504"/>
            <a:ext cx="6663937" cy="10043936"/>
            <a:chOff x="6823123" y="-2168409"/>
            <a:chExt cx="6663937" cy="10043936"/>
          </a:xfrm>
          <a:blipFill dpi="0" rotWithShape="0">
            <a:blip r:embed="rId2"/>
            <a:srcRect/>
            <a:stretch>
              <a:fillRect/>
            </a:stretch>
          </a:blipFill>
        </p:grpSpPr>
        <p:sp>
          <p:nvSpPr>
            <p:cNvPr id="4" name="Ορθογώνιο 3">
              <a:extLst>
                <a:ext uri="{FF2B5EF4-FFF2-40B4-BE49-F238E27FC236}">
                  <a16:creationId xmlns:a16="http://schemas.microsoft.com/office/drawing/2014/main" id="{0F5D3CFC-0C5E-77BC-F851-017732B2C154}"/>
                </a:ext>
              </a:extLst>
            </p:cNvPr>
            <p:cNvSpPr/>
            <p:nvPr/>
          </p:nvSpPr>
          <p:spPr>
            <a:xfrm rot="2656201">
              <a:off x="8463796" y="-1196095"/>
              <a:ext cx="2990850" cy="8513079"/>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dirty="0"/>
            </a:p>
          </p:txBody>
        </p:sp>
        <p:sp>
          <p:nvSpPr>
            <p:cNvPr id="5" name="Ορθογώνιο 4">
              <a:extLst>
                <a:ext uri="{FF2B5EF4-FFF2-40B4-BE49-F238E27FC236}">
                  <a16:creationId xmlns:a16="http://schemas.microsoft.com/office/drawing/2014/main" id="{A3A61DEB-0AC7-AF4C-5BCF-FA759BDB93C8}"/>
                </a:ext>
              </a:extLst>
            </p:cNvPr>
            <p:cNvSpPr/>
            <p:nvPr/>
          </p:nvSpPr>
          <p:spPr>
            <a:xfrm rot="2656201">
              <a:off x="10580275" y="2732145"/>
              <a:ext cx="2906785" cy="5143382"/>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dirty="0"/>
            </a:p>
          </p:txBody>
        </p:sp>
        <p:sp>
          <p:nvSpPr>
            <p:cNvPr id="6" name="Ορθογώνιο 5">
              <a:extLst>
                <a:ext uri="{FF2B5EF4-FFF2-40B4-BE49-F238E27FC236}">
                  <a16:creationId xmlns:a16="http://schemas.microsoft.com/office/drawing/2014/main" id="{CDF9A1A0-E103-5222-3EAF-76B3C7528D4A}"/>
                </a:ext>
              </a:extLst>
            </p:cNvPr>
            <p:cNvSpPr/>
            <p:nvPr/>
          </p:nvSpPr>
          <p:spPr>
            <a:xfrm rot="2656201">
              <a:off x="6823123" y="-2168409"/>
              <a:ext cx="2639886" cy="5843784"/>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dirty="0"/>
            </a:p>
          </p:txBody>
        </p:sp>
      </p:grpSp>
      <p:sp>
        <p:nvSpPr>
          <p:cNvPr id="18" name="TextBox 17">
            <a:extLst>
              <a:ext uri="{FF2B5EF4-FFF2-40B4-BE49-F238E27FC236}">
                <a16:creationId xmlns:a16="http://schemas.microsoft.com/office/drawing/2014/main" id="{9C71BC82-C2CC-AF53-F8C5-AA78AD0E25EB}"/>
              </a:ext>
            </a:extLst>
          </p:cNvPr>
          <p:cNvSpPr txBox="1"/>
          <p:nvPr/>
        </p:nvSpPr>
        <p:spPr>
          <a:xfrm>
            <a:off x="522366" y="376674"/>
            <a:ext cx="3787254" cy="1200329"/>
          </a:xfrm>
          <a:prstGeom prst="rect">
            <a:avLst/>
          </a:prstGeom>
          <a:noFill/>
        </p:spPr>
        <p:txBody>
          <a:bodyPr wrap="square" rtlCol="0">
            <a:spAutoFit/>
          </a:bodyPr>
          <a:lstStyle/>
          <a:p>
            <a:pPr algn="ctr"/>
            <a:r>
              <a:rPr lang="el-GR" sz="3600" b="1" dirty="0"/>
              <a:t>Οικονομικοί Πόροι της ΦΑΓΕ</a:t>
            </a:r>
          </a:p>
        </p:txBody>
      </p:sp>
      <p:sp>
        <p:nvSpPr>
          <p:cNvPr id="27" name="Rectangle 6">
            <a:extLst>
              <a:ext uri="{FF2B5EF4-FFF2-40B4-BE49-F238E27FC236}">
                <a16:creationId xmlns:a16="http://schemas.microsoft.com/office/drawing/2014/main" id="{CE18D11F-ED63-53ED-0EFC-9E78EE89A241}"/>
              </a:ext>
            </a:extLst>
          </p:cNvPr>
          <p:cNvSpPr>
            <a:spLocks noChangeArrowheads="1"/>
          </p:cNvSpPr>
          <p:nvPr/>
        </p:nvSpPr>
        <p:spPr bwMode="auto">
          <a:xfrm rot="10800000" flipV="1">
            <a:off x="322359" y="1674674"/>
            <a:ext cx="4150556"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l-GR" altLang="el-G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l-GR" altLang="el-GR" b="0" i="0" u="none" strike="noStrike" cap="none" normalizeH="0" baseline="0" dirty="0">
                <a:ln>
                  <a:noFill/>
                </a:ln>
                <a:solidFill>
                  <a:schemeClr val="tx1"/>
                </a:solidFill>
                <a:effectLst/>
                <a:latin typeface="Arial" panose="020B0604020202020204" pitchFamily="34" charset="0"/>
              </a:rPr>
              <a:t>Ισχυροί και Ποικιλόμορφοι Πόροι: πωλήσεις γαλακτοκομικών προϊόντων τόσο στην ελληνική όσο και στη διεθνή αγορά.</a:t>
            </a:r>
          </a:p>
          <a:p>
            <a:pPr marL="0" marR="0" lvl="0" indent="0" algn="l" defTabSz="914400" rtl="0" eaLnBrk="0" fontAlgn="base" latinLnBrk="0" hangingPunct="0">
              <a:lnSpc>
                <a:spcPct val="100000"/>
              </a:lnSpc>
              <a:spcBef>
                <a:spcPct val="0"/>
              </a:spcBef>
              <a:spcAft>
                <a:spcPct val="0"/>
              </a:spcAft>
              <a:buClrTx/>
              <a:buSzTx/>
              <a:tabLst/>
            </a:pPr>
            <a:endParaRPr kumimoji="0" lang="el-GR" altLang="el-GR" sz="1800" b="0" i="0" u="none" strike="noStrike" cap="none" normalizeH="0" baseline="0" dirty="0">
              <a:ln>
                <a:noFill/>
              </a:ln>
              <a:solidFill>
                <a:schemeClr val="tx1"/>
              </a:solidFill>
              <a:effectLst/>
              <a:latin typeface="Arial" panose="020B0604020202020204" pitchFamily="34" charset="0"/>
            </a:endParaRPr>
          </a:p>
        </p:txBody>
      </p:sp>
      <p:sp>
        <p:nvSpPr>
          <p:cNvPr id="29" name="Rectangle 7">
            <a:extLst>
              <a:ext uri="{FF2B5EF4-FFF2-40B4-BE49-F238E27FC236}">
                <a16:creationId xmlns:a16="http://schemas.microsoft.com/office/drawing/2014/main" id="{802255F0-DF4F-EE16-1C88-E39E94B6A95F}"/>
              </a:ext>
            </a:extLst>
          </p:cNvPr>
          <p:cNvSpPr>
            <a:spLocks noChangeArrowheads="1"/>
          </p:cNvSpPr>
          <p:nvPr/>
        </p:nvSpPr>
        <p:spPr bwMode="auto">
          <a:xfrm>
            <a:off x="322359" y="3058159"/>
            <a:ext cx="4187268"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l-GR" altLang="el-G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l-GR" altLang="el-GR" b="0" i="0" u="none" strike="noStrike" cap="none" normalizeH="0" baseline="0" dirty="0">
                <a:ln>
                  <a:noFill/>
                </a:ln>
                <a:solidFill>
                  <a:schemeClr val="tx1"/>
                </a:solidFill>
                <a:effectLst/>
                <a:latin typeface="Arial" panose="020B0604020202020204" pitchFamily="34" charset="0"/>
              </a:rPr>
              <a:t>Στρατηγικές Συνεργασίες: Συμμαχίες και επενδύσεις σε νέες τεχνολογίες και έρευνα.</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l-GR" altLang="el-GR" sz="1800" b="0" i="0" u="none" strike="noStrike" cap="none" normalizeH="0" baseline="0" dirty="0">
              <a:ln>
                <a:noFill/>
              </a:ln>
              <a:solidFill>
                <a:schemeClr val="tx1"/>
              </a:solidFill>
              <a:effectLst/>
              <a:latin typeface="Arial" panose="020B0604020202020204" pitchFamily="34" charset="0"/>
            </a:endParaRPr>
          </a:p>
        </p:txBody>
      </p:sp>
      <p:sp>
        <p:nvSpPr>
          <p:cNvPr id="31" name="Rectangle 8">
            <a:extLst>
              <a:ext uri="{FF2B5EF4-FFF2-40B4-BE49-F238E27FC236}">
                <a16:creationId xmlns:a16="http://schemas.microsoft.com/office/drawing/2014/main" id="{C4007939-5FE0-30A8-ED3C-DD1F88CFEF64}"/>
              </a:ext>
            </a:extLst>
          </p:cNvPr>
          <p:cNvSpPr>
            <a:spLocks noChangeArrowheads="1"/>
          </p:cNvSpPr>
          <p:nvPr/>
        </p:nvSpPr>
        <p:spPr bwMode="auto">
          <a:xfrm>
            <a:off x="322359" y="4117262"/>
            <a:ext cx="4041163"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l-GR" altLang="el-G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l-GR" altLang="el-GR" b="0" i="0" u="none" strike="noStrike" cap="none" normalizeH="0" baseline="0" dirty="0">
                <a:ln>
                  <a:noFill/>
                </a:ln>
                <a:solidFill>
                  <a:schemeClr val="tx1"/>
                </a:solidFill>
                <a:effectLst/>
                <a:latin typeface="Arial" panose="020B0604020202020204" pitchFamily="34" charset="0"/>
              </a:rPr>
              <a:t>Επιδότηση και Χρηματοδότηση: Εθνικά και ευρωπαϊκά προγράμματα.</a:t>
            </a:r>
          </a:p>
          <a:p>
            <a:pPr marL="0" marR="0" lvl="0" indent="0" algn="l" defTabSz="914400" rtl="0" eaLnBrk="0" fontAlgn="base" latinLnBrk="0" hangingPunct="0">
              <a:lnSpc>
                <a:spcPct val="100000"/>
              </a:lnSpc>
              <a:spcBef>
                <a:spcPct val="0"/>
              </a:spcBef>
              <a:spcAft>
                <a:spcPct val="0"/>
              </a:spcAft>
              <a:buClrTx/>
              <a:buSzTx/>
              <a:tabLst/>
            </a:pPr>
            <a:endParaRPr kumimoji="0" lang="el-GR" altLang="el-GR" sz="1800" b="0" i="0" u="none" strike="noStrike" cap="none" normalizeH="0" baseline="0" dirty="0">
              <a:ln>
                <a:noFill/>
              </a:ln>
              <a:solidFill>
                <a:schemeClr val="tx1"/>
              </a:solidFill>
              <a:effectLst/>
              <a:latin typeface="Arial" panose="020B0604020202020204" pitchFamily="34" charset="0"/>
            </a:endParaRPr>
          </a:p>
        </p:txBody>
      </p:sp>
      <p:sp>
        <p:nvSpPr>
          <p:cNvPr id="32" name="TextBox 31">
            <a:extLst>
              <a:ext uri="{FF2B5EF4-FFF2-40B4-BE49-F238E27FC236}">
                <a16:creationId xmlns:a16="http://schemas.microsoft.com/office/drawing/2014/main" id="{C5B3BC85-EEB7-08DA-656B-86AD2E611673}"/>
              </a:ext>
            </a:extLst>
          </p:cNvPr>
          <p:cNvSpPr txBox="1"/>
          <p:nvPr/>
        </p:nvSpPr>
        <p:spPr>
          <a:xfrm>
            <a:off x="359070" y="5303411"/>
            <a:ext cx="4004452" cy="923330"/>
          </a:xfrm>
          <a:prstGeom prst="rect">
            <a:avLst/>
          </a:prstGeom>
          <a:noFill/>
        </p:spPr>
        <p:txBody>
          <a:bodyPr wrap="square" rtlCol="0">
            <a:spAutoFit/>
          </a:bodyPr>
          <a:lstStyle/>
          <a:p>
            <a:pPr>
              <a:buFont typeface="Arial" panose="020B0604020202020204" pitchFamily="34" charset="0"/>
              <a:buChar char="•"/>
            </a:pPr>
            <a:r>
              <a:rPr lang="el-GR" dirty="0"/>
              <a:t>Συνεχής Επανεπένδυση Κερδών: Διατήρηση ποιότητας και εισαγωγή καινοτομιών.</a:t>
            </a:r>
          </a:p>
        </p:txBody>
      </p:sp>
    </p:spTree>
    <p:extLst>
      <p:ext uri="{BB962C8B-B14F-4D97-AF65-F5344CB8AC3E}">
        <p14:creationId xmlns:p14="http://schemas.microsoft.com/office/powerpoint/2010/main" val="31881831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5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
                                            <p:txEl>
                                              <p:pRg st="1" end="1"/>
                                            </p:txEl>
                                          </p:spTgt>
                                        </p:tgtEl>
                                        <p:attrNameLst>
                                          <p:attrName>style.visibility</p:attrName>
                                        </p:attrNameLst>
                                      </p:cBhvr>
                                      <p:to>
                                        <p:strVal val="visible"/>
                                      </p:to>
                                    </p:set>
                                    <p:animEffect transition="in" filter="fade">
                                      <p:cBhvr>
                                        <p:cTn id="17" dur="500"/>
                                        <p:tgtEl>
                                          <p:spTgt spid="29">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
                                            <p:txEl>
                                              <p:pRg st="1" end="1"/>
                                            </p:txEl>
                                          </p:spTgt>
                                        </p:tgtEl>
                                        <p:attrNameLst>
                                          <p:attrName>style.visibility</p:attrName>
                                        </p:attrNameLst>
                                      </p:cBhvr>
                                      <p:to>
                                        <p:strVal val="visible"/>
                                      </p:to>
                                    </p:set>
                                    <p:animEffect transition="in" filter="fade">
                                      <p:cBhvr>
                                        <p:cTn id="22" dur="500"/>
                                        <p:tgtEl>
                                          <p:spTgt spid="31">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2">
                                            <p:txEl>
                                              <p:pRg st="0" end="0"/>
                                            </p:txEl>
                                          </p:spTgt>
                                        </p:tgtEl>
                                        <p:attrNameLst>
                                          <p:attrName>style.visibility</p:attrName>
                                        </p:attrNameLst>
                                      </p:cBhvr>
                                      <p:to>
                                        <p:strVal val="visible"/>
                                      </p:to>
                                    </p:set>
                                    <p:animEffect transition="in" filter="fade">
                                      <p:cBhvr>
                                        <p:cTn id="27" dur="500"/>
                                        <p:tgtEl>
                                          <p:spTgt spid="3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7"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grpSp>
        <p:nvGrpSpPr>
          <p:cNvPr id="23" name="Ομάδα 22">
            <a:extLst>
              <a:ext uri="{FF2B5EF4-FFF2-40B4-BE49-F238E27FC236}">
                <a16:creationId xmlns:a16="http://schemas.microsoft.com/office/drawing/2014/main" id="{ECABC488-CB57-8F2F-DC3A-64A1E0436466}"/>
              </a:ext>
            </a:extLst>
          </p:cNvPr>
          <p:cNvGrpSpPr/>
          <p:nvPr/>
        </p:nvGrpSpPr>
        <p:grpSpPr>
          <a:xfrm>
            <a:off x="3946359" y="-354789"/>
            <a:ext cx="9661358" cy="7447261"/>
            <a:chOff x="4419597" y="-2534505"/>
            <a:chExt cx="9092784" cy="11721652"/>
          </a:xfrm>
          <a:blipFill>
            <a:blip r:embed="rId2"/>
            <a:stretch>
              <a:fillRect/>
            </a:stretch>
          </a:blipFill>
        </p:grpSpPr>
        <p:grpSp>
          <p:nvGrpSpPr>
            <p:cNvPr id="6" name="Ομάδα 5">
              <a:extLst>
                <a:ext uri="{FF2B5EF4-FFF2-40B4-BE49-F238E27FC236}">
                  <a16:creationId xmlns:a16="http://schemas.microsoft.com/office/drawing/2014/main" id="{563C9BE5-A9E0-B5A8-213A-F39F39C46EDD}"/>
                </a:ext>
              </a:extLst>
            </p:cNvPr>
            <p:cNvGrpSpPr/>
            <p:nvPr/>
          </p:nvGrpSpPr>
          <p:grpSpPr>
            <a:xfrm>
              <a:off x="5739982" y="6410609"/>
              <a:ext cx="7772399" cy="2776538"/>
              <a:chOff x="2476501" y="2319336"/>
              <a:chExt cx="8467724" cy="3190876"/>
            </a:xfrm>
            <a:grpFill/>
          </p:grpSpPr>
          <p:sp>
            <p:nvSpPr>
              <p:cNvPr id="2" name="Εξάγωνο 1">
                <a:extLst>
                  <a:ext uri="{FF2B5EF4-FFF2-40B4-BE49-F238E27FC236}">
                    <a16:creationId xmlns:a16="http://schemas.microsoft.com/office/drawing/2014/main" id="{62C76AFD-47DF-F28F-DA33-D3EB25A71B72}"/>
                  </a:ext>
                </a:extLst>
              </p:cNvPr>
              <p:cNvSpPr/>
              <p:nvPr/>
            </p:nvSpPr>
            <p:spPr>
              <a:xfrm rot="5400000">
                <a:off x="5114927" y="2543173"/>
                <a:ext cx="3190873" cy="2743200"/>
              </a:xfrm>
              <a:prstGeom prst="hexag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3" name="Εξάγωνο 2">
                <a:extLst>
                  <a:ext uri="{FF2B5EF4-FFF2-40B4-BE49-F238E27FC236}">
                    <a16:creationId xmlns:a16="http://schemas.microsoft.com/office/drawing/2014/main" id="{0FEB3306-E7FE-1512-F2F2-9C5840A274A0}"/>
                  </a:ext>
                </a:extLst>
              </p:cNvPr>
              <p:cNvSpPr/>
              <p:nvPr/>
            </p:nvSpPr>
            <p:spPr>
              <a:xfrm rot="5400000">
                <a:off x="2252664" y="2543174"/>
                <a:ext cx="3190874" cy="2743200"/>
              </a:xfrm>
              <a:prstGeom prst="hexag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4" name="Εξάγωνο 3">
                <a:extLst>
                  <a:ext uri="{FF2B5EF4-FFF2-40B4-BE49-F238E27FC236}">
                    <a16:creationId xmlns:a16="http://schemas.microsoft.com/office/drawing/2014/main" id="{2ED85EA9-4BE8-B70E-D6D5-7EA2A60BA528}"/>
                  </a:ext>
                </a:extLst>
              </p:cNvPr>
              <p:cNvSpPr/>
              <p:nvPr/>
            </p:nvSpPr>
            <p:spPr>
              <a:xfrm rot="5400000">
                <a:off x="7977188" y="2543175"/>
                <a:ext cx="3190874" cy="2743200"/>
              </a:xfrm>
              <a:prstGeom prst="hexag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grpSp>
        <p:grpSp>
          <p:nvGrpSpPr>
            <p:cNvPr id="7" name="Ομάδα 6">
              <a:extLst>
                <a:ext uri="{FF2B5EF4-FFF2-40B4-BE49-F238E27FC236}">
                  <a16:creationId xmlns:a16="http://schemas.microsoft.com/office/drawing/2014/main" id="{6DA8D716-30E3-FDA2-7548-4D8E033395EF}"/>
                </a:ext>
              </a:extLst>
            </p:cNvPr>
            <p:cNvGrpSpPr/>
            <p:nvPr/>
          </p:nvGrpSpPr>
          <p:grpSpPr>
            <a:xfrm>
              <a:off x="4419597" y="4174329"/>
              <a:ext cx="7772399" cy="2776538"/>
              <a:chOff x="2476501" y="2319336"/>
              <a:chExt cx="8467724" cy="3190876"/>
            </a:xfrm>
            <a:grpFill/>
          </p:grpSpPr>
          <p:sp>
            <p:nvSpPr>
              <p:cNvPr id="8" name="Εξάγωνο 7">
                <a:extLst>
                  <a:ext uri="{FF2B5EF4-FFF2-40B4-BE49-F238E27FC236}">
                    <a16:creationId xmlns:a16="http://schemas.microsoft.com/office/drawing/2014/main" id="{C3DC36D3-976B-E371-BA2E-6572434F543A}"/>
                  </a:ext>
                </a:extLst>
              </p:cNvPr>
              <p:cNvSpPr/>
              <p:nvPr/>
            </p:nvSpPr>
            <p:spPr>
              <a:xfrm rot="5400000">
                <a:off x="5114927" y="2543173"/>
                <a:ext cx="3190873" cy="2743200"/>
              </a:xfrm>
              <a:prstGeom prst="hexag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9" name="Εξάγωνο 8">
                <a:extLst>
                  <a:ext uri="{FF2B5EF4-FFF2-40B4-BE49-F238E27FC236}">
                    <a16:creationId xmlns:a16="http://schemas.microsoft.com/office/drawing/2014/main" id="{EEDCB5C5-E115-38AA-DEDF-A6C3C81A02BB}"/>
                  </a:ext>
                </a:extLst>
              </p:cNvPr>
              <p:cNvSpPr/>
              <p:nvPr/>
            </p:nvSpPr>
            <p:spPr>
              <a:xfrm rot="5400000">
                <a:off x="2252664" y="2543174"/>
                <a:ext cx="3190874" cy="2743200"/>
              </a:xfrm>
              <a:prstGeom prst="hexag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10" name="Εξάγωνο 9">
                <a:extLst>
                  <a:ext uri="{FF2B5EF4-FFF2-40B4-BE49-F238E27FC236}">
                    <a16:creationId xmlns:a16="http://schemas.microsoft.com/office/drawing/2014/main" id="{0CF1E6A9-9594-3D48-A485-92EAAC72F946}"/>
                  </a:ext>
                </a:extLst>
              </p:cNvPr>
              <p:cNvSpPr/>
              <p:nvPr/>
            </p:nvSpPr>
            <p:spPr>
              <a:xfrm rot="5400000">
                <a:off x="7977188" y="2543175"/>
                <a:ext cx="3190874" cy="2743200"/>
              </a:xfrm>
              <a:prstGeom prst="hexag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grpSp>
        <p:grpSp>
          <p:nvGrpSpPr>
            <p:cNvPr id="11" name="Ομάδα 10">
              <a:extLst>
                <a:ext uri="{FF2B5EF4-FFF2-40B4-BE49-F238E27FC236}">
                  <a16:creationId xmlns:a16="http://schemas.microsoft.com/office/drawing/2014/main" id="{0F22A036-4C97-41BE-AF30-B9559011875F}"/>
                </a:ext>
              </a:extLst>
            </p:cNvPr>
            <p:cNvGrpSpPr/>
            <p:nvPr/>
          </p:nvGrpSpPr>
          <p:grpSpPr>
            <a:xfrm>
              <a:off x="4419601" y="-298227"/>
              <a:ext cx="7772399" cy="2776538"/>
              <a:chOff x="2476501" y="2319336"/>
              <a:chExt cx="8467724" cy="3190876"/>
            </a:xfrm>
            <a:grpFill/>
          </p:grpSpPr>
          <p:sp>
            <p:nvSpPr>
              <p:cNvPr id="12" name="Εξάγωνο 11">
                <a:extLst>
                  <a:ext uri="{FF2B5EF4-FFF2-40B4-BE49-F238E27FC236}">
                    <a16:creationId xmlns:a16="http://schemas.microsoft.com/office/drawing/2014/main" id="{D1F730AB-6274-EBF1-3ABE-6737667CD32B}"/>
                  </a:ext>
                </a:extLst>
              </p:cNvPr>
              <p:cNvSpPr/>
              <p:nvPr/>
            </p:nvSpPr>
            <p:spPr>
              <a:xfrm rot="5400000">
                <a:off x="5114927" y="2543173"/>
                <a:ext cx="3190873" cy="2743200"/>
              </a:xfrm>
              <a:prstGeom prst="hexag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dirty="0"/>
              </a:p>
            </p:txBody>
          </p:sp>
          <p:sp>
            <p:nvSpPr>
              <p:cNvPr id="13" name="Εξάγωνο 12">
                <a:extLst>
                  <a:ext uri="{FF2B5EF4-FFF2-40B4-BE49-F238E27FC236}">
                    <a16:creationId xmlns:a16="http://schemas.microsoft.com/office/drawing/2014/main" id="{5B6021F3-D3C4-61B4-1904-DEFAD55537B2}"/>
                  </a:ext>
                </a:extLst>
              </p:cNvPr>
              <p:cNvSpPr/>
              <p:nvPr/>
            </p:nvSpPr>
            <p:spPr>
              <a:xfrm rot="5400000">
                <a:off x="2252664" y="2543174"/>
                <a:ext cx="3190874" cy="2743200"/>
              </a:xfrm>
              <a:prstGeom prst="hexag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14" name="Εξάγωνο 13">
                <a:extLst>
                  <a:ext uri="{FF2B5EF4-FFF2-40B4-BE49-F238E27FC236}">
                    <a16:creationId xmlns:a16="http://schemas.microsoft.com/office/drawing/2014/main" id="{5889F43D-98E2-26C0-7DB0-180666548FFF}"/>
                  </a:ext>
                </a:extLst>
              </p:cNvPr>
              <p:cNvSpPr/>
              <p:nvPr/>
            </p:nvSpPr>
            <p:spPr>
              <a:xfrm rot="5400000">
                <a:off x="7977188" y="2543175"/>
                <a:ext cx="3190874" cy="2743200"/>
              </a:xfrm>
              <a:prstGeom prst="hexag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grpSp>
        <p:grpSp>
          <p:nvGrpSpPr>
            <p:cNvPr id="15" name="Ομάδα 14">
              <a:extLst>
                <a:ext uri="{FF2B5EF4-FFF2-40B4-BE49-F238E27FC236}">
                  <a16:creationId xmlns:a16="http://schemas.microsoft.com/office/drawing/2014/main" id="{EF92A48A-DC6E-F915-D7C7-4AF2173F1252}"/>
                </a:ext>
              </a:extLst>
            </p:cNvPr>
            <p:cNvGrpSpPr/>
            <p:nvPr/>
          </p:nvGrpSpPr>
          <p:grpSpPr>
            <a:xfrm>
              <a:off x="5739982" y="1938053"/>
              <a:ext cx="7772399" cy="2776538"/>
              <a:chOff x="2476501" y="2319336"/>
              <a:chExt cx="8467724" cy="3190876"/>
            </a:xfrm>
            <a:grpFill/>
          </p:grpSpPr>
          <p:sp>
            <p:nvSpPr>
              <p:cNvPr id="16" name="Εξάγωνο 15">
                <a:extLst>
                  <a:ext uri="{FF2B5EF4-FFF2-40B4-BE49-F238E27FC236}">
                    <a16:creationId xmlns:a16="http://schemas.microsoft.com/office/drawing/2014/main" id="{2C95CEA1-FFCB-B6D9-63F0-0CC921CE1FEF}"/>
                  </a:ext>
                </a:extLst>
              </p:cNvPr>
              <p:cNvSpPr/>
              <p:nvPr/>
            </p:nvSpPr>
            <p:spPr>
              <a:xfrm rot="5400000">
                <a:off x="5114927" y="2543173"/>
                <a:ext cx="3190873" cy="2743200"/>
              </a:xfrm>
              <a:prstGeom prst="hexag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dirty="0"/>
              </a:p>
            </p:txBody>
          </p:sp>
          <p:sp>
            <p:nvSpPr>
              <p:cNvPr id="17" name="Εξάγωνο 16">
                <a:extLst>
                  <a:ext uri="{FF2B5EF4-FFF2-40B4-BE49-F238E27FC236}">
                    <a16:creationId xmlns:a16="http://schemas.microsoft.com/office/drawing/2014/main" id="{CD0E9AED-3B97-9910-9A38-AC45FC8F575C}"/>
                  </a:ext>
                </a:extLst>
              </p:cNvPr>
              <p:cNvSpPr/>
              <p:nvPr/>
            </p:nvSpPr>
            <p:spPr>
              <a:xfrm rot="5400000">
                <a:off x="2252664" y="2543174"/>
                <a:ext cx="3190874" cy="2743200"/>
              </a:xfrm>
              <a:prstGeom prst="hexag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18" name="Εξάγωνο 17">
                <a:extLst>
                  <a:ext uri="{FF2B5EF4-FFF2-40B4-BE49-F238E27FC236}">
                    <a16:creationId xmlns:a16="http://schemas.microsoft.com/office/drawing/2014/main" id="{6281DEF9-4B67-E1FB-713D-654931BEDC89}"/>
                  </a:ext>
                </a:extLst>
              </p:cNvPr>
              <p:cNvSpPr/>
              <p:nvPr/>
            </p:nvSpPr>
            <p:spPr>
              <a:xfrm rot="5400000">
                <a:off x="7977188" y="2543175"/>
                <a:ext cx="3190874" cy="2743200"/>
              </a:xfrm>
              <a:prstGeom prst="hexag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grpSp>
        <p:grpSp>
          <p:nvGrpSpPr>
            <p:cNvPr id="19" name="Ομάδα 18">
              <a:extLst>
                <a:ext uri="{FF2B5EF4-FFF2-40B4-BE49-F238E27FC236}">
                  <a16:creationId xmlns:a16="http://schemas.microsoft.com/office/drawing/2014/main" id="{FB4F4345-D8B4-0133-E0EB-E7D1FB19D2AA}"/>
                </a:ext>
              </a:extLst>
            </p:cNvPr>
            <p:cNvGrpSpPr/>
            <p:nvPr/>
          </p:nvGrpSpPr>
          <p:grpSpPr>
            <a:xfrm>
              <a:off x="5678569" y="-2534505"/>
              <a:ext cx="7772399" cy="2776538"/>
              <a:chOff x="2476501" y="2319336"/>
              <a:chExt cx="8467724" cy="3190876"/>
            </a:xfrm>
            <a:grpFill/>
          </p:grpSpPr>
          <p:sp>
            <p:nvSpPr>
              <p:cNvPr id="20" name="Εξάγωνο 19">
                <a:extLst>
                  <a:ext uri="{FF2B5EF4-FFF2-40B4-BE49-F238E27FC236}">
                    <a16:creationId xmlns:a16="http://schemas.microsoft.com/office/drawing/2014/main" id="{2E3EBE87-95A3-C2F2-78E6-0E18039FA74A}"/>
                  </a:ext>
                </a:extLst>
              </p:cNvPr>
              <p:cNvSpPr/>
              <p:nvPr/>
            </p:nvSpPr>
            <p:spPr>
              <a:xfrm rot="5400000">
                <a:off x="5114927" y="2543173"/>
                <a:ext cx="3190873" cy="2743200"/>
              </a:xfrm>
              <a:prstGeom prst="hexag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21" name="Εξάγωνο 20">
                <a:extLst>
                  <a:ext uri="{FF2B5EF4-FFF2-40B4-BE49-F238E27FC236}">
                    <a16:creationId xmlns:a16="http://schemas.microsoft.com/office/drawing/2014/main" id="{38957894-FA4A-7914-1995-C6B78AC55685}"/>
                  </a:ext>
                </a:extLst>
              </p:cNvPr>
              <p:cNvSpPr/>
              <p:nvPr/>
            </p:nvSpPr>
            <p:spPr>
              <a:xfrm rot="5400000">
                <a:off x="2252664" y="2543174"/>
                <a:ext cx="3190874" cy="2743200"/>
              </a:xfrm>
              <a:prstGeom prst="hexag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22" name="Εξάγωνο 21">
                <a:extLst>
                  <a:ext uri="{FF2B5EF4-FFF2-40B4-BE49-F238E27FC236}">
                    <a16:creationId xmlns:a16="http://schemas.microsoft.com/office/drawing/2014/main" id="{4D654031-7AB2-5E03-DAAE-89024599D5EE}"/>
                  </a:ext>
                </a:extLst>
              </p:cNvPr>
              <p:cNvSpPr/>
              <p:nvPr/>
            </p:nvSpPr>
            <p:spPr>
              <a:xfrm rot="5400000">
                <a:off x="7977188" y="2543175"/>
                <a:ext cx="3190874" cy="2743200"/>
              </a:xfrm>
              <a:prstGeom prst="hexag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grpSp>
      </p:grpSp>
      <p:sp>
        <p:nvSpPr>
          <p:cNvPr id="24" name="Ορθογώνιο 23">
            <a:extLst>
              <a:ext uri="{FF2B5EF4-FFF2-40B4-BE49-F238E27FC236}">
                <a16:creationId xmlns:a16="http://schemas.microsoft.com/office/drawing/2014/main" id="{8D69E194-E71F-F162-C696-0F504438D35C}"/>
              </a:ext>
            </a:extLst>
          </p:cNvPr>
          <p:cNvSpPr/>
          <p:nvPr/>
        </p:nvSpPr>
        <p:spPr>
          <a:xfrm>
            <a:off x="-36060" y="0"/>
            <a:ext cx="5074400" cy="6858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dirty="0"/>
          </a:p>
        </p:txBody>
      </p:sp>
      <p:sp>
        <p:nvSpPr>
          <p:cNvPr id="25" name="TextBox 24">
            <a:extLst>
              <a:ext uri="{FF2B5EF4-FFF2-40B4-BE49-F238E27FC236}">
                <a16:creationId xmlns:a16="http://schemas.microsoft.com/office/drawing/2014/main" id="{E620099D-FAF1-D661-734A-B588DF9C733E}"/>
              </a:ext>
            </a:extLst>
          </p:cNvPr>
          <p:cNvSpPr txBox="1"/>
          <p:nvPr/>
        </p:nvSpPr>
        <p:spPr>
          <a:xfrm>
            <a:off x="228600" y="481263"/>
            <a:ext cx="4680284" cy="1200329"/>
          </a:xfrm>
          <a:prstGeom prst="rect">
            <a:avLst/>
          </a:prstGeom>
          <a:noFill/>
        </p:spPr>
        <p:txBody>
          <a:bodyPr wrap="square" rtlCol="0">
            <a:spAutoFit/>
          </a:bodyPr>
          <a:lstStyle/>
          <a:p>
            <a:pPr algn="ctr"/>
            <a:r>
              <a:rPr lang="el-GR" sz="3600" b="1" dirty="0"/>
              <a:t>Ανθρώπινοι Πόροι της ΦΑΓΕ</a:t>
            </a:r>
          </a:p>
        </p:txBody>
      </p:sp>
      <p:sp>
        <p:nvSpPr>
          <p:cNvPr id="26" name="TextBox 25">
            <a:extLst>
              <a:ext uri="{FF2B5EF4-FFF2-40B4-BE49-F238E27FC236}">
                <a16:creationId xmlns:a16="http://schemas.microsoft.com/office/drawing/2014/main" id="{018980C9-6624-889B-CF36-AB49308D9AE8}"/>
              </a:ext>
            </a:extLst>
          </p:cNvPr>
          <p:cNvSpPr txBox="1"/>
          <p:nvPr/>
        </p:nvSpPr>
        <p:spPr>
          <a:xfrm>
            <a:off x="299353" y="1949631"/>
            <a:ext cx="4609531" cy="923330"/>
          </a:xfrm>
          <a:prstGeom prst="rect">
            <a:avLst/>
          </a:prstGeom>
          <a:noFill/>
        </p:spPr>
        <p:txBody>
          <a:bodyPr wrap="square" rtlCol="0">
            <a:spAutoFit/>
          </a:bodyPr>
          <a:lstStyle/>
          <a:p>
            <a:pPr marL="285750" indent="-285750">
              <a:buFont typeface="Arial" panose="020B0604020202020204" pitchFamily="34" charset="0"/>
              <a:buChar char="•"/>
            </a:pPr>
            <a:r>
              <a:rPr lang="el-GR" dirty="0"/>
              <a:t>Εξειδικευμένο και Έμπειρο Προσωπικό: Από την παραγωγή έως τις πωλήσεις και το μάρκετινγκ.</a:t>
            </a:r>
          </a:p>
        </p:txBody>
      </p:sp>
      <p:sp>
        <p:nvSpPr>
          <p:cNvPr id="30" name="Rectangle 2">
            <a:extLst>
              <a:ext uri="{FF2B5EF4-FFF2-40B4-BE49-F238E27FC236}">
                <a16:creationId xmlns:a16="http://schemas.microsoft.com/office/drawing/2014/main" id="{60396B02-2F9E-005B-E127-1B1DD0A8F912}"/>
              </a:ext>
            </a:extLst>
          </p:cNvPr>
          <p:cNvSpPr>
            <a:spLocks noChangeArrowheads="1"/>
          </p:cNvSpPr>
          <p:nvPr/>
        </p:nvSpPr>
        <p:spPr bwMode="auto">
          <a:xfrm>
            <a:off x="307992" y="2768755"/>
            <a:ext cx="4730347"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l-GR" altLang="el-GR"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l-GR" altLang="el-GR" sz="1800" b="0" i="0" u="none" strike="noStrike" cap="none" normalizeH="0" baseline="0" dirty="0">
                <a:ln>
                  <a:noFill/>
                </a:ln>
                <a:solidFill>
                  <a:schemeClr val="tx1"/>
                </a:solidFill>
                <a:effectLst/>
                <a:latin typeface="Arial" panose="020B0604020202020204" pitchFamily="34" charset="0"/>
              </a:rPr>
              <a:t>Εκπαίδευση και Ανάπτυξη Δεξιοτήτων: Προγράμματα κατάρτισης και επιμόρφωσης.</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l-GR" altLang="el-GR" sz="1800" b="0" i="0" u="none" strike="noStrike" cap="none" normalizeH="0" baseline="0" dirty="0">
              <a:ln>
                <a:noFill/>
              </a:ln>
              <a:solidFill>
                <a:schemeClr val="tx1"/>
              </a:solidFill>
              <a:effectLst/>
              <a:latin typeface="Arial" panose="020B0604020202020204" pitchFamily="34" charset="0"/>
            </a:endParaRPr>
          </a:p>
        </p:txBody>
      </p:sp>
      <p:sp>
        <p:nvSpPr>
          <p:cNvPr id="31" name="TextBox 30">
            <a:extLst>
              <a:ext uri="{FF2B5EF4-FFF2-40B4-BE49-F238E27FC236}">
                <a16:creationId xmlns:a16="http://schemas.microsoft.com/office/drawing/2014/main" id="{BC614DC5-40A5-254B-C089-66C4A43F087A}"/>
              </a:ext>
            </a:extLst>
          </p:cNvPr>
          <p:cNvSpPr txBox="1"/>
          <p:nvPr/>
        </p:nvSpPr>
        <p:spPr>
          <a:xfrm>
            <a:off x="299353" y="4268425"/>
            <a:ext cx="4193988" cy="923330"/>
          </a:xfrm>
          <a:prstGeom prst="rect">
            <a:avLst/>
          </a:prstGeom>
          <a:noFill/>
        </p:spPr>
        <p:txBody>
          <a:bodyPr wrap="square" rtlCol="0">
            <a:spAutoFit/>
          </a:bodyPr>
          <a:lstStyle/>
          <a:p>
            <a:pPr marL="285750" indent="-285750">
              <a:buFont typeface="Arial" panose="020B0604020202020204" pitchFamily="34" charset="0"/>
              <a:buChar char="•"/>
            </a:pPr>
            <a:r>
              <a:rPr lang="el-GR" dirty="0"/>
              <a:t>Θετικό Εργασιακό Περιβάλλον: Ενθάρρυνση ομαδικής εργασίας και ανοιχτής επικοινωνίας.</a:t>
            </a:r>
          </a:p>
        </p:txBody>
      </p:sp>
      <p:sp>
        <p:nvSpPr>
          <p:cNvPr id="32" name="TextBox 31">
            <a:extLst>
              <a:ext uri="{FF2B5EF4-FFF2-40B4-BE49-F238E27FC236}">
                <a16:creationId xmlns:a16="http://schemas.microsoft.com/office/drawing/2014/main" id="{005DAD7F-B4B8-EAC4-A575-2E6708F70D70}"/>
              </a:ext>
            </a:extLst>
          </p:cNvPr>
          <p:cNvSpPr txBox="1"/>
          <p:nvPr/>
        </p:nvSpPr>
        <p:spPr>
          <a:xfrm>
            <a:off x="294021" y="5438641"/>
            <a:ext cx="4498776" cy="923330"/>
          </a:xfrm>
          <a:prstGeom prst="rect">
            <a:avLst/>
          </a:prstGeom>
          <a:noFill/>
        </p:spPr>
        <p:txBody>
          <a:bodyPr wrap="square" rtlCol="0">
            <a:spAutoFit/>
          </a:bodyPr>
          <a:lstStyle/>
          <a:p>
            <a:pPr marL="285750" indent="-285750">
              <a:buFont typeface="Arial" panose="020B0604020202020204" pitchFamily="34" charset="0"/>
              <a:buChar char="•"/>
            </a:pPr>
            <a:r>
              <a:rPr lang="el-GR" dirty="0"/>
              <a:t>Ισορροπία Επαγγελματικής και Προσωπικής Ζωής: Ευέλικτες συνθήκες εργασίας.</a:t>
            </a:r>
          </a:p>
        </p:txBody>
      </p:sp>
    </p:spTree>
    <p:extLst>
      <p:ext uri="{BB962C8B-B14F-4D97-AF65-F5344CB8AC3E}">
        <p14:creationId xmlns:p14="http://schemas.microsoft.com/office/powerpoint/2010/main" val="13402259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5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500"/>
                                        <p:tgtEl>
                                          <p:spTgt spid="3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5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fade">
                                      <p:cBhvr>
                                        <p:cTn id="2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p:bldP spid="30" grpId="0"/>
      <p:bldP spid="31" grpId="0"/>
      <p:bldP spid="32"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chemeClr val="tx2">
                <a:lumMod val="5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8" name="Ελεύθερη σχεδίαση: Σχήμα 7">
            <a:extLst>
              <a:ext uri="{FF2B5EF4-FFF2-40B4-BE49-F238E27FC236}">
                <a16:creationId xmlns:a16="http://schemas.microsoft.com/office/drawing/2014/main" id="{4E7897E5-F8FF-4A35-FADA-14F2C2A1643B}"/>
              </a:ext>
            </a:extLst>
          </p:cNvPr>
          <p:cNvSpPr/>
          <p:nvPr/>
        </p:nvSpPr>
        <p:spPr>
          <a:xfrm>
            <a:off x="0" y="0"/>
            <a:ext cx="8181975" cy="6858000"/>
          </a:xfrm>
          <a:custGeom>
            <a:avLst/>
            <a:gdLst>
              <a:gd name="connsiteX0" fmla="*/ 3635831 w 6963658"/>
              <a:gd name="connsiteY0" fmla="*/ 2685143 h 6858000"/>
              <a:gd name="connsiteX1" fmla="*/ 5947231 w 6963658"/>
              <a:gd name="connsiteY1" fmla="*/ 6858000 h 6858000"/>
              <a:gd name="connsiteX2" fmla="*/ 1324431 w 6963658"/>
              <a:gd name="connsiteY2" fmla="*/ 6858000 h 6858000"/>
              <a:gd name="connsiteX3" fmla="*/ 2340858 w 6963658"/>
              <a:gd name="connsiteY3" fmla="*/ 0 h 6858000"/>
              <a:gd name="connsiteX4" fmla="*/ 6963658 w 6963658"/>
              <a:gd name="connsiteY4" fmla="*/ 0 h 6858000"/>
              <a:gd name="connsiteX5" fmla="*/ 4652258 w 6963658"/>
              <a:gd name="connsiteY5" fmla="*/ 4172857 h 6858000"/>
              <a:gd name="connsiteX6" fmla="*/ 0 w 6963658"/>
              <a:gd name="connsiteY6" fmla="*/ 0 h 6858000"/>
              <a:gd name="connsiteX7" fmla="*/ 2131566 w 6963658"/>
              <a:gd name="connsiteY7" fmla="*/ 0 h 6858000"/>
              <a:gd name="connsiteX8" fmla="*/ 3528254 w 6963658"/>
              <a:gd name="connsiteY8" fmla="*/ 2526919 h 6858000"/>
              <a:gd name="connsiteX9" fmla="*/ 1134362 w 6963658"/>
              <a:gd name="connsiteY9" fmla="*/ 6858000 h 6858000"/>
              <a:gd name="connsiteX10" fmla="*/ 0 w 6963658"/>
              <a:gd name="connsiteY1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63658" h="6858000">
                <a:moveTo>
                  <a:pt x="3635831" y="2685143"/>
                </a:moveTo>
                <a:lnTo>
                  <a:pt x="5947231" y="6858000"/>
                </a:lnTo>
                <a:lnTo>
                  <a:pt x="1324431" y="6858000"/>
                </a:lnTo>
                <a:close/>
                <a:moveTo>
                  <a:pt x="2340858" y="0"/>
                </a:moveTo>
                <a:lnTo>
                  <a:pt x="6963658" y="0"/>
                </a:lnTo>
                <a:lnTo>
                  <a:pt x="4652258" y="4172857"/>
                </a:lnTo>
                <a:close/>
                <a:moveTo>
                  <a:pt x="0" y="0"/>
                </a:moveTo>
                <a:lnTo>
                  <a:pt x="2131566" y="0"/>
                </a:lnTo>
                <a:lnTo>
                  <a:pt x="3528254" y="2526919"/>
                </a:lnTo>
                <a:lnTo>
                  <a:pt x="1134362" y="6858000"/>
                </a:lnTo>
                <a:lnTo>
                  <a:pt x="0" y="6858000"/>
                </a:lnTo>
                <a:close/>
              </a:path>
            </a:pathLst>
          </a:custGeom>
          <a:blipFill>
            <a:blip r:embed="rId2"/>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l-GR"/>
          </a:p>
        </p:txBody>
      </p:sp>
      <p:sp>
        <p:nvSpPr>
          <p:cNvPr id="10" name="TextBox 9">
            <a:extLst>
              <a:ext uri="{FF2B5EF4-FFF2-40B4-BE49-F238E27FC236}">
                <a16:creationId xmlns:a16="http://schemas.microsoft.com/office/drawing/2014/main" id="{283D7112-69EA-7DA6-8136-6B48C1045E57}"/>
              </a:ext>
            </a:extLst>
          </p:cNvPr>
          <p:cNvSpPr txBox="1"/>
          <p:nvPr/>
        </p:nvSpPr>
        <p:spPr>
          <a:xfrm>
            <a:off x="7143750" y="566648"/>
            <a:ext cx="5210176" cy="1200329"/>
          </a:xfrm>
          <a:prstGeom prst="rect">
            <a:avLst/>
          </a:prstGeom>
          <a:noFill/>
        </p:spPr>
        <p:txBody>
          <a:bodyPr wrap="square" rtlCol="0">
            <a:spAutoFit/>
          </a:bodyPr>
          <a:lstStyle/>
          <a:p>
            <a:pPr algn="ctr"/>
            <a:r>
              <a:rPr lang="el-GR" sz="3600" b="1" dirty="0">
                <a:effectLst/>
                <a:latin typeface="Times New Roman" panose="02020603050405020304" pitchFamily="18" charset="0"/>
                <a:ea typeface="Times New Roman" panose="02020603050405020304" pitchFamily="18" charset="0"/>
              </a:rPr>
              <a:t>Εγκαταστάσεις και Εργοστάσια της ΦΑΓΕ</a:t>
            </a:r>
            <a:endParaRPr lang="el-GR" sz="3600" b="1" dirty="0"/>
          </a:p>
        </p:txBody>
      </p:sp>
      <p:sp>
        <p:nvSpPr>
          <p:cNvPr id="11" name="TextBox 10">
            <a:extLst>
              <a:ext uri="{FF2B5EF4-FFF2-40B4-BE49-F238E27FC236}">
                <a16:creationId xmlns:a16="http://schemas.microsoft.com/office/drawing/2014/main" id="{8541A007-CC7D-68DF-4011-7F482C8092FF}"/>
              </a:ext>
            </a:extLst>
          </p:cNvPr>
          <p:cNvSpPr txBox="1"/>
          <p:nvPr/>
        </p:nvSpPr>
        <p:spPr>
          <a:xfrm>
            <a:off x="7086599" y="2000249"/>
            <a:ext cx="5105401" cy="1200329"/>
          </a:xfrm>
          <a:prstGeom prst="rect">
            <a:avLst/>
          </a:prstGeom>
          <a:noFill/>
        </p:spPr>
        <p:txBody>
          <a:bodyPr wrap="square" rtlCol="0">
            <a:spAutoFit/>
          </a:bodyPr>
          <a:lstStyle/>
          <a:p>
            <a:pPr marL="285750" indent="-285750">
              <a:buFont typeface="Arial" panose="020B0604020202020204" pitchFamily="34" charset="0"/>
              <a:buChar char="•"/>
            </a:pPr>
            <a:r>
              <a:rPr lang="el-GR" sz="1800" dirty="0">
                <a:effectLst/>
                <a:latin typeface="Times New Roman" panose="02020603050405020304" pitchFamily="18" charset="0"/>
                <a:ea typeface="Times New Roman" panose="02020603050405020304" pitchFamily="18" charset="0"/>
                <a:cs typeface="Times New Roman" panose="02020603050405020304" pitchFamily="18" charset="0"/>
              </a:rPr>
              <a:t>Σύγχρονες Εγκαταστάσεις: Εργοστάσια παραγωγής, κέντρα διανομής και αποθηκευτικοί χώροι.</a:t>
            </a:r>
            <a:endParaRPr lang="el-GR" sz="1800" dirty="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buFont typeface="Arial" panose="020B0604020202020204" pitchFamily="34" charset="0"/>
              <a:buChar char="•"/>
            </a:pPr>
            <a:endParaRPr lang="el-GR" dirty="0"/>
          </a:p>
        </p:txBody>
      </p:sp>
      <p:sp>
        <p:nvSpPr>
          <p:cNvPr id="12" name="TextBox 11">
            <a:extLst>
              <a:ext uri="{FF2B5EF4-FFF2-40B4-BE49-F238E27FC236}">
                <a16:creationId xmlns:a16="http://schemas.microsoft.com/office/drawing/2014/main" id="{D706D19A-E6FD-B9BD-69CA-77DB1E5D8D7C}"/>
              </a:ext>
            </a:extLst>
          </p:cNvPr>
          <p:cNvSpPr txBox="1"/>
          <p:nvPr/>
        </p:nvSpPr>
        <p:spPr>
          <a:xfrm>
            <a:off x="7038975" y="3167062"/>
            <a:ext cx="5419725" cy="1200329"/>
          </a:xfrm>
          <a:prstGeom prst="rect">
            <a:avLst/>
          </a:prstGeom>
          <a:noFill/>
        </p:spPr>
        <p:txBody>
          <a:bodyPr wrap="square" rtlCol="0">
            <a:spAutoFit/>
          </a:bodyPr>
          <a:lstStyle/>
          <a:p>
            <a:pPr marL="285750" indent="-285750">
              <a:buFont typeface="Arial" panose="020B0604020202020204" pitchFamily="34" charset="0"/>
              <a:buChar char="•"/>
            </a:pPr>
            <a:r>
              <a:rPr lang="el-GR" sz="1800" dirty="0">
                <a:effectLst/>
                <a:latin typeface="Times New Roman" panose="02020603050405020304" pitchFamily="18" charset="0"/>
                <a:ea typeface="Times New Roman" panose="02020603050405020304" pitchFamily="18" charset="0"/>
                <a:cs typeface="Times New Roman" panose="02020603050405020304" pitchFamily="18" charset="0"/>
              </a:rPr>
              <a:t>Τεχνολογία Αιχμής: Αναβάθμιση εγκαταστάσεων, προηγμένες τεχνολογίες και αυτοματοποιημένα συστήματα παραγωγής.</a:t>
            </a:r>
            <a:endParaRPr lang="el-GR"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l-GR" dirty="0"/>
          </a:p>
        </p:txBody>
      </p:sp>
      <p:sp>
        <p:nvSpPr>
          <p:cNvPr id="13" name="TextBox 12">
            <a:extLst>
              <a:ext uri="{FF2B5EF4-FFF2-40B4-BE49-F238E27FC236}">
                <a16:creationId xmlns:a16="http://schemas.microsoft.com/office/drawing/2014/main" id="{DB5D17B7-F7BD-8B1B-D3D1-C4AB581532C6}"/>
              </a:ext>
            </a:extLst>
          </p:cNvPr>
          <p:cNvSpPr txBox="1"/>
          <p:nvPr/>
        </p:nvSpPr>
        <p:spPr>
          <a:xfrm>
            <a:off x="7038975" y="4367391"/>
            <a:ext cx="4905375" cy="923330"/>
          </a:xfrm>
          <a:prstGeom prst="rect">
            <a:avLst/>
          </a:prstGeom>
          <a:noFill/>
        </p:spPr>
        <p:txBody>
          <a:bodyPr wrap="square" rtlCol="0">
            <a:spAutoFit/>
          </a:bodyPr>
          <a:lstStyle/>
          <a:p>
            <a:pPr marL="285750" indent="-285750">
              <a:buFont typeface="Arial" panose="020B0604020202020204" pitchFamily="34" charset="0"/>
              <a:buChar char="•"/>
            </a:pPr>
            <a:r>
              <a:rPr lang="el-GR" sz="1800" dirty="0">
                <a:effectLst/>
                <a:latin typeface="Times New Roman" panose="02020603050405020304" pitchFamily="18" charset="0"/>
                <a:ea typeface="Times New Roman" panose="02020603050405020304" pitchFamily="18" charset="0"/>
                <a:cs typeface="Times New Roman" panose="02020603050405020304" pitchFamily="18" charset="0"/>
              </a:rPr>
              <a:t>Υψηλά Πρότυπα Υγιεινής και Ασφάλειας: Διασφάλιση ποιότητας προϊόντων.</a:t>
            </a:r>
            <a:endParaRPr lang="el-GR"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l-GR" dirty="0"/>
          </a:p>
        </p:txBody>
      </p:sp>
      <p:sp>
        <p:nvSpPr>
          <p:cNvPr id="14" name="TextBox 13">
            <a:extLst>
              <a:ext uri="{FF2B5EF4-FFF2-40B4-BE49-F238E27FC236}">
                <a16:creationId xmlns:a16="http://schemas.microsoft.com/office/drawing/2014/main" id="{8CE489A4-B970-0057-E826-846D976FB17D}"/>
              </a:ext>
            </a:extLst>
          </p:cNvPr>
          <p:cNvSpPr txBox="1"/>
          <p:nvPr/>
        </p:nvSpPr>
        <p:spPr>
          <a:xfrm>
            <a:off x="7038975" y="5368022"/>
            <a:ext cx="4905375" cy="923330"/>
          </a:xfrm>
          <a:prstGeom prst="rect">
            <a:avLst/>
          </a:prstGeom>
          <a:noFill/>
        </p:spPr>
        <p:txBody>
          <a:bodyPr wrap="square" rtlCol="0">
            <a:spAutoFit/>
          </a:bodyPr>
          <a:lstStyle/>
          <a:p>
            <a:pPr marL="285750" indent="-285750">
              <a:buFont typeface="Arial" panose="020B0604020202020204" pitchFamily="34" charset="0"/>
              <a:buChar char="•"/>
            </a:pPr>
            <a:r>
              <a:rPr lang="el-GR" sz="1800" dirty="0">
                <a:effectLst/>
                <a:latin typeface="Times New Roman" panose="02020603050405020304" pitchFamily="18" charset="0"/>
                <a:ea typeface="Times New Roman" panose="02020603050405020304" pitchFamily="18" charset="0"/>
                <a:cs typeface="Times New Roman" panose="02020603050405020304" pitchFamily="18" charset="0"/>
              </a:rPr>
              <a:t>Κέντρα Διανομής: Έγκαιρη και αποτελεσματική παράδοση προϊόντων.</a:t>
            </a:r>
            <a:endParaRPr lang="el-GR"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l-GR" dirty="0"/>
          </a:p>
        </p:txBody>
      </p:sp>
    </p:spTree>
    <p:extLst>
      <p:ext uri="{BB962C8B-B14F-4D97-AF65-F5344CB8AC3E}">
        <p14:creationId xmlns:p14="http://schemas.microsoft.com/office/powerpoint/2010/main" val="2754436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13" grpId="0"/>
      <p:bldP spid="14"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A2B87-FF55-6A80-6499-C6F6EFA56236}"/>
              </a:ext>
            </a:extLst>
          </p:cNvPr>
          <p:cNvSpPr>
            <a:spLocks noGrp="1"/>
          </p:cNvSpPr>
          <p:nvPr>
            <p:ph type="ctrTitle"/>
          </p:nvPr>
        </p:nvSpPr>
        <p:spPr>
          <a:xfrm>
            <a:off x="1524000" y="226143"/>
            <a:ext cx="9144000" cy="1160205"/>
          </a:xfrm>
        </p:spPr>
        <p:txBody>
          <a:bodyPr>
            <a:normAutofit/>
          </a:bodyPr>
          <a:lstStyle/>
          <a:p>
            <a:r>
              <a:rPr lang="el-GR" sz="2000" b="1" kern="100" dirty="0">
                <a:effectLst/>
                <a:latin typeface="Aptos" panose="020B0004020202020204" pitchFamily="34" charset="0"/>
                <a:ea typeface="Aptos" panose="020B0004020202020204" pitchFamily="34" charset="0"/>
                <a:cs typeface="Times New Roman" panose="02020603050405020304" pitchFamily="18" charset="0"/>
              </a:rPr>
              <a:t>ΣΥΝΟΛΙΚΗ ΕΚΤΙΜΗΣΗ ΔΥΝΑΜΕΩΝ-ΑΔΥΝΑΜΙΩΝ-ΕΥΚΑΙΡΙΩΝ-ΑΠΕΙΛΩΝ(ΑΝΑΛΥΣΗ </a:t>
            </a:r>
            <a:r>
              <a:rPr lang="en-US" sz="2000" b="1" kern="100" dirty="0">
                <a:effectLst/>
                <a:latin typeface="Aptos" panose="020B0004020202020204" pitchFamily="34" charset="0"/>
                <a:ea typeface="Aptos" panose="020B0004020202020204" pitchFamily="34" charset="0"/>
                <a:cs typeface="Times New Roman" panose="02020603050405020304" pitchFamily="18" charset="0"/>
              </a:rPr>
              <a:t>SWOT</a:t>
            </a:r>
            <a:r>
              <a:rPr lang="el-GR" sz="2000" b="1" kern="100" dirty="0">
                <a:effectLst/>
                <a:latin typeface="Aptos" panose="020B0004020202020204" pitchFamily="34" charset="0"/>
                <a:ea typeface="Aptos" panose="020B0004020202020204" pitchFamily="34" charset="0"/>
                <a:cs typeface="Times New Roman" panose="02020603050405020304" pitchFamily="18" charset="0"/>
              </a:rPr>
              <a:t>)</a:t>
            </a:r>
            <a:br>
              <a:rPr lang="en-US" sz="2000" kern="100" dirty="0">
                <a:effectLst/>
                <a:latin typeface="Aptos" panose="020B0004020202020204" pitchFamily="34" charset="0"/>
                <a:ea typeface="Aptos" panose="020B0004020202020204" pitchFamily="34" charset="0"/>
                <a:cs typeface="Times New Roman" panose="02020603050405020304" pitchFamily="18" charset="0"/>
              </a:rPr>
            </a:br>
            <a:endParaRPr lang="en-US" sz="2000" dirty="0"/>
          </a:p>
        </p:txBody>
      </p:sp>
      <p:sp>
        <p:nvSpPr>
          <p:cNvPr id="7" name="TextBox 6">
            <a:extLst>
              <a:ext uri="{FF2B5EF4-FFF2-40B4-BE49-F238E27FC236}">
                <a16:creationId xmlns:a16="http://schemas.microsoft.com/office/drawing/2014/main" id="{BBEF9E64-E88D-E80D-96B6-4C2F72AB14EB}"/>
              </a:ext>
            </a:extLst>
          </p:cNvPr>
          <p:cNvSpPr txBox="1"/>
          <p:nvPr/>
        </p:nvSpPr>
        <p:spPr>
          <a:xfrm>
            <a:off x="678426" y="1385049"/>
            <a:ext cx="2349910" cy="646331"/>
          </a:xfrm>
          <a:prstGeom prst="rect">
            <a:avLst/>
          </a:prstGeom>
          <a:noFill/>
        </p:spPr>
        <p:txBody>
          <a:bodyPr wrap="square" rtlCol="0">
            <a:spAutoFit/>
          </a:bodyPr>
          <a:lstStyle/>
          <a:p>
            <a:pPr marL="285750" indent="-285750">
              <a:buFont typeface="Arial" panose="020B0604020202020204" pitchFamily="34" charset="0"/>
              <a:buChar char="•"/>
            </a:pPr>
            <a:r>
              <a:rPr lang="el-GR" sz="1800" b="1" dirty="0">
                <a:solidFill>
                  <a:srgbClr val="468BBA"/>
                </a:solidFill>
              </a:rPr>
              <a:t>Δυνάμεις</a:t>
            </a:r>
            <a:r>
              <a:rPr lang="el-GR" dirty="0"/>
              <a:t> </a:t>
            </a:r>
            <a:endParaRPr lang="en-US" dirty="0"/>
          </a:p>
          <a:p>
            <a:endParaRPr lang="el-GR" dirty="0"/>
          </a:p>
        </p:txBody>
      </p:sp>
      <p:sp>
        <p:nvSpPr>
          <p:cNvPr id="8" name="TextBox 7">
            <a:extLst>
              <a:ext uri="{FF2B5EF4-FFF2-40B4-BE49-F238E27FC236}">
                <a16:creationId xmlns:a16="http://schemas.microsoft.com/office/drawing/2014/main" id="{84166F85-A498-BD5C-95EF-4A19770C43F4}"/>
              </a:ext>
            </a:extLst>
          </p:cNvPr>
          <p:cNvSpPr txBox="1"/>
          <p:nvPr/>
        </p:nvSpPr>
        <p:spPr>
          <a:xfrm>
            <a:off x="1130706" y="1743843"/>
            <a:ext cx="4100051" cy="338554"/>
          </a:xfrm>
          <a:prstGeom prst="rect">
            <a:avLst/>
          </a:prstGeom>
          <a:noFill/>
        </p:spPr>
        <p:txBody>
          <a:bodyPr wrap="square" rtlCol="0">
            <a:spAutoFit/>
          </a:bodyPr>
          <a:lstStyle/>
          <a:p>
            <a:r>
              <a:rPr lang="el-GR" sz="1600" dirty="0"/>
              <a:t>- </a:t>
            </a:r>
            <a:r>
              <a:rPr lang="el-GR" sz="1600" b="1" dirty="0"/>
              <a:t>Πολύ ισχυρό όνομα παγκοσμίως</a:t>
            </a:r>
            <a:r>
              <a:rPr lang="el-GR" sz="1600" dirty="0"/>
              <a:t>.</a:t>
            </a:r>
          </a:p>
        </p:txBody>
      </p:sp>
      <p:sp>
        <p:nvSpPr>
          <p:cNvPr id="9" name="TextBox 8">
            <a:extLst>
              <a:ext uri="{FF2B5EF4-FFF2-40B4-BE49-F238E27FC236}">
                <a16:creationId xmlns:a16="http://schemas.microsoft.com/office/drawing/2014/main" id="{61C361EE-1D2F-096C-77D6-B2567053922E}"/>
              </a:ext>
            </a:extLst>
          </p:cNvPr>
          <p:cNvSpPr txBox="1"/>
          <p:nvPr/>
        </p:nvSpPr>
        <p:spPr>
          <a:xfrm>
            <a:off x="1140535" y="2155263"/>
            <a:ext cx="8180443" cy="338554"/>
          </a:xfrm>
          <a:prstGeom prst="rect">
            <a:avLst/>
          </a:prstGeom>
          <a:noFill/>
        </p:spPr>
        <p:txBody>
          <a:bodyPr wrap="square" rtlCol="0">
            <a:spAutoFit/>
          </a:bodyPr>
          <a:lstStyle/>
          <a:p>
            <a:r>
              <a:rPr lang="el-GR" sz="1600" dirty="0"/>
              <a:t>-</a:t>
            </a:r>
            <a:r>
              <a:rPr lang="el-GR" sz="1600" b="1" dirty="0"/>
              <a:t>Ποιότητα προϊόντων</a:t>
            </a:r>
            <a:r>
              <a:rPr lang="el-GR" sz="1600" dirty="0"/>
              <a:t>: Τα προϊόντα της ΦΑΓΕ είναι γνωστά για την υψηλή ποιότητά τους.</a:t>
            </a:r>
          </a:p>
        </p:txBody>
      </p:sp>
      <p:sp>
        <p:nvSpPr>
          <p:cNvPr id="10" name="TextBox 9">
            <a:extLst>
              <a:ext uri="{FF2B5EF4-FFF2-40B4-BE49-F238E27FC236}">
                <a16:creationId xmlns:a16="http://schemas.microsoft.com/office/drawing/2014/main" id="{D6453995-8BD6-B37F-745E-86E0CA43642A}"/>
              </a:ext>
            </a:extLst>
          </p:cNvPr>
          <p:cNvSpPr txBox="1"/>
          <p:nvPr/>
        </p:nvSpPr>
        <p:spPr>
          <a:xfrm>
            <a:off x="1120873" y="2604800"/>
            <a:ext cx="8849034" cy="830997"/>
          </a:xfrm>
          <a:prstGeom prst="rect">
            <a:avLst/>
          </a:prstGeom>
          <a:noFill/>
        </p:spPr>
        <p:txBody>
          <a:bodyPr wrap="square" rtlCol="0">
            <a:spAutoFit/>
          </a:bodyPr>
          <a:lstStyle/>
          <a:p>
            <a:r>
              <a:rPr lang="el-GR" sz="1600" dirty="0"/>
              <a:t>-  </a:t>
            </a:r>
            <a:r>
              <a:rPr lang="el-GR" sz="1600" b="1" dirty="0"/>
              <a:t>Διεθνής παρουσία</a:t>
            </a:r>
            <a:r>
              <a:rPr lang="el-GR" sz="1600" dirty="0"/>
              <a:t>: Η ΦΑΓΕ έχει επεκταθεί σε πολλές διεθνείς αγορές, ιδιαίτερα στην Αμερική και την</a:t>
            </a:r>
            <a:r>
              <a:rPr lang="en-US" sz="1600" dirty="0"/>
              <a:t>  </a:t>
            </a:r>
            <a:r>
              <a:rPr lang="el-GR" sz="1600" dirty="0"/>
              <a:t>Ευρώπη.</a:t>
            </a:r>
          </a:p>
          <a:p>
            <a:endParaRPr lang="el-GR" sz="1600" dirty="0"/>
          </a:p>
        </p:txBody>
      </p:sp>
      <p:sp>
        <p:nvSpPr>
          <p:cNvPr id="11" name="TextBox 10">
            <a:extLst>
              <a:ext uri="{FF2B5EF4-FFF2-40B4-BE49-F238E27FC236}">
                <a16:creationId xmlns:a16="http://schemas.microsoft.com/office/drawing/2014/main" id="{36BC47F6-FD40-3908-481D-E7820902A592}"/>
              </a:ext>
            </a:extLst>
          </p:cNvPr>
          <p:cNvSpPr txBox="1"/>
          <p:nvPr/>
        </p:nvSpPr>
        <p:spPr>
          <a:xfrm>
            <a:off x="1120874" y="3151547"/>
            <a:ext cx="7659332" cy="338554"/>
          </a:xfrm>
          <a:prstGeom prst="rect">
            <a:avLst/>
          </a:prstGeom>
          <a:noFill/>
        </p:spPr>
        <p:txBody>
          <a:bodyPr wrap="square" rtlCol="0">
            <a:spAutoFit/>
          </a:bodyPr>
          <a:lstStyle/>
          <a:p>
            <a:r>
              <a:rPr lang="el-GR" sz="1600" dirty="0"/>
              <a:t>- </a:t>
            </a:r>
            <a:r>
              <a:rPr lang="el-GR" sz="1600" b="1" dirty="0"/>
              <a:t>Καινοτομία</a:t>
            </a:r>
            <a:r>
              <a:rPr lang="el-GR" sz="1600" dirty="0"/>
              <a:t>: συνεχής ανάπτυξη νέων προϊόντων και βελτίωση των </a:t>
            </a:r>
            <a:r>
              <a:rPr lang="el-GR" sz="1600" dirty="0" err="1"/>
              <a:t>υπάρχοντων</a:t>
            </a:r>
            <a:r>
              <a:rPr lang="el-GR" sz="1600" dirty="0"/>
              <a:t>.</a:t>
            </a:r>
          </a:p>
        </p:txBody>
      </p:sp>
      <p:sp>
        <p:nvSpPr>
          <p:cNvPr id="12" name="TextBox 11">
            <a:extLst>
              <a:ext uri="{FF2B5EF4-FFF2-40B4-BE49-F238E27FC236}">
                <a16:creationId xmlns:a16="http://schemas.microsoft.com/office/drawing/2014/main" id="{31D6D2EC-6E7B-FB3F-72C4-31F8CBCA41E2}"/>
              </a:ext>
            </a:extLst>
          </p:cNvPr>
          <p:cNvSpPr txBox="1"/>
          <p:nvPr/>
        </p:nvSpPr>
        <p:spPr>
          <a:xfrm>
            <a:off x="1120873" y="3590052"/>
            <a:ext cx="8396753" cy="338554"/>
          </a:xfrm>
          <a:prstGeom prst="rect">
            <a:avLst/>
          </a:prstGeom>
          <a:noFill/>
        </p:spPr>
        <p:txBody>
          <a:bodyPr wrap="square" rtlCol="0">
            <a:spAutoFit/>
          </a:bodyPr>
          <a:lstStyle/>
          <a:p>
            <a:pPr algn="l"/>
            <a:r>
              <a:rPr lang="el-GR" sz="1600" dirty="0"/>
              <a:t>- </a:t>
            </a:r>
            <a:r>
              <a:rPr lang="el-GR" sz="1600" b="1" dirty="0"/>
              <a:t>Εργοστάσια παραγωγής</a:t>
            </a:r>
            <a:r>
              <a:rPr lang="el-GR" sz="1600" dirty="0"/>
              <a:t>: Σύγχρονα εργοστάσια με προηγμένες τεχνολογίες παραγωγής.</a:t>
            </a:r>
          </a:p>
        </p:txBody>
      </p:sp>
      <p:sp>
        <p:nvSpPr>
          <p:cNvPr id="13" name="TextBox 12">
            <a:extLst>
              <a:ext uri="{FF2B5EF4-FFF2-40B4-BE49-F238E27FC236}">
                <a16:creationId xmlns:a16="http://schemas.microsoft.com/office/drawing/2014/main" id="{4E9A2887-73EE-FCB2-CE1E-6D11187983CC}"/>
              </a:ext>
            </a:extLst>
          </p:cNvPr>
          <p:cNvSpPr txBox="1"/>
          <p:nvPr/>
        </p:nvSpPr>
        <p:spPr>
          <a:xfrm>
            <a:off x="678426" y="3997824"/>
            <a:ext cx="2349910" cy="646331"/>
          </a:xfrm>
          <a:prstGeom prst="rect">
            <a:avLst/>
          </a:prstGeom>
          <a:noFill/>
        </p:spPr>
        <p:txBody>
          <a:bodyPr wrap="square" rtlCol="0">
            <a:spAutoFit/>
          </a:bodyPr>
          <a:lstStyle/>
          <a:p>
            <a:pPr marL="285750" indent="-285750">
              <a:buFont typeface="Arial" panose="020B0604020202020204" pitchFamily="34" charset="0"/>
              <a:buChar char="•"/>
            </a:pPr>
            <a:r>
              <a:rPr lang="el-GR" sz="1800" b="1" dirty="0">
                <a:solidFill>
                  <a:srgbClr val="468BBA"/>
                </a:solidFill>
              </a:rPr>
              <a:t>Αδυναμίες</a:t>
            </a:r>
            <a:r>
              <a:rPr lang="el-GR" dirty="0"/>
              <a:t> </a:t>
            </a:r>
            <a:endParaRPr lang="en-US" dirty="0"/>
          </a:p>
          <a:p>
            <a:endParaRPr lang="el-GR" dirty="0"/>
          </a:p>
        </p:txBody>
      </p:sp>
      <p:sp>
        <p:nvSpPr>
          <p:cNvPr id="14" name="TextBox 13">
            <a:extLst>
              <a:ext uri="{FF2B5EF4-FFF2-40B4-BE49-F238E27FC236}">
                <a16:creationId xmlns:a16="http://schemas.microsoft.com/office/drawing/2014/main" id="{CE2BAEE1-CF6E-890B-8DDA-ECA896767064}"/>
              </a:ext>
            </a:extLst>
          </p:cNvPr>
          <p:cNvSpPr txBox="1"/>
          <p:nvPr/>
        </p:nvSpPr>
        <p:spPr>
          <a:xfrm>
            <a:off x="958640" y="4387351"/>
            <a:ext cx="7408611" cy="338554"/>
          </a:xfrm>
          <a:prstGeom prst="rect">
            <a:avLst/>
          </a:prstGeom>
          <a:noFill/>
        </p:spPr>
        <p:txBody>
          <a:bodyPr wrap="square" rtlCol="0">
            <a:spAutoFit/>
          </a:bodyPr>
          <a:lstStyle/>
          <a:p>
            <a:pPr algn="l"/>
            <a:r>
              <a:rPr lang="el-GR" sz="1600" dirty="0"/>
              <a:t>- </a:t>
            </a:r>
            <a:r>
              <a:rPr lang="el-GR" sz="1600" b="1" dirty="0"/>
              <a:t>Εξάρτηση από ορισμένες αγορές</a:t>
            </a:r>
            <a:r>
              <a:rPr lang="el-GR" sz="1600" dirty="0"/>
              <a:t>: Μεγάλη εξάρτηση από την αμερικανική αγορά.</a:t>
            </a:r>
          </a:p>
        </p:txBody>
      </p:sp>
      <p:sp>
        <p:nvSpPr>
          <p:cNvPr id="15" name="TextBox 14">
            <a:extLst>
              <a:ext uri="{FF2B5EF4-FFF2-40B4-BE49-F238E27FC236}">
                <a16:creationId xmlns:a16="http://schemas.microsoft.com/office/drawing/2014/main" id="{F85F71D5-7B20-C63F-DB2A-8D0CD000DA0F}"/>
              </a:ext>
            </a:extLst>
          </p:cNvPr>
          <p:cNvSpPr txBox="1"/>
          <p:nvPr/>
        </p:nvSpPr>
        <p:spPr>
          <a:xfrm>
            <a:off x="958641" y="4770831"/>
            <a:ext cx="9394727" cy="338554"/>
          </a:xfrm>
          <a:prstGeom prst="rect">
            <a:avLst/>
          </a:prstGeom>
          <a:noFill/>
        </p:spPr>
        <p:txBody>
          <a:bodyPr wrap="square" rtlCol="0">
            <a:spAutoFit/>
          </a:bodyPr>
          <a:lstStyle/>
          <a:p>
            <a:pPr algn="l"/>
            <a:r>
              <a:rPr lang="el-GR" sz="1600" dirty="0"/>
              <a:t>- </a:t>
            </a:r>
            <a:r>
              <a:rPr lang="el-GR" sz="1600" b="1" dirty="0"/>
              <a:t>Υψηλό κόστος παραγωγής</a:t>
            </a:r>
            <a:r>
              <a:rPr lang="el-GR" sz="1600" dirty="0"/>
              <a:t>: Η διατήρηση της υψηλής ποιότητας συνεπάγεται υψηλό κόστος παραγωγής.</a:t>
            </a:r>
          </a:p>
        </p:txBody>
      </p:sp>
      <p:sp>
        <p:nvSpPr>
          <p:cNvPr id="16" name="TextBox 15">
            <a:extLst>
              <a:ext uri="{FF2B5EF4-FFF2-40B4-BE49-F238E27FC236}">
                <a16:creationId xmlns:a16="http://schemas.microsoft.com/office/drawing/2014/main" id="{C7D4161A-DE4A-F8EF-C8FA-D50C1B60B1B4}"/>
              </a:ext>
            </a:extLst>
          </p:cNvPr>
          <p:cNvSpPr txBox="1"/>
          <p:nvPr/>
        </p:nvSpPr>
        <p:spPr>
          <a:xfrm>
            <a:off x="958640" y="5206182"/>
            <a:ext cx="10348455" cy="584775"/>
          </a:xfrm>
          <a:prstGeom prst="rect">
            <a:avLst/>
          </a:prstGeom>
          <a:noFill/>
        </p:spPr>
        <p:txBody>
          <a:bodyPr wrap="square" rtlCol="0">
            <a:spAutoFit/>
          </a:bodyPr>
          <a:lstStyle/>
          <a:p>
            <a:r>
              <a:rPr lang="el-GR" sz="1600" dirty="0"/>
              <a:t>- </a:t>
            </a:r>
            <a:r>
              <a:rPr lang="el-GR" sz="1600" b="1" dirty="0"/>
              <a:t>Περιορισμένη διαφοροποίηση προϊόντων</a:t>
            </a:r>
            <a:r>
              <a:rPr lang="el-GR" sz="1600" dirty="0"/>
              <a:t>: Αν και έχει ποικιλία προϊόντων, η ΦΑΓΕ είναι κυρίως γνωστή          	   για το γιαούρτι της.</a:t>
            </a:r>
          </a:p>
        </p:txBody>
      </p:sp>
    </p:spTree>
    <p:extLst>
      <p:ext uri="{BB962C8B-B14F-4D97-AF65-F5344CB8AC3E}">
        <p14:creationId xmlns:p14="http://schemas.microsoft.com/office/powerpoint/2010/main" val="7454978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par>
                          <p:cTn id="13" fill="hold">
                            <p:stCondLst>
                              <p:cond delay="500"/>
                            </p:stCondLst>
                            <p:childTnLst>
                              <p:par>
                                <p:cTn id="14" presetID="42" presetClass="entr" presetSubtype="0" fill="hold" grpId="0" nodeType="after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1000"/>
                                        <p:tgtEl>
                                          <p:spTgt spid="8"/>
                                        </p:tgtEl>
                                      </p:cBhvr>
                                    </p:animEffect>
                                    <p:anim calcmode="lin" valueType="num">
                                      <p:cBhvr>
                                        <p:cTn id="17" dur="1000" fill="hold"/>
                                        <p:tgtEl>
                                          <p:spTgt spid="8"/>
                                        </p:tgtEl>
                                        <p:attrNameLst>
                                          <p:attrName>ppt_x</p:attrName>
                                        </p:attrNameLst>
                                      </p:cBhvr>
                                      <p:tavLst>
                                        <p:tav tm="0">
                                          <p:val>
                                            <p:strVal val="#ppt_x"/>
                                          </p:val>
                                        </p:tav>
                                        <p:tav tm="100000">
                                          <p:val>
                                            <p:strVal val="#ppt_x"/>
                                          </p:val>
                                        </p:tav>
                                      </p:tavLst>
                                    </p:anim>
                                    <p:anim calcmode="lin" valueType="num">
                                      <p:cBhvr>
                                        <p:cTn id="18" dur="1000" fill="hold"/>
                                        <p:tgtEl>
                                          <p:spTgt spid="8"/>
                                        </p:tgtEl>
                                        <p:attrNameLst>
                                          <p:attrName>ppt_y</p:attrName>
                                        </p:attrNameLst>
                                      </p:cBhvr>
                                      <p:tavLst>
                                        <p:tav tm="0">
                                          <p:val>
                                            <p:strVal val="#ppt_y+.1"/>
                                          </p:val>
                                        </p:tav>
                                        <p:tav tm="100000">
                                          <p:val>
                                            <p:strVal val="#ppt_y"/>
                                          </p:val>
                                        </p:tav>
                                      </p:tavLst>
                                    </p:anim>
                                  </p:childTnLst>
                                </p:cTn>
                              </p:par>
                            </p:childTnLst>
                          </p:cTn>
                        </p:par>
                        <p:par>
                          <p:cTn id="19" fill="hold">
                            <p:stCondLst>
                              <p:cond delay="1500"/>
                            </p:stCondLst>
                            <p:childTnLst>
                              <p:par>
                                <p:cTn id="20" presetID="42" presetClass="entr" presetSubtype="0" fill="hold" grpId="0" nodeType="after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1000"/>
                                        <p:tgtEl>
                                          <p:spTgt spid="9"/>
                                        </p:tgtEl>
                                      </p:cBhvr>
                                    </p:animEffect>
                                    <p:anim calcmode="lin" valueType="num">
                                      <p:cBhvr>
                                        <p:cTn id="23" dur="1000" fill="hold"/>
                                        <p:tgtEl>
                                          <p:spTgt spid="9"/>
                                        </p:tgtEl>
                                        <p:attrNameLst>
                                          <p:attrName>ppt_x</p:attrName>
                                        </p:attrNameLst>
                                      </p:cBhvr>
                                      <p:tavLst>
                                        <p:tav tm="0">
                                          <p:val>
                                            <p:strVal val="#ppt_x"/>
                                          </p:val>
                                        </p:tav>
                                        <p:tav tm="100000">
                                          <p:val>
                                            <p:strVal val="#ppt_x"/>
                                          </p:val>
                                        </p:tav>
                                      </p:tavLst>
                                    </p:anim>
                                    <p:anim calcmode="lin" valueType="num">
                                      <p:cBhvr>
                                        <p:cTn id="24" dur="1000" fill="hold"/>
                                        <p:tgtEl>
                                          <p:spTgt spid="9"/>
                                        </p:tgtEl>
                                        <p:attrNameLst>
                                          <p:attrName>ppt_y</p:attrName>
                                        </p:attrNameLst>
                                      </p:cBhvr>
                                      <p:tavLst>
                                        <p:tav tm="0">
                                          <p:val>
                                            <p:strVal val="#ppt_y+.1"/>
                                          </p:val>
                                        </p:tav>
                                        <p:tav tm="100000">
                                          <p:val>
                                            <p:strVal val="#ppt_y"/>
                                          </p:val>
                                        </p:tav>
                                      </p:tavLst>
                                    </p:anim>
                                  </p:childTnLst>
                                </p:cTn>
                              </p:par>
                            </p:childTnLst>
                          </p:cTn>
                        </p:par>
                        <p:par>
                          <p:cTn id="25" fill="hold">
                            <p:stCondLst>
                              <p:cond delay="2500"/>
                            </p:stCondLst>
                            <p:childTnLst>
                              <p:par>
                                <p:cTn id="26" presetID="42" presetClass="entr" presetSubtype="0" fill="hold" grpId="0" nodeType="after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1000"/>
                                        <p:tgtEl>
                                          <p:spTgt spid="10"/>
                                        </p:tgtEl>
                                      </p:cBhvr>
                                    </p:animEffect>
                                    <p:anim calcmode="lin" valueType="num">
                                      <p:cBhvr>
                                        <p:cTn id="29" dur="1000" fill="hold"/>
                                        <p:tgtEl>
                                          <p:spTgt spid="10"/>
                                        </p:tgtEl>
                                        <p:attrNameLst>
                                          <p:attrName>ppt_x</p:attrName>
                                        </p:attrNameLst>
                                      </p:cBhvr>
                                      <p:tavLst>
                                        <p:tav tm="0">
                                          <p:val>
                                            <p:strVal val="#ppt_x"/>
                                          </p:val>
                                        </p:tav>
                                        <p:tav tm="100000">
                                          <p:val>
                                            <p:strVal val="#ppt_x"/>
                                          </p:val>
                                        </p:tav>
                                      </p:tavLst>
                                    </p:anim>
                                    <p:anim calcmode="lin" valueType="num">
                                      <p:cBhvr>
                                        <p:cTn id="30" dur="1000" fill="hold"/>
                                        <p:tgtEl>
                                          <p:spTgt spid="10"/>
                                        </p:tgtEl>
                                        <p:attrNameLst>
                                          <p:attrName>ppt_y</p:attrName>
                                        </p:attrNameLst>
                                      </p:cBhvr>
                                      <p:tavLst>
                                        <p:tav tm="0">
                                          <p:val>
                                            <p:strVal val="#ppt_y+.1"/>
                                          </p:val>
                                        </p:tav>
                                        <p:tav tm="100000">
                                          <p:val>
                                            <p:strVal val="#ppt_y"/>
                                          </p:val>
                                        </p:tav>
                                      </p:tavLst>
                                    </p:anim>
                                  </p:childTnLst>
                                </p:cTn>
                              </p:par>
                            </p:childTnLst>
                          </p:cTn>
                        </p:par>
                        <p:par>
                          <p:cTn id="31" fill="hold">
                            <p:stCondLst>
                              <p:cond delay="3500"/>
                            </p:stCondLst>
                            <p:childTnLst>
                              <p:par>
                                <p:cTn id="32" presetID="42" presetClass="entr" presetSubtype="0"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1000"/>
                                        <p:tgtEl>
                                          <p:spTgt spid="11"/>
                                        </p:tgtEl>
                                      </p:cBhvr>
                                    </p:animEffect>
                                    <p:anim calcmode="lin" valueType="num">
                                      <p:cBhvr>
                                        <p:cTn id="35" dur="1000" fill="hold"/>
                                        <p:tgtEl>
                                          <p:spTgt spid="11"/>
                                        </p:tgtEl>
                                        <p:attrNameLst>
                                          <p:attrName>ppt_x</p:attrName>
                                        </p:attrNameLst>
                                      </p:cBhvr>
                                      <p:tavLst>
                                        <p:tav tm="0">
                                          <p:val>
                                            <p:strVal val="#ppt_x"/>
                                          </p:val>
                                        </p:tav>
                                        <p:tav tm="100000">
                                          <p:val>
                                            <p:strVal val="#ppt_x"/>
                                          </p:val>
                                        </p:tav>
                                      </p:tavLst>
                                    </p:anim>
                                    <p:anim calcmode="lin" valueType="num">
                                      <p:cBhvr>
                                        <p:cTn id="36" dur="1000" fill="hold"/>
                                        <p:tgtEl>
                                          <p:spTgt spid="11"/>
                                        </p:tgtEl>
                                        <p:attrNameLst>
                                          <p:attrName>ppt_y</p:attrName>
                                        </p:attrNameLst>
                                      </p:cBhvr>
                                      <p:tavLst>
                                        <p:tav tm="0">
                                          <p:val>
                                            <p:strVal val="#ppt_y+.1"/>
                                          </p:val>
                                        </p:tav>
                                        <p:tav tm="100000">
                                          <p:val>
                                            <p:strVal val="#ppt_y"/>
                                          </p:val>
                                        </p:tav>
                                      </p:tavLst>
                                    </p:anim>
                                  </p:childTnLst>
                                </p:cTn>
                              </p:par>
                            </p:childTnLst>
                          </p:cTn>
                        </p:par>
                        <p:par>
                          <p:cTn id="37" fill="hold">
                            <p:stCondLst>
                              <p:cond delay="4500"/>
                            </p:stCondLst>
                            <p:childTnLst>
                              <p:par>
                                <p:cTn id="38" presetID="42" presetClass="entr" presetSubtype="0" fill="hold" grpId="0" nodeType="after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1000"/>
                                        <p:tgtEl>
                                          <p:spTgt spid="12"/>
                                        </p:tgtEl>
                                      </p:cBhvr>
                                    </p:animEffect>
                                    <p:anim calcmode="lin" valueType="num">
                                      <p:cBhvr>
                                        <p:cTn id="41" dur="1000" fill="hold"/>
                                        <p:tgtEl>
                                          <p:spTgt spid="12"/>
                                        </p:tgtEl>
                                        <p:attrNameLst>
                                          <p:attrName>ppt_x</p:attrName>
                                        </p:attrNameLst>
                                      </p:cBhvr>
                                      <p:tavLst>
                                        <p:tav tm="0">
                                          <p:val>
                                            <p:strVal val="#ppt_x"/>
                                          </p:val>
                                        </p:tav>
                                        <p:tav tm="100000">
                                          <p:val>
                                            <p:strVal val="#ppt_x"/>
                                          </p:val>
                                        </p:tav>
                                      </p:tavLst>
                                    </p:anim>
                                    <p:anim calcmode="lin" valueType="num">
                                      <p:cBhvr>
                                        <p:cTn id="42"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500"/>
                                        <p:tgtEl>
                                          <p:spTgt spid="13"/>
                                        </p:tgtEl>
                                      </p:cBhvr>
                                    </p:animEffect>
                                  </p:childTnLst>
                                </p:cTn>
                              </p:par>
                            </p:childTnLst>
                          </p:cTn>
                        </p:par>
                        <p:par>
                          <p:cTn id="48" fill="hold">
                            <p:stCondLst>
                              <p:cond delay="500"/>
                            </p:stCondLst>
                            <p:childTnLst>
                              <p:par>
                                <p:cTn id="49" presetID="42" presetClass="entr" presetSubtype="0" fill="hold" grpId="0" nodeType="afterEffect">
                                  <p:stCondLst>
                                    <p:cond delay="0"/>
                                  </p:stCondLst>
                                  <p:childTnLst>
                                    <p:set>
                                      <p:cBhvr>
                                        <p:cTn id="50" dur="1" fill="hold">
                                          <p:stCondLst>
                                            <p:cond delay="0"/>
                                          </p:stCondLst>
                                        </p:cTn>
                                        <p:tgtEl>
                                          <p:spTgt spid="14"/>
                                        </p:tgtEl>
                                        <p:attrNameLst>
                                          <p:attrName>style.visibility</p:attrName>
                                        </p:attrNameLst>
                                      </p:cBhvr>
                                      <p:to>
                                        <p:strVal val="visible"/>
                                      </p:to>
                                    </p:set>
                                    <p:animEffect transition="in" filter="fade">
                                      <p:cBhvr>
                                        <p:cTn id="51" dur="1000"/>
                                        <p:tgtEl>
                                          <p:spTgt spid="14"/>
                                        </p:tgtEl>
                                      </p:cBhvr>
                                    </p:animEffect>
                                    <p:anim calcmode="lin" valueType="num">
                                      <p:cBhvr>
                                        <p:cTn id="52" dur="1000" fill="hold"/>
                                        <p:tgtEl>
                                          <p:spTgt spid="14"/>
                                        </p:tgtEl>
                                        <p:attrNameLst>
                                          <p:attrName>ppt_x</p:attrName>
                                        </p:attrNameLst>
                                      </p:cBhvr>
                                      <p:tavLst>
                                        <p:tav tm="0">
                                          <p:val>
                                            <p:strVal val="#ppt_x"/>
                                          </p:val>
                                        </p:tav>
                                        <p:tav tm="100000">
                                          <p:val>
                                            <p:strVal val="#ppt_x"/>
                                          </p:val>
                                        </p:tav>
                                      </p:tavLst>
                                    </p:anim>
                                    <p:anim calcmode="lin" valueType="num">
                                      <p:cBhvr>
                                        <p:cTn id="53" dur="1000" fill="hold"/>
                                        <p:tgtEl>
                                          <p:spTgt spid="14"/>
                                        </p:tgtEl>
                                        <p:attrNameLst>
                                          <p:attrName>ppt_y</p:attrName>
                                        </p:attrNameLst>
                                      </p:cBhvr>
                                      <p:tavLst>
                                        <p:tav tm="0">
                                          <p:val>
                                            <p:strVal val="#ppt_y+.1"/>
                                          </p:val>
                                        </p:tav>
                                        <p:tav tm="100000">
                                          <p:val>
                                            <p:strVal val="#ppt_y"/>
                                          </p:val>
                                        </p:tav>
                                      </p:tavLst>
                                    </p:anim>
                                  </p:childTnLst>
                                </p:cTn>
                              </p:par>
                            </p:childTnLst>
                          </p:cTn>
                        </p:par>
                        <p:par>
                          <p:cTn id="54" fill="hold">
                            <p:stCondLst>
                              <p:cond delay="1500"/>
                            </p:stCondLst>
                            <p:childTnLst>
                              <p:par>
                                <p:cTn id="55" presetID="42" presetClass="entr" presetSubtype="0" fill="hold" grpId="0" nodeType="after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fade">
                                      <p:cBhvr>
                                        <p:cTn id="57" dur="1000"/>
                                        <p:tgtEl>
                                          <p:spTgt spid="15"/>
                                        </p:tgtEl>
                                      </p:cBhvr>
                                    </p:animEffect>
                                    <p:anim calcmode="lin" valueType="num">
                                      <p:cBhvr>
                                        <p:cTn id="58" dur="1000" fill="hold"/>
                                        <p:tgtEl>
                                          <p:spTgt spid="15"/>
                                        </p:tgtEl>
                                        <p:attrNameLst>
                                          <p:attrName>ppt_x</p:attrName>
                                        </p:attrNameLst>
                                      </p:cBhvr>
                                      <p:tavLst>
                                        <p:tav tm="0">
                                          <p:val>
                                            <p:strVal val="#ppt_x"/>
                                          </p:val>
                                        </p:tav>
                                        <p:tav tm="100000">
                                          <p:val>
                                            <p:strVal val="#ppt_x"/>
                                          </p:val>
                                        </p:tav>
                                      </p:tavLst>
                                    </p:anim>
                                    <p:anim calcmode="lin" valueType="num">
                                      <p:cBhvr>
                                        <p:cTn id="59" dur="1000" fill="hold"/>
                                        <p:tgtEl>
                                          <p:spTgt spid="15"/>
                                        </p:tgtEl>
                                        <p:attrNameLst>
                                          <p:attrName>ppt_y</p:attrName>
                                        </p:attrNameLst>
                                      </p:cBhvr>
                                      <p:tavLst>
                                        <p:tav tm="0">
                                          <p:val>
                                            <p:strVal val="#ppt_y+.1"/>
                                          </p:val>
                                        </p:tav>
                                        <p:tav tm="100000">
                                          <p:val>
                                            <p:strVal val="#ppt_y"/>
                                          </p:val>
                                        </p:tav>
                                      </p:tavLst>
                                    </p:anim>
                                  </p:childTnLst>
                                </p:cTn>
                              </p:par>
                            </p:childTnLst>
                          </p:cTn>
                        </p:par>
                        <p:par>
                          <p:cTn id="60" fill="hold">
                            <p:stCondLst>
                              <p:cond delay="2500"/>
                            </p:stCondLst>
                            <p:childTnLst>
                              <p:par>
                                <p:cTn id="61" presetID="42" presetClass="entr" presetSubtype="0" fill="hold" grpId="0" nodeType="after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1000"/>
                                        <p:tgtEl>
                                          <p:spTgt spid="16"/>
                                        </p:tgtEl>
                                      </p:cBhvr>
                                    </p:animEffect>
                                    <p:anim calcmode="lin" valueType="num">
                                      <p:cBhvr>
                                        <p:cTn id="64" dur="1000" fill="hold"/>
                                        <p:tgtEl>
                                          <p:spTgt spid="16"/>
                                        </p:tgtEl>
                                        <p:attrNameLst>
                                          <p:attrName>ppt_x</p:attrName>
                                        </p:attrNameLst>
                                      </p:cBhvr>
                                      <p:tavLst>
                                        <p:tav tm="0">
                                          <p:val>
                                            <p:strVal val="#ppt_x"/>
                                          </p:val>
                                        </p:tav>
                                        <p:tav tm="100000">
                                          <p:val>
                                            <p:strVal val="#ppt_x"/>
                                          </p:val>
                                        </p:tav>
                                      </p:tavLst>
                                    </p:anim>
                                    <p:anim calcmode="lin" valueType="num">
                                      <p:cBhvr>
                                        <p:cTn id="65"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p:bldP spid="8" grpId="0"/>
      <p:bldP spid="9" grpId="0"/>
      <p:bldP spid="10" grpId="0"/>
      <p:bldP spid="11" grpId="0"/>
      <p:bldP spid="12" grpId="0"/>
      <p:bldP spid="13" grpId="0"/>
      <p:bldP spid="14" grpId="0"/>
      <p:bldP spid="15" grpId="0"/>
      <p:bldP spid="16"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48F1F3-6610-3C5C-5205-886571BB0DF6}"/>
              </a:ext>
            </a:extLst>
          </p:cNvPr>
          <p:cNvSpPr>
            <a:spLocks noGrp="1"/>
          </p:cNvSpPr>
          <p:nvPr>
            <p:ph type="title"/>
          </p:nvPr>
        </p:nvSpPr>
        <p:spPr>
          <a:xfrm>
            <a:off x="838200" y="186814"/>
            <a:ext cx="10515600" cy="1012722"/>
          </a:xfrm>
        </p:spPr>
        <p:txBody>
          <a:bodyPr>
            <a:normAutofit/>
          </a:bodyPr>
          <a:lstStyle/>
          <a:p>
            <a:pPr algn="ctr"/>
            <a:r>
              <a:rPr lang="el-GR" sz="2000" b="1" kern="100" dirty="0">
                <a:effectLst/>
                <a:latin typeface="Aptos" panose="020B0004020202020204" pitchFamily="34" charset="0"/>
                <a:ea typeface="Aptos" panose="020B0004020202020204" pitchFamily="34" charset="0"/>
                <a:cs typeface="Times New Roman" panose="02020603050405020304" pitchFamily="18" charset="0"/>
              </a:rPr>
              <a:t>ΣΥΝΟΛΙΚΗ ΕΚΤΙΜΗΣΗ ΔΥΝΑΜΕΩΝ-ΑΔΥΝΑΜΙΩΝ-ΕΥΚΑΙΡΙΩΝ-</a:t>
            </a:r>
            <a:br>
              <a:rPr lang="el-GR" sz="2000" b="1" kern="100" dirty="0">
                <a:effectLst/>
                <a:latin typeface="Aptos" panose="020B0004020202020204" pitchFamily="34" charset="0"/>
                <a:ea typeface="Aptos" panose="020B0004020202020204" pitchFamily="34" charset="0"/>
                <a:cs typeface="Times New Roman" panose="02020603050405020304" pitchFamily="18" charset="0"/>
              </a:rPr>
            </a:br>
            <a:r>
              <a:rPr lang="el-GR" sz="2000" b="1" kern="100" dirty="0">
                <a:effectLst/>
                <a:latin typeface="Aptos" panose="020B0004020202020204" pitchFamily="34" charset="0"/>
                <a:ea typeface="Aptos" panose="020B0004020202020204" pitchFamily="34" charset="0"/>
                <a:cs typeface="Times New Roman" panose="02020603050405020304" pitchFamily="18" charset="0"/>
              </a:rPr>
              <a:t>ΑΠΕΙΛΩΝ(ΑΝΑΛΥΣΗ </a:t>
            </a:r>
            <a:r>
              <a:rPr lang="en-US" sz="2000" b="1" kern="100" dirty="0">
                <a:effectLst/>
                <a:latin typeface="Aptos" panose="020B0004020202020204" pitchFamily="34" charset="0"/>
                <a:ea typeface="Aptos" panose="020B0004020202020204" pitchFamily="34" charset="0"/>
                <a:cs typeface="Times New Roman" panose="02020603050405020304" pitchFamily="18" charset="0"/>
              </a:rPr>
              <a:t>SWOT</a:t>
            </a:r>
            <a:r>
              <a:rPr lang="el-GR" sz="2000" b="1" kern="100" dirty="0">
                <a:effectLst/>
                <a:latin typeface="Aptos" panose="020B0004020202020204" pitchFamily="34" charset="0"/>
                <a:ea typeface="Aptos" panose="020B0004020202020204" pitchFamily="34" charset="0"/>
                <a:cs typeface="Times New Roman" panose="02020603050405020304" pitchFamily="18" charset="0"/>
              </a:rPr>
              <a:t>)</a:t>
            </a:r>
            <a:endParaRPr lang="en-US" sz="2000" dirty="0"/>
          </a:p>
        </p:txBody>
      </p:sp>
      <p:sp>
        <p:nvSpPr>
          <p:cNvPr id="6" name="TextBox 5">
            <a:extLst>
              <a:ext uri="{FF2B5EF4-FFF2-40B4-BE49-F238E27FC236}">
                <a16:creationId xmlns:a16="http://schemas.microsoft.com/office/drawing/2014/main" id="{C49060E5-F54D-5195-F83B-00CDDC384E94}"/>
              </a:ext>
            </a:extLst>
          </p:cNvPr>
          <p:cNvSpPr txBox="1"/>
          <p:nvPr/>
        </p:nvSpPr>
        <p:spPr>
          <a:xfrm>
            <a:off x="553066" y="1218908"/>
            <a:ext cx="2349910" cy="646331"/>
          </a:xfrm>
          <a:prstGeom prst="rect">
            <a:avLst/>
          </a:prstGeom>
          <a:noFill/>
        </p:spPr>
        <p:txBody>
          <a:bodyPr wrap="square" rtlCol="0">
            <a:spAutoFit/>
          </a:bodyPr>
          <a:lstStyle/>
          <a:p>
            <a:pPr marL="285750" indent="-285750">
              <a:buFont typeface="Arial" panose="020B0604020202020204" pitchFamily="34" charset="0"/>
              <a:buChar char="•"/>
            </a:pPr>
            <a:r>
              <a:rPr lang="el-GR" sz="1800" b="1" dirty="0">
                <a:solidFill>
                  <a:srgbClr val="468BBA"/>
                </a:solidFill>
              </a:rPr>
              <a:t>Ευκαιρίες</a:t>
            </a:r>
            <a:r>
              <a:rPr lang="el-GR" dirty="0"/>
              <a:t> </a:t>
            </a:r>
            <a:endParaRPr lang="en-US" dirty="0"/>
          </a:p>
          <a:p>
            <a:endParaRPr lang="el-GR" dirty="0"/>
          </a:p>
        </p:txBody>
      </p:sp>
      <p:sp>
        <p:nvSpPr>
          <p:cNvPr id="7" name="TextBox 6">
            <a:extLst>
              <a:ext uri="{FF2B5EF4-FFF2-40B4-BE49-F238E27FC236}">
                <a16:creationId xmlns:a16="http://schemas.microsoft.com/office/drawing/2014/main" id="{73760746-C3BC-B52E-DCB3-AAE8A6D4A6C5}"/>
              </a:ext>
            </a:extLst>
          </p:cNvPr>
          <p:cNvSpPr txBox="1"/>
          <p:nvPr/>
        </p:nvSpPr>
        <p:spPr>
          <a:xfrm>
            <a:off x="1005345" y="1577702"/>
            <a:ext cx="9190707" cy="338554"/>
          </a:xfrm>
          <a:prstGeom prst="rect">
            <a:avLst/>
          </a:prstGeom>
          <a:noFill/>
        </p:spPr>
        <p:txBody>
          <a:bodyPr wrap="square" rtlCol="0">
            <a:spAutoFit/>
          </a:bodyPr>
          <a:lstStyle/>
          <a:p>
            <a:pPr marL="0" indent="0">
              <a:buNone/>
            </a:pPr>
            <a:r>
              <a:rPr lang="el-GR" sz="1600" dirty="0"/>
              <a:t>- </a:t>
            </a:r>
            <a:r>
              <a:rPr lang="el-GR" sz="1600" b="1" dirty="0"/>
              <a:t>Ανάπτυξη σε αναδυόμενες αγορές</a:t>
            </a:r>
            <a:r>
              <a:rPr lang="el-GR" sz="1600" dirty="0"/>
              <a:t>: Επέκταση σε νέες αγορές όπως η Ασία και η Λατινική Αμερική.</a:t>
            </a:r>
          </a:p>
        </p:txBody>
      </p:sp>
      <p:sp>
        <p:nvSpPr>
          <p:cNvPr id="8" name="TextBox 7">
            <a:extLst>
              <a:ext uri="{FF2B5EF4-FFF2-40B4-BE49-F238E27FC236}">
                <a16:creationId xmlns:a16="http://schemas.microsoft.com/office/drawing/2014/main" id="{0EF95268-62CD-21B3-ABFE-8D3619EB8954}"/>
              </a:ext>
            </a:extLst>
          </p:cNvPr>
          <p:cNvSpPr txBox="1"/>
          <p:nvPr/>
        </p:nvSpPr>
        <p:spPr>
          <a:xfrm>
            <a:off x="985685" y="2030001"/>
            <a:ext cx="9645446" cy="338554"/>
          </a:xfrm>
          <a:prstGeom prst="rect">
            <a:avLst/>
          </a:prstGeom>
          <a:noFill/>
        </p:spPr>
        <p:txBody>
          <a:bodyPr wrap="square" rtlCol="0">
            <a:spAutoFit/>
          </a:bodyPr>
          <a:lstStyle/>
          <a:p>
            <a:pPr marL="0" indent="0">
              <a:buNone/>
            </a:pPr>
            <a:r>
              <a:rPr lang="el-GR" sz="1600" dirty="0"/>
              <a:t>- </a:t>
            </a:r>
            <a:r>
              <a:rPr lang="el-GR" sz="1600" b="1" dirty="0"/>
              <a:t>Νέες διατροφικές τάσεις</a:t>
            </a:r>
            <a:r>
              <a:rPr lang="el-GR" sz="1600" dirty="0"/>
              <a:t>: Αξιοποίηση της αυξανόμενης ζήτησης για υγιεινά και φυσικά προϊόντα.</a:t>
            </a:r>
          </a:p>
        </p:txBody>
      </p:sp>
      <p:sp>
        <p:nvSpPr>
          <p:cNvPr id="9" name="TextBox 8">
            <a:extLst>
              <a:ext uri="{FF2B5EF4-FFF2-40B4-BE49-F238E27FC236}">
                <a16:creationId xmlns:a16="http://schemas.microsoft.com/office/drawing/2014/main" id="{8BA1EB54-B1C4-050C-843D-969D680A001F}"/>
              </a:ext>
            </a:extLst>
          </p:cNvPr>
          <p:cNvSpPr txBox="1"/>
          <p:nvPr/>
        </p:nvSpPr>
        <p:spPr>
          <a:xfrm>
            <a:off x="995515" y="2399086"/>
            <a:ext cx="10348455" cy="584775"/>
          </a:xfrm>
          <a:prstGeom prst="rect">
            <a:avLst/>
          </a:prstGeom>
          <a:noFill/>
        </p:spPr>
        <p:txBody>
          <a:bodyPr wrap="square" rtlCol="0">
            <a:spAutoFit/>
          </a:bodyPr>
          <a:lstStyle/>
          <a:p>
            <a:r>
              <a:rPr lang="el-GR" sz="1600" dirty="0"/>
              <a:t>- </a:t>
            </a:r>
            <a:r>
              <a:rPr lang="el-GR" sz="1600" b="1" dirty="0"/>
              <a:t>Συνεργασίες και συμμαχίες</a:t>
            </a:r>
            <a:r>
              <a:rPr lang="el-GR" sz="1600" dirty="0"/>
              <a:t>: Δυνατότητες για συνεργασίες με άλλες εταιρείες για ανάπτυξη νέων προϊόντων 	   ή είσοδο σε νέες αγορές</a:t>
            </a:r>
          </a:p>
        </p:txBody>
      </p:sp>
      <p:sp>
        <p:nvSpPr>
          <p:cNvPr id="10" name="TextBox 9">
            <a:extLst>
              <a:ext uri="{FF2B5EF4-FFF2-40B4-BE49-F238E27FC236}">
                <a16:creationId xmlns:a16="http://schemas.microsoft.com/office/drawing/2014/main" id="{4F56FEF1-8861-FF47-4089-FD427F8B9667}"/>
              </a:ext>
            </a:extLst>
          </p:cNvPr>
          <p:cNvSpPr txBox="1"/>
          <p:nvPr/>
        </p:nvSpPr>
        <p:spPr>
          <a:xfrm>
            <a:off x="1005345" y="3045460"/>
            <a:ext cx="10348455" cy="830997"/>
          </a:xfrm>
          <a:prstGeom prst="rect">
            <a:avLst/>
          </a:prstGeom>
          <a:noFill/>
        </p:spPr>
        <p:txBody>
          <a:bodyPr wrap="square" rtlCol="0">
            <a:spAutoFit/>
          </a:bodyPr>
          <a:lstStyle/>
          <a:p>
            <a:r>
              <a:rPr lang="el-GR" sz="1600" dirty="0"/>
              <a:t>- </a:t>
            </a:r>
            <a:r>
              <a:rPr lang="el-GR" sz="1600" b="1"/>
              <a:t>Διαδικτυακές πωλήσεις</a:t>
            </a:r>
            <a:r>
              <a:rPr lang="el-GR" sz="1600" dirty="0"/>
              <a:t>: Αξιοποίηση της ανάπτυξης του ηλεκτρονικού εμπορίου για αύξηση των 	  	   πωλήσεων.</a:t>
            </a:r>
          </a:p>
          <a:p>
            <a:endParaRPr lang="el-GR" sz="1600" dirty="0"/>
          </a:p>
        </p:txBody>
      </p:sp>
      <p:sp>
        <p:nvSpPr>
          <p:cNvPr id="12" name="TextBox 11">
            <a:extLst>
              <a:ext uri="{FF2B5EF4-FFF2-40B4-BE49-F238E27FC236}">
                <a16:creationId xmlns:a16="http://schemas.microsoft.com/office/drawing/2014/main" id="{BADCD1FE-2EB8-93A5-19EC-1672988C6539}"/>
              </a:ext>
            </a:extLst>
          </p:cNvPr>
          <p:cNvSpPr txBox="1"/>
          <p:nvPr/>
        </p:nvSpPr>
        <p:spPr>
          <a:xfrm>
            <a:off x="543236" y="3938056"/>
            <a:ext cx="2349910" cy="646331"/>
          </a:xfrm>
          <a:prstGeom prst="rect">
            <a:avLst/>
          </a:prstGeom>
          <a:noFill/>
        </p:spPr>
        <p:txBody>
          <a:bodyPr wrap="square" rtlCol="0">
            <a:spAutoFit/>
          </a:bodyPr>
          <a:lstStyle/>
          <a:p>
            <a:pPr marL="285750" indent="-285750">
              <a:buFont typeface="Arial" panose="020B0604020202020204" pitchFamily="34" charset="0"/>
              <a:buChar char="•"/>
            </a:pPr>
            <a:r>
              <a:rPr lang="el-GR" sz="1800" b="1" dirty="0">
                <a:solidFill>
                  <a:srgbClr val="468BBA"/>
                </a:solidFill>
              </a:rPr>
              <a:t>Απειλές</a:t>
            </a:r>
            <a:r>
              <a:rPr lang="el-GR" dirty="0"/>
              <a:t> </a:t>
            </a:r>
            <a:endParaRPr lang="en-US" dirty="0"/>
          </a:p>
          <a:p>
            <a:endParaRPr lang="el-GR" dirty="0"/>
          </a:p>
        </p:txBody>
      </p:sp>
      <p:sp>
        <p:nvSpPr>
          <p:cNvPr id="13" name="TextBox 12">
            <a:extLst>
              <a:ext uri="{FF2B5EF4-FFF2-40B4-BE49-F238E27FC236}">
                <a16:creationId xmlns:a16="http://schemas.microsoft.com/office/drawing/2014/main" id="{833644D5-25E6-9B34-94EF-57DCA0025501}"/>
              </a:ext>
            </a:extLst>
          </p:cNvPr>
          <p:cNvSpPr txBox="1"/>
          <p:nvPr/>
        </p:nvSpPr>
        <p:spPr>
          <a:xfrm>
            <a:off x="995515" y="4296850"/>
            <a:ext cx="9574165" cy="338554"/>
          </a:xfrm>
          <a:prstGeom prst="rect">
            <a:avLst/>
          </a:prstGeom>
          <a:noFill/>
        </p:spPr>
        <p:txBody>
          <a:bodyPr wrap="square" rtlCol="0">
            <a:spAutoFit/>
          </a:bodyPr>
          <a:lstStyle/>
          <a:p>
            <a:pPr marL="0" indent="0">
              <a:buNone/>
            </a:pPr>
            <a:r>
              <a:rPr lang="el-GR" sz="1600" dirty="0"/>
              <a:t>- </a:t>
            </a:r>
            <a:r>
              <a:rPr lang="el-GR" sz="1600" b="1" dirty="0"/>
              <a:t>Ανταγωνισμός</a:t>
            </a:r>
            <a:r>
              <a:rPr lang="el-GR" sz="1600" dirty="0"/>
              <a:t>: Ο έντονος ανταγωνισμός από άλλες μεγάλες εταιρείες στον τομέα των γαλακτοκομικών.</a:t>
            </a:r>
          </a:p>
        </p:txBody>
      </p:sp>
      <p:sp>
        <p:nvSpPr>
          <p:cNvPr id="14" name="TextBox 13">
            <a:extLst>
              <a:ext uri="{FF2B5EF4-FFF2-40B4-BE49-F238E27FC236}">
                <a16:creationId xmlns:a16="http://schemas.microsoft.com/office/drawing/2014/main" id="{13622A72-337B-C003-046C-F8CBC3104205}"/>
              </a:ext>
            </a:extLst>
          </p:cNvPr>
          <p:cNvSpPr txBox="1"/>
          <p:nvPr/>
        </p:nvSpPr>
        <p:spPr>
          <a:xfrm>
            <a:off x="995515" y="4748859"/>
            <a:ext cx="9645446" cy="338554"/>
          </a:xfrm>
          <a:prstGeom prst="rect">
            <a:avLst/>
          </a:prstGeom>
          <a:noFill/>
        </p:spPr>
        <p:txBody>
          <a:bodyPr wrap="square" rtlCol="0">
            <a:spAutoFit/>
          </a:bodyPr>
          <a:lstStyle/>
          <a:p>
            <a:pPr marL="0" indent="0">
              <a:buNone/>
            </a:pPr>
            <a:r>
              <a:rPr lang="el-GR" sz="1600" dirty="0"/>
              <a:t>- </a:t>
            </a:r>
            <a:r>
              <a:rPr lang="el-GR" sz="1600" b="1" dirty="0"/>
              <a:t>Οικονομικές κρίσεις</a:t>
            </a:r>
            <a:r>
              <a:rPr lang="el-GR" sz="1600" dirty="0"/>
              <a:t>: Οικονομικές κρίσεις σε βασικές αγορές μπορούν να επηρεάσουν τις πωλήσεις.</a:t>
            </a:r>
          </a:p>
        </p:txBody>
      </p:sp>
      <p:sp>
        <p:nvSpPr>
          <p:cNvPr id="15" name="TextBox 14">
            <a:extLst>
              <a:ext uri="{FF2B5EF4-FFF2-40B4-BE49-F238E27FC236}">
                <a16:creationId xmlns:a16="http://schemas.microsoft.com/office/drawing/2014/main" id="{99802DE5-431D-D3FC-B8CB-065C98393E52}"/>
              </a:ext>
            </a:extLst>
          </p:cNvPr>
          <p:cNvSpPr txBox="1"/>
          <p:nvPr/>
        </p:nvSpPr>
        <p:spPr>
          <a:xfrm>
            <a:off x="1005345" y="5107695"/>
            <a:ext cx="10348455" cy="861774"/>
          </a:xfrm>
          <a:prstGeom prst="rect">
            <a:avLst/>
          </a:prstGeom>
          <a:noFill/>
        </p:spPr>
        <p:txBody>
          <a:bodyPr wrap="square" rtlCol="0">
            <a:spAutoFit/>
          </a:bodyPr>
          <a:lstStyle/>
          <a:p>
            <a:r>
              <a:rPr lang="el-GR" sz="1800" dirty="0"/>
              <a:t>- </a:t>
            </a:r>
            <a:r>
              <a:rPr lang="el-GR" sz="1600" b="1" dirty="0"/>
              <a:t>Πολιτικές και κανονιστικές αλλαγές</a:t>
            </a:r>
            <a:r>
              <a:rPr lang="el-GR" sz="1600" dirty="0"/>
              <a:t>: Αλλαγές στους κανονισμούς για τα τρόφιμα ή στους δασμούς και τις 	 εμπορικές συμφωνίες μπορούν να επηρεάσουν τις δραστηριότητες της ΦΑΓΕ.</a:t>
            </a:r>
          </a:p>
          <a:p>
            <a:endParaRPr lang="el-GR" sz="1600" dirty="0"/>
          </a:p>
        </p:txBody>
      </p:sp>
      <p:sp>
        <p:nvSpPr>
          <p:cNvPr id="16" name="TextBox 15">
            <a:extLst>
              <a:ext uri="{FF2B5EF4-FFF2-40B4-BE49-F238E27FC236}">
                <a16:creationId xmlns:a16="http://schemas.microsoft.com/office/drawing/2014/main" id="{634002E0-2526-894D-FA63-5A3E5122BDD5}"/>
              </a:ext>
            </a:extLst>
          </p:cNvPr>
          <p:cNvSpPr txBox="1"/>
          <p:nvPr/>
        </p:nvSpPr>
        <p:spPr>
          <a:xfrm>
            <a:off x="995515" y="5764608"/>
            <a:ext cx="10348455" cy="584775"/>
          </a:xfrm>
          <a:prstGeom prst="rect">
            <a:avLst/>
          </a:prstGeom>
          <a:noFill/>
        </p:spPr>
        <p:txBody>
          <a:bodyPr wrap="square" rtlCol="0">
            <a:spAutoFit/>
          </a:bodyPr>
          <a:lstStyle/>
          <a:p>
            <a:r>
              <a:rPr lang="el-GR" sz="1600" dirty="0"/>
              <a:t>- </a:t>
            </a:r>
            <a:r>
              <a:rPr lang="el-GR" sz="1600" b="1" dirty="0"/>
              <a:t>Αλλαγές στις διατροφικές προτιμήσεις</a:t>
            </a:r>
            <a:r>
              <a:rPr lang="el-GR" sz="1600" dirty="0"/>
              <a:t>: Μεταβολές στις προτιμήσεις των καταναλωτών, όπως η στροφή 	 προς τα </a:t>
            </a:r>
            <a:r>
              <a:rPr lang="el-GR" sz="1600" dirty="0" err="1"/>
              <a:t>vegan</a:t>
            </a:r>
            <a:r>
              <a:rPr lang="el-GR" sz="1600" dirty="0"/>
              <a:t> προϊόντα.</a:t>
            </a:r>
          </a:p>
        </p:txBody>
      </p:sp>
    </p:spTree>
    <p:extLst>
      <p:ext uri="{BB962C8B-B14F-4D97-AF65-F5344CB8AC3E}">
        <p14:creationId xmlns:p14="http://schemas.microsoft.com/office/powerpoint/2010/main" val="34092903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par>
                          <p:cTn id="13" fill="hold">
                            <p:stCondLst>
                              <p:cond delay="500"/>
                            </p:stCondLst>
                            <p:childTnLst>
                              <p:par>
                                <p:cTn id="14" presetID="42" presetClass="entr" presetSubtype="0" fill="hold" grpId="0" nodeType="after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1000"/>
                                        <p:tgtEl>
                                          <p:spTgt spid="7"/>
                                        </p:tgtEl>
                                      </p:cBhvr>
                                    </p:animEffect>
                                    <p:anim calcmode="lin" valueType="num">
                                      <p:cBhvr>
                                        <p:cTn id="17" dur="1000" fill="hold"/>
                                        <p:tgtEl>
                                          <p:spTgt spid="7"/>
                                        </p:tgtEl>
                                        <p:attrNameLst>
                                          <p:attrName>ppt_x</p:attrName>
                                        </p:attrNameLst>
                                      </p:cBhvr>
                                      <p:tavLst>
                                        <p:tav tm="0">
                                          <p:val>
                                            <p:strVal val="#ppt_x"/>
                                          </p:val>
                                        </p:tav>
                                        <p:tav tm="100000">
                                          <p:val>
                                            <p:strVal val="#ppt_x"/>
                                          </p:val>
                                        </p:tav>
                                      </p:tavLst>
                                    </p:anim>
                                    <p:anim calcmode="lin" valueType="num">
                                      <p:cBhvr>
                                        <p:cTn id="18" dur="1000" fill="hold"/>
                                        <p:tgtEl>
                                          <p:spTgt spid="7"/>
                                        </p:tgtEl>
                                        <p:attrNameLst>
                                          <p:attrName>ppt_y</p:attrName>
                                        </p:attrNameLst>
                                      </p:cBhvr>
                                      <p:tavLst>
                                        <p:tav tm="0">
                                          <p:val>
                                            <p:strVal val="#ppt_y+.1"/>
                                          </p:val>
                                        </p:tav>
                                        <p:tav tm="100000">
                                          <p:val>
                                            <p:strVal val="#ppt_y"/>
                                          </p:val>
                                        </p:tav>
                                      </p:tavLst>
                                    </p:anim>
                                  </p:childTnLst>
                                </p:cTn>
                              </p:par>
                            </p:childTnLst>
                          </p:cTn>
                        </p:par>
                        <p:par>
                          <p:cTn id="19" fill="hold">
                            <p:stCondLst>
                              <p:cond delay="1500"/>
                            </p:stCondLst>
                            <p:childTnLst>
                              <p:par>
                                <p:cTn id="20" presetID="42" presetClass="entr" presetSubtype="0" fill="hold" grpId="0" nodeType="after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1000"/>
                                        <p:tgtEl>
                                          <p:spTgt spid="8"/>
                                        </p:tgtEl>
                                      </p:cBhvr>
                                    </p:animEffect>
                                    <p:anim calcmode="lin" valueType="num">
                                      <p:cBhvr>
                                        <p:cTn id="23" dur="1000" fill="hold"/>
                                        <p:tgtEl>
                                          <p:spTgt spid="8"/>
                                        </p:tgtEl>
                                        <p:attrNameLst>
                                          <p:attrName>ppt_x</p:attrName>
                                        </p:attrNameLst>
                                      </p:cBhvr>
                                      <p:tavLst>
                                        <p:tav tm="0">
                                          <p:val>
                                            <p:strVal val="#ppt_x"/>
                                          </p:val>
                                        </p:tav>
                                        <p:tav tm="100000">
                                          <p:val>
                                            <p:strVal val="#ppt_x"/>
                                          </p:val>
                                        </p:tav>
                                      </p:tavLst>
                                    </p:anim>
                                    <p:anim calcmode="lin" valueType="num">
                                      <p:cBhvr>
                                        <p:cTn id="24" dur="1000" fill="hold"/>
                                        <p:tgtEl>
                                          <p:spTgt spid="8"/>
                                        </p:tgtEl>
                                        <p:attrNameLst>
                                          <p:attrName>ppt_y</p:attrName>
                                        </p:attrNameLst>
                                      </p:cBhvr>
                                      <p:tavLst>
                                        <p:tav tm="0">
                                          <p:val>
                                            <p:strVal val="#ppt_y+.1"/>
                                          </p:val>
                                        </p:tav>
                                        <p:tav tm="100000">
                                          <p:val>
                                            <p:strVal val="#ppt_y"/>
                                          </p:val>
                                        </p:tav>
                                      </p:tavLst>
                                    </p:anim>
                                  </p:childTnLst>
                                </p:cTn>
                              </p:par>
                            </p:childTnLst>
                          </p:cTn>
                        </p:par>
                        <p:par>
                          <p:cTn id="25" fill="hold">
                            <p:stCondLst>
                              <p:cond delay="2500"/>
                            </p:stCondLst>
                            <p:childTnLst>
                              <p:par>
                                <p:cTn id="26" presetID="42" presetClass="entr" presetSubtype="0" fill="hold" nodeType="afterEffect">
                                  <p:stCondLst>
                                    <p:cond delay="0"/>
                                  </p:stCondLst>
                                  <p:childTnLst>
                                    <p:set>
                                      <p:cBhvr>
                                        <p:cTn id="27" dur="1" fill="hold">
                                          <p:stCondLst>
                                            <p:cond delay="0"/>
                                          </p:stCondLst>
                                        </p:cTn>
                                        <p:tgtEl>
                                          <p:spTgt spid="9">
                                            <p:txEl>
                                              <p:pRg st="0" end="0"/>
                                            </p:txEl>
                                          </p:spTgt>
                                        </p:tgtEl>
                                        <p:attrNameLst>
                                          <p:attrName>style.visibility</p:attrName>
                                        </p:attrNameLst>
                                      </p:cBhvr>
                                      <p:to>
                                        <p:strVal val="visible"/>
                                      </p:to>
                                    </p:set>
                                    <p:animEffect transition="in" filter="fade">
                                      <p:cBhvr>
                                        <p:cTn id="28" dur="1000"/>
                                        <p:tgtEl>
                                          <p:spTgt spid="9">
                                            <p:txEl>
                                              <p:pRg st="0" end="0"/>
                                            </p:txEl>
                                          </p:spTgt>
                                        </p:tgtEl>
                                      </p:cBhvr>
                                    </p:animEffect>
                                    <p:anim calcmode="lin" valueType="num">
                                      <p:cBhvr>
                                        <p:cTn id="29" dur="10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9">
                                            <p:txEl>
                                              <p:pRg st="0" end="0"/>
                                            </p:txEl>
                                          </p:spTgt>
                                        </p:tgtEl>
                                        <p:attrNameLst>
                                          <p:attrName>ppt_y</p:attrName>
                                        </p:attrNameLst>
                                      </p:cBhvr>
                                      <p:tavLst>
                                        <p:tav tm="0">
                                          <p:val>
                                            <p:strVal val="#ppt_y+.1"/>
                                          </p:val>
                                        </p:tav>
                                        <p:tav tm="100000">
                                          <p:val>
                                            <p:strVal val="#ppt_y"/>
                                          </p:val>
                                        </p:tav>
                                      </p:tavLst>
                                    </p:anim>
                                  </p:childTnLst>
                                </p:cTn>
                              </p:par>
                            </p:childTnLst>
                          </p:cTn>
                        </p:par>
                        <p:par>
                          <p:cTn id="31" fill="hold">
                            <p:stCondLst>
                              <p:cond delay="3500"/>
                            </p:stCondLst>
                            <p:childTnLst>
                              <p:par>
                                <p:cTn id="32" presetID="42" presetClass="entr" presetSubtype="0" fill="hold" grpId="0" nodeType="after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1000"/>
                                        <p:tgtEl>
                                          <p:spTgt spid="10"/>
                                        </p:tgtEl>
                                      </p:cBhvr>
                                    </p:animEffect>
                                    <p:anim calcmode="lin" valueType="num">
                                      <p:cBhvr>
                                        <p:cTn id="35" dur="1000" fill="hold"/>
                                        <p:tgtEl>
                                          <p:spTgt spid="10"/>
                                        </p:tgtEl>
                                        <p:attrNameLst>
                                          <p:attrName>ppt_x</p:attrName>
                                        </p:attrNameLst>
                                      </p:cBhvr>
                                      <p:tavLst>
                                        <p:tav tm="0">
                                          <p:val>
                                            <p:strVal val="#ppt_x"/>
                                          </p:val>
                                        </p:tav>
                                        <p:tav tm="100000">
                                          <p:val>
                                            <p:strVal val="#ppt_x"/>
                                          </p:val>
                                        </p:tav>
                                      </p:tavLst>
                                    </p:anim>
                                    <p:anim calcmode="lin" valueType="num">
                                      <p:cBhvr>
                                        <p:cTn id="36"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500"/>
                                        <p:tgtEl>
                                          <p:spTgt spid="12"/>
                                        </p:tgtEl>
                                      </p:cBhvr>
                                    </p:animEffect>
                                  </p:childTnLst>
                                </p:cTn>
                              </p:par>
                            </p:childTnLst>
                          </p:cTn>
                        </p:par>
                        <p:par>
                          <p:cTn id="42" fill="hold">
                            <p:stCondLst>
                              <p:cond delay="500"/>
                            </p:stCondLst>
                            <p:childTnLst>
                              <p:par>
                                <p:cTn id="43" presetID="42" presetClass="entr" presetSubtype="0" fill="hold" grpId="0" nodeType="afterEffect">
                                  <p:stCondLst>
                                    <p:cond delay="0"/>
                                  </p:stCondLst>
                                  <p:childTnLst>
                                    <p:set>
                                      <p:cBhvr>
                                        <p:cTn id="44" dur="1" fill="hold">
                                          <p:stCondLst>
                                            <p:cond delay="0"/>
                                          </p:stCondLst>
                                        </p:cTn>
                                        <p:tgtEl>
                                          <p:spTgt spid="13"/>
                                        </p:tgtEl>
                                        <p:attrNameLst>
                                          <p:attrName>style.visibility</p:attrName>
                                        </p:attrNameLst>
                                      </p:cBhvr>
                                      <p:to>
                                        <p:strVal val="visible"/>
                                      </p:to>
                                    </p:set>
                                    <p:animEffect transition="in" filter="fade">
                                      <p:cBhvr>
                                        <p:cTn id="45" dur="1000"/>
                                        <p:tgtEl>
                                          <p:spTgt spid="13"/>
                                        </p:tgtEl>
                                      </p:cBhvr>
                                    </p:animEffect>
                                    <p:anim calcmode="lin" valueType="num">
                                      <p:cBhvr>
                                        <p:cTn id="46" dur="1000" fill="hold"/>
                                        <p:tgtEl>
                                          <p:spTgt spid="13"/>
                                        </p:tgtEl>
                                        <p:attrNameLst>
                                          <p:attrName>ppt_x</p:attrName>
                                        </p:attrNameLst>
                                      </p:cBhvr>
                                      <p:tavLst>
                                        <p:tav tm="0">
                                          <p:val>
                                            <p:strVal val="#ppt_x"/>
                                          </p:val>
                                        </p:tav>
                                        <p:tav tm="100000">
                                          <p:val>
                                            <p:strVal val="#ppt_x"/>
                                          </p:val>
                                        </p:tav>
                                      </p:tavLst>
                                    </p:anim>
                                    <p:anim calcmode="lin" valueType="num">
                                      <p:cBhvr>
                                        <p:cTn id="47" dur="1000" fill="hold"/>
                                        <p:tgtEl>
                                          <p:spTgt spid="13"/>
                                        </p:tgtEl>
                                        <p:attrNameLst>
                                          <p:attrName>ppt_y</p:attrName>
                                        </p:attrNameLst>
                                      </p:cBhvr>
                                      <p:tavLst>
                                        <p:tav tm="0">
                                          <p:val>
                                            <p:strVal val="#ppt_y+.1"/>
                                          </p:val>
                                        </p:tav>
                                        <p:tav tm="100000">
                                          <p:val>
                                            <p:strVal val="#ppt_y"/>
                                          </p:val>
                                        </p:tav>
                                      </p:tavLst>
                                    </p:anim>
                                  </p:childTnLst>
                                </p:cTn>
                              </p:par>
                            </p:childTnLst>
                          </p:cTn>
                        </p:par>
                        <p:par>
                          <p:cTn id="48" fill="hold">
                            <p:stCondLst>
                              <p:cond delay="1500"/>
                            </p:stCondLst>
                            <p:childTnLst>
                              <p:par>
                                <p:cTn id="49" presetID="42" presetClass="entr" presetSubtype="0" fill="hold" grpId="0" nodeType="afterEffect">
                                  <p:stCondLst>
                                    <p:cond delay="0"/>
                                  </p:stCondLst>
                                  <p:childTnLst>
                                    <p:set>
                                      <p:cBhvr>
                                        <p:cTn id="50" dur="1" fill="hold">
                                          <p:stCondLst>
                                            <p:cond delay="0"/>
                                          </p:stCondLst>
                                        </p:cTn>
                                        <p:tgtEl>
                                          <p:spTgt spid="14"/>
                                        </p:tgtEl>
                                        <p:attrNameLst>
                                          <p:attrName>style.visibility</p:attrName>
                                        </p:attrNameLst>
                                      </p:cBhvr>
                                      <p:to>
                                        <p:strVal val="visible"/>
                                      </p:to>
                                    </p:set>
                                    <p:animEffect transition="in" filter="fade">
                                      <p:cBhvr>
                                        <p:cTn id="51" dur="1000"/>
                                        <p:tgtEl>
                                          <p:spTgt spid="14"/>
                                        </p:tgtEl>
                                      </p:cBhvr>
                                    </p:animEffect>
                                    <p:anim calcmode="lin" valueType="num">
                                      <p:cBhvr>
                                        <p:cTn id="52" dur="1000" fill="hold"/>
                                        <p:tgtEl>
                                          <p:spTgt spid="14"/>
                                        </p:tgtEl>
                                        <p:attrNameLst>
                                          <p:attrName>ppt_x</p:attrName>
                                        </p:attrNameLst>
                                      </p:cBhvr>
                                      <p:tavLst>
                                        <p:tav tm="0">
                                          <p:val>
                                            <p:strVal val="#ppt_x"/>
                                          </p:val>
                                        </p:tav>
                                        <p:tav tm="100000">
                                          <p:val>
                                            <p:strVal val="#ppt_x"/>
                                          </p:val>
                                        </p:tav>
                                      </p:tavLst>
                                    </p:anim>
                                    <p:anim calcmode="lin" valueType="num">
                                      <p:cBhvr>
                                        <p:cTn id="53" dur="1000" fill="hold"/>
                                        <p:tgtEl>
                                          <p:spTgt spid="14"/>
                                        </p:tgtEl>
                                        <p:attrNameLst>
                                          <p:attrName>ppt_y</p:attrName>
                                        </p:attrNameLst>
                                      </p:cBhvr>
                                      <p:tavLst>
                                        <p:tav tm="0">
                                          <p:val>
                                            <p:strVal val="#ppt_y+.1"/>
                                          </p:val>
                                        </p:tav>
                                        <p:tav tm="100000">
                                          <p:val>
                                            <p:strVal val="#ppt_y"/>
                                          </p:val>
                                        </p:tav>
                                      </p:tavLst>
                                    </p:anim>
                                  </p:childTnLst>
                                </p:cTn>
                              </p:par>
                            </p:childTnLst>
                          </p:cTn>
                        </p:par>
                        <p:par>
                          <p:cTn id="54" fill="hold">
                            <p:stCondLst>
                              <p:cond delay="2500"/>
                            </p:stCondLst>
                            <p:childTnLst>
                              <p:par>
                                <p:cTn id="55" presetID="42" presetClass="entr" presetSubtype="0" fill="hold" grpId="0" nodeType="after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fade">
                                      <p:cBhvr>
                                        <p:cTn id="57" dur="1000"/>
                                        <p:tgtEl>
                                          <p:spTgt spid="15"/>
                                        </p:tgtEl>
                                      </p:cBhvr>
                                    </p:animEffect>
                                    <p:anim calcmode="lin" valueType="num">
                                      <p:cBhvr>
                                        <p:cTn id="58" dur="1000" fill="hold"/>
                                        <p:tgtEl>
                                          <p:spTgt spid="15"/>
                                        </p:tgtEl>
                                        <p:attrNameLst>
                                          <p:attrName>ppt_x</p:attrName>
                                        </p:attrNameLst>
                                      </p:cBhvr>
                                      <p:tavLst>
                                        <p:tav tm="0">
                                          <p:val>
                                            <p:strVal val="#ppt_x"/>
                                          </p:val>
                                        </p:tav>
                                        <p:tav tm="100000">
                                          <p:val>
                                            <p:strVal val="#ppt_x"/>
                                          </p:val>
                                        </p:tav>
                                      </p:tavLst>
                                    </p:anim>
                                    <p:anim calcmode="lin" valueType="num">
                                      <p:cBhvr>
                                        <p:cTn id="59" dur="1000" fill="hold"/>
                                        <p:tgtEl>
                                          <p:spTgt spid="15"/>
                                        </p:tgtEl>
                                        <p:attrNameLst>
                                          <p:attrName>ppt_y</p:attrName>
                                        </p:attrNameLst>
                                      </p:cBhvr>
                                      <p:tavLst>
                                        <p:tav tm="0">
                                          <p:val>
                                            <p:strVal val="#ppt_y+.1"/>
                                          </p:val>
                                        </p:tav>
                                        <p:tav tm="100000">
                                          <p:val>
                                            <p:strVal val="#ppt_y"/>
                                          </p:val>
                                        </p:tav>
                                      </p:tavLst>
                                    </p:anim>
                                  </p:childTnLst>
                                </p:cTn>
                              </p:par>
                            </p:childTnLst>
                          </p:cTn>
                        </p:par>
                        <p:par>
                          <p:cTn id="60" fill="hold">
                            <p:stCondLst>
                              <p:cond delay="3500"/>
                            </p:stCondLst>
                            <p:childTnLst>
                              <p:par>
                                <p:cTn id="61" presetID="42" presetClass="entr" presetSubtype="0" fill="hold" grpId="0" nodeType="after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1000"/>
                                        <p:tgtEl>
                                          <p:spTgt spid="16"/>
                                        </p:tgtEl>
                                      </p:cBhvr>
                                    </p:animEffect>
                                    <p:anim calcmode="lin" valueType="num">
                                      <p:cBhvr>
                                        <p:cTn id="64" dur="1000" fill="hold"/>
                                        <p:tgtEl>
                                          <p:spTgt spid="16"/>
                                        </p:tgtEl>
                                        <p:attrNameLst>
                                          <p:attrName>ppt_x</p:attrName>
                                        </p:attrNameLst>
                                      </p:cBhvr>
                                      <p:tavLst>
                                        <p:tav tm="0">
                                          <p:val>
                                            <p:strVal val="#ppt_x"/>
                                          </p:val>
                                        </p:tav>
                                        <p:tav tm="100000">
                                          <p:val>
                                            <p:strVal val="#ppt_x"/>
                                          </p:val>
                                        </p:tav>
                                      </p:tavLst>
                                    </p:anim>
                                    <p:anim calcmode="lin" valueType="num">
                                      <p:cBhvr>
                                        <p:cTn id="65"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P spid="7" grpId="0"/>
      <p:bldP spid="8" grpId="0"/>
      <p:bldP spid="10" grpId="0"/>
      <p:bldP spid="12" grpId="0"/>
      <p:bldP spid="13" grpId="0"/>
      <p:bldP spid="14" grpId="0"/>
      <p:bldP spid="15" grpId="0"/>
      <p:bldP spid="16"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lumMod val="50000"/>
          </a:schemeClr>
        </a:solidFill>
        <a:effectLst/>
      </p:bgPr>
    </p:bg>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665D6FDE-62A2-4FC9-FB48-75F1E4C243A8}"/>
              </a:ext>
            </a:extLst>
          </p:cNvPr>
          <p:cNvSpPr>
            <a:spLocks noGrp="1"/>
          </p:cNvSpPr>
          <p:nvPr>
            <p:ph type="title"/>
          </p:nvPr>
        </p:nvSpPr>
        <p:spPr>
          <a:xfrm>
            <a:off x="1" y="1"/>
            <a:ext cx="12191999" cy="1296322"/>
          </a:xfrm>
          <a:solidFill>
            <a:schemeClr val="bg2">
              <a:lumMod val="20000"/>
              <a:lumOff val="80000"/>
            </a:schemeClr>
          </a:solidFill>
        </p:spPr>
        <p:txBody>
          <a:bodyPr>
            <a:normAutofit/>
          </a:bodyPr>
          <a:lstStyle/>
          <a:p>
            <a:pPr algn="ctr"/>
            <a:br>
              <a:rPr lang="en-US" dirty="0">
                <a:solidFill>
                  <a:schemeClr val="bg1"/>
                </a:solidFill>
                <a:latin typeface="Georgia" panose="02040502050405020303" pitchFamily="18" charset="0"/>
              </a:rPr>
            </a:br>
            <a:r>
              <a:rPr lang="el-GR" dirty="0" err="1">
                <a:solidFill>
                  <a:schemeClr val="bg1"/>
                </a:solidFill>
                <a:effectLst>
                  <a:outerShdw blurRad="38100" dist="38100" dir="2700000" algn="tl">
                    <a:srgbClr val="000000">
                      <a:alpha val="43137"/>
                    </a:srgbClr>
                  </a:outerShdw>
                </a:effectLst>
                <a:latin typeface="Georgia" panose="02040502050405020303" pitchFamily="18" charset="0"/>
              </a:rPr>
              <a:t>ΕταιρικΗ</a:t>
            </a:r>
            <a:r>
              <a:rPr lang="el-GR" dirty="0">
                <a:solidFill>
                  <a:schemeClr val="bg1"/>
                </a:solidFill>
                <a:effectLst>
                  <a:outerShdw blurRad="38100" dist="38100" dir="2700000" algn="tl">
                    <a:srgbClr val="000000">
                      <a:alpha val="43137"/>
                    </a:srgbClr>
                  </a:outerShdw>
                </a:effectLst>
                <a:latin typeface="Georgia" panose="02040502050405020303" pitchFamily="18" charset="0"/>
              </a:rPr>
              <a:t> </a:t>
            </a:r>
            <a:r>
              <a:rPr lang="el-GR" dirty="0" err="1">
                <a:solidFill>
                  <a:schemeClr val="bg1"/>
                </a:solidFill>
                <a:effectLst>
                  <a:outerShdw blurRad="38100" dist="38100" dir="2700000" algn="tl">
                    <a:srgbClr val="000000">
                      <a:alpha val="43137"/>
                    </a:srgbClr>
                  </a:outerShdw>
                </a:effectLst>
                <a:latin typeface="Georgia" panose="02040502050405020303" pitchFamily="18" charset="0"/>
              </a:rPr>
              <a:t>στρατηγικΗ</a:t>
            </a:r>
            <a:endParaRPr lang="en-US" dirty="0">
              <a:solidFill>
                <a:schemeClr val="bg1"/>
              </a:solidFill>
              <a:effectLst>
                <a:outerShdw blurRad="38100" dist="38100" dir="2700000" algn="tl">
                  <a:srgbClr val="000000">
                    <a:alpha val="43137"/>
                  </a:srgbClr>
                </a:outerShdw>
              </a:effectLst>
              <a:latin typeface="Georgia" panose="02040502050405020303" pitchFamily="18" charset="0"/>
            </a:endParaRPr>
          </a:p>
        </p:txBody>
      </p:sp>
      <p:sp>
        <p:nvSpPr>
          <p:cNvPr id="3" name="Υπότιτλος 2">
            <a:extLst>
              <a:ext uri="{FF2B5EF4-FFF2-40B4-BE49-F238E27FC236}">
                <a16:creationId xmlns:a16="http://schemas.microsoft.com/office/drawing/2014/main" id="{9DFB7426-B797-3F9E-C6D7-FEB73D306BA8}"/>
              </a:ext>
            </a:extLst>
          </p:cNvPr>
          <p:cNvSpPr>
            <a:spLocks noGrp="1"/>
          </p:cNvSpPr>
          <p:nvPr>
            <p:ph idx="1"/>
          </p:nvPr>
        </p:nvSpPr>
        <p:spPr>
          <a:xfrm>
            <a:off x="1451577" y="2245249"/>
            <a:ext cx="9603275" cy="1784718"/>
          </a:xfrm>
          <a:noFill/>
        </p:spPr>
        <p:txBody>
          <a:bodyPr anchor="ctr">
            <a:normAutofit/>
          </a:bodyPr>
          <a:lstStyle/>
          <a:p>
            <a:pPr marL="0" indent="0" algn="just">
              <a:lnSpc>
                <a:spcPct val="100000"/>
              </a:lnSpc>
              <a:buNone/>
            </a:pPr>
            <a:r>
              <a:rPr lang="el-GR" sz="1600" dirty="0">
                <a:latin typeface="Aptos" panose="020B0004020202020204" pitchFamily="34" charset="0"/>
              </a:rPr>
              <a:t>Η στρατηγική της ΦΑΓΕ, μετά την έναρξη της οικονομικής κρίσης, επικεντρώθηκε αρχικά στη μείωση της εξάρτησής της από την κύρια χώρα δραστηριοποίησής της. Αυτή η απόφαση οδήγησε σε εγχώριες απολύσεις, αλλαγή εταιρικής κουλτούρας, και τελικά σε μείωση κόστους και αύξηση των περιθωρίων κέρδους. Η εταιρεία ακολούθησε μια μέθοδο </a:t>
            </a:r>
            <a:r>
              <a:rPr lang="el-GR" sz="1600" dirty="0" err="1">
                <a:latin typeface="Aptos" panose="020B0004020202020204" pitchFamily="34" charset="0"/>
              </a:rPr>
              <a:t>επανεστίασης</a:t>
            </a:r>
            <a:r>
              <a:rPr lang="el-GR" sz="1600" dirty="0">
                <a:latin typeface="Aptos" panose="020B0004020202020204" pitchFamily="34" charset="0"/>
              </a:rPr>
              <a:t>, κλείνοντας μη κερδοφόρες δραστηριότητες και επενδύοντας μόνο στον πυρήνα των δραστηριοτήτων της, δηλαδή το γιαούρτι, αποχωρώντας από την αγορά του γάλακτος.</a:t>
            </a:r>
            <a:endParaRPr lang="en-US" sz="1600" dirty="0">
              <a:latin typeface="Aptos" panose="020B0004020202020204" pitchFamily="34" charset="0"/>
            </a:endParaRPr>
          </a:p>
        </p:txBody>
      </p:sp>
      <p:grpSp>
        <p:nvGrpSpPr>
          <p:cNvPr id="86" name="Γραφικό 33" descr="Καθηγητής αρσενικό με συμπαγές γέμισμα">
            <a:extLst>
              <a:ext uri="{FF2B5EF4-FFF2-40B4-BE49-F238E27FC236}">
                <a16:creationId xmlns:a16="http://schemas.microsoft.com/office/drawing/2014/main" id="{657064D4-156D-BF42-A9A2-E0E8BB50AABD}"/>
              </a:ext>
            </a:extLst>
          </p:cNvPr>
          <p:cNvGrpSpPr/>
          <p:nvPr/>
        </p:nvGrpSpPr>
        <p:grpSpPr>
          <a:xfrm>
            <a:off x="9157737" y="346342"/>
            <a:ext cx="762510" cy="800100"/>
            <a:chOff x="7231744" y="3688653"/>
            <a:chExt cx="762510" cy="800100"/>
          </a:xfrm>
          <a:solidFill>
            <a:schemeClr val="tx2">
              <a:lumMod val="10000"/>
            </a:schemeClr>
          </a:solidFill>
        </p:grpSpPr>
        <p:sp>
          <p:nvSpPr>
            <p:cNvPr id="87" name="Ελεύθερη σχεδίαση: Σχήμα 86">
              <a:extLst>
                <a:ext uri="{FF2B5EF4-FFF2-40B4-BE49-F238E27FC236}">
                  <a16:creationId xmlns:a16="http://schemas.microsoft.com/office/drawing/2014/main" id="{EAA72E65-67AC-B938-2DDE-254F15A2CAAA}"/>
                </a:ext>
              </a:extLst>
            </p:cNvPr>
            <p:cNvSpPr/>
            <p:nvPr/>
          </p:nvSpPr>
          <p:spPr>
            <a:xfrm>
              <a:off x="7231744" y="3688653"/>
              <a:ext cx="723543" cy="751408"/>
            </a:xfrm>
            <a:custGeom>
              <a:avLst/>
              <a:gdLst>
                <a:gd name="connsiteX0" fmla="*/ 423830 w 723543"/>
                <a:gd name="connsiteY0" fmla="*/ 457200 h 751408"/>
                <a:gd name="connsiteX1" fmla="*/ 506878 w 723543"/>
                <a:gd name="connsiteY1" fmla="*/ 445989 h 751408"/>
                <a:gd name="connsiteX2" fmla="*/ 503516 w 723543"/>
                <a:gd name="connsiteY2" fmla="*/ 504825 h 751408"/>
                <a:gd name="connsiteX3" fmla="*/ 723543 w 723543"/>
                <a:gd name="connsiteY3" fmla="*/ 504825 h 751408"/>
                <a:gd name="connsiteX4" fmla="*/ 693064 w 723543"/>
                <a:gd name="connsiteY4" fmla="*/ 461543 h 751408"/>
                <a:gd name="connsiteX5" fmla="*/ 571591 w 723543"/>
                <a:gd name="connsiteY5" fmla="*/ 398678 h 751408"/>
                <a:gd name="connsiteX6" fmla="*/ 525023 w 723543"/>
                <a:gd name="connsiteY6" fmla="*/ 379562 h 751408"/>
                <a:gd name="connsiteX7" fmla="*/ 519127 w 723543"/>
                <a:gd name="connsiteY7" fmla="*/ 370751 h 751408"/>
                <a:gd name="connsiteX8" fmla="*/ 519127 w 723543"/>
                <a:gd name="connsiteY8" fmla="*/ 347424 h 751408"/>
                <a:gd name="connsiteX9" fmla="*/ 576239 w 723543"/>
                <a:gd name="connsiteY9" fmla="*/ 228600 h 751408"/>
                <a:gd name="connsiteX10" fmla="*/ 576239 w 723543"/>
                <a:gd name="connsiteY10" fmla="*/ 214313 h 751408"/>
                <a:gd name="connsiteX11" fmla="*/ 591813 w 723543"/>
                <a:gd name="connsiteY11" fmla="*/ 160487 h 751408"/>
                <a:gd name="connsiteX12" fmla="*/ 496134 w 723543"/>
                <a:gd name="connsiteY12" fmla="*/ 17983 h 751408"/>
                <a:gd name="connsiteX13" fmla="*/ 482161 w 723543"/>
                <a:gd name="connsiteY13" fmla="*/ 19231 h 751408"/>
                <a:gd name="connsiteX14" fmla="*/ 472541 w 723543"/>
                <a:gd name="connsiteY14" fmla="*/ 25898 h 751408"/>
                <a:gd name="connsiteX15" fmla="*/ 461911 w 723543"/>
                <a:gd name="connsiteY15" fmla="*/ 11430 h 751408"/>
                <a:gd name="connsiteX16" fmla="*/ 448166 w 723543"/>
                <a:gd name="connsiteY16" fmla="*/ 2677 h 751408"/>
                <a:gd name="connsiteX17" fmla="*/ 418143 w 723543"/>
                <a:gd name="connsiteY17" fmla="*/ 0 h 751408"/>
                <a:gd name="connsiteX18" fmla="*/ 272944 w 723543"/>
                <a:gd name="connsiteY18" fmla="*/ 91440 h 751408"/>
                <a:gd name="connsiteX19" fmla="*/ 271173 w 723543"/>
                <a:gd name="connsiteY19" fmla="*/ 219427 h 751408"/>
                <a:gd name="connsiteX20" fmla="*/ 271439 w 723543"/>
                <a:gd name="connsiteY20" fmla="*/ 221428 h 751408"/>
                <a:gd name="connsiteX21" fmla="*/ 271439 w 723543"/>
                <a:gd name="connsiteY21" fmla="*/ 228600 h 751408"/>
                <a:gd name="connsiteX22" fmla="*/ 328494 w 723543"/>
                <a:gd name="connsiteY22" fmla="*/ 347358 h 751408"/>
                <a:gd name="connsiteX23" fmla="*/ 328494 w 723543"/>
                <a:gd name="connsiteY23" fmla="*/ 370751 h 751408"/>
                <a:gd name="connsiteX24" fmla="*/ 322589 w 723543"/>
                <a:gd name="connsiteY24" fmla="*/ 379562 h 751408"/>
                <a:gd name="connsiteX25" fmla="*/ 275754 w 723543"/>
                <a:gd name="connsiteY25" fmla="*/ 398783 h 751408"/>
                <a:gd name="connsiteX26" fmla="*/ 154901 w 723543"/>
                <a:gd name="connsiteY26" fmla="*/ 461286 h 751408"/>
                <a:gd name="connsiteX27" fmla="*/ 119049 w 723543"/>
                <a:gd name="connsiteY27" fmla="*/ 533400 h 751408"/>
                <a:gd name="connsiteX28" fmla="*/ 119049 w 723543"/>
                <a:gd name="connsiteY28" fmla="*/ 597056 h 751408"/>
                <a:gd name="connsiteX29" fmla="*/ 106343 w 723543"/>
                <a:gd name="connsiteY29" fmla="*/ 597056 h 751408"/>
                <a:gd name="connsiteX30" fmla="*/ 27876 w 723543"/>
                <a:gd name="connsiteY30" fmla="*/ 339881 h 751408"/>
                <a:gd name="connsiteX31" fmla="*/ 9865 w 723543"/>
                <a:gd name="connsiteY31" fmla="*/ 330721 h 751408"/>
                <a:gd name="connsiteX32" fmla="*/ 548 w 723543"/>
                <a:gd name="connsiteY32" fmla="*/ 348215 h 751408"/>
                <a:gd name="connsiteX33" fmla="*/ 78425 w 723543"/>
                <a:gd name="connsiteY33" fmla="*/ 603485 h 751408"/>
                <a:gd name="connsiteX34" fmla="*/ 45506 w 723543"/>
                <a:gd name="connsiteY34" fmla="*/ 685305 h 751408"/>
                <a:gd name="connsiteX35" fmla="*/ 79711 w 723543"/>
                <a:gd name="connsiteY35" fmla="*/ 739150 h 751408"/>
                <a:gd name="connsiteX36" fmla="*/ 98161 w 723543"/>
                <a:gd name="connsiteY36" fmla="*/ 742950 h 751408"/>
                <a:gd name="connsiteX37" fmla="*/ 127964 w 723543"/>
                <a:gd name="connsiteY37" fmla="*/ 737778 h 751408"/>
                <a:gd name="connsiteX38" fmla="*/ 160130 w 723543"/>
                <a:gd name="connsiteY38" fmla="*/ 721652 h 751408"/>
                <a:gd name="connsiteX39" fmla="*/ 355297 w 723543"/>
                <a:gd name="connsiteY39" fmla="*/ 751408 h 751408"/>
                <a:gd name="connsiteX40" fmla="*/ 340686 w 723543"/>
                <a:gd name="connsiteY40" fmla="*/ 445999 h 751408"/>
                <a:gd name="connsiteX41" fmla="*/ 423830 w 723543"/>
                <a:gd name="connsiteY41" fmla="*/ 457200 h 751408"/>
                <a:gd name="connsiteX42" fmla="*/ 119097 w 723543"/>
                <a:gd name="connsiteY42" fmla="*/ 700726 h 751408"/>
                <a:gd name="connsiteX43" fmla="*/ 95284 w 723543"/>
                <a:gd name="connsiteY43" fmla="*/ 704431 h 751408"/>
                <a:gd name="connsiteX44" fmla="*/ 82387 w 723543"/>
                <a:gd name="connsiteY44" fmla="*/ 675808 h 751408"/>
                <a:gd name="connsiteX45" fmla="*/ 101675 w 723543"/>
                <a:gd name="connsiteY45" fmla="*/ 636403 h 751408"/>
                <a:gd name="connsiteX46" fmla="*/ 104095 w 723543"/>
                <a:gd name="connsiteY46" fmla="*/ 635784 h 751408"/>
                <a:gd name="connsiteX47" fmla="*/ 120516 w 723543"/>
                <a:gd name="connsiteY47" fmla="*/ 635727 h 751408"/>
                <a:gd name="connsiteX48" fmla="*/ 122687 w 723543"/>
                <a:gd name="connsiteY48" fmla="*/ 636203 h 751408"/>
                <a:gd name="connsiteX49" fmla="*/ 146833 w 723543"/>
                <a:gd name="connsiteY49" fmla="*/ 658911 h 751408"/>
                <a:gd name="connsiteX50" fmla="*/ 119097 w 723543"/>
                <a:gd name="connsiteY50" fmla="*/ 700726 h 751408"/>
                <a:gd name="connsiteX51" fmla="*/ 423830 w 723543"/>
                <a:gd name="connsiteY51" fmla="*/ 419100 h 751408"/>
                <a:gd name="connsiteX52" fmla="*/ 348068 w 723543"/>
                <a:gd name="connsiteY52" fmla="*/ 408356 h 751408"/>
                <a:gd name="connsiteX53" fmla="*/ 366594 w 723543"/>
                <a:gd name="connsiteY53" fmla="*/ 370751 h 751408"/>
                <a:gd name="connsiteX54" fmla="*/ 366594 w 723543"/>
                <a:gd name="connsiteY54" fmla="*/ 369799 h 751408"/>
                <a:gd name="connsiteX55" fmla="*/ 480951 w 723543"/>
                <a:gd name="connsiteY55" fmla="*/ 369799 h 751408"/>
                <a:gd name="connsiteX56" fmla="*/ 480951 w 723543"/>
                <a:gd name="connsiteY56" fmla="*/ 370751 h 751408"/>
                <a:gd name="connsiteX57" fmla="*/ 499506 w 723543"/>
                <a:gd name="connsiteY57" fmla="*/ 408394 h 751408"/>
                <a:gd name="connsiteX58" fmla="*/ 423830 w 723543"/>
                <a:gd name="connsiteY58" fmla="*/ 419100 h 751408"/>
                <a:gd name="connsiteX59" fmla="*/ 309530 w 723543"/>
                <a:gd name="connsiteY59" fmla="*/ 228600 h 751408"/>
                <a:gd name="connsiteX60" fmla="*/ 309530 w 723543"/>
                <a:gd name="connsiteY60" fmla="*/ 196215 h 751408"/>
                <a:gd name="connsiteX61" fmla="*/ 494620 w 723543"/>
                <a:gd name="connsiteY61" fmla="*/ 117872 h 751408"/>
                <a:gd name="connsiteX62" fmla="*/ 538130 w 723543"/>
                <a:gd name="connsiteY62" fmla="*/ 182261 h 751408"/>
                <a:gd name="connsiteX63" fmla="*/ 538130 w 723543"/>
                <a:gd name="connsiteY63" fmla="*/ 228600 h 751408"/>
                <a:gd name="connsiteX64" fmla="*/ 423830 w 723543"/>
                <a:gd name="connsiteY64" fmla="*/ 342900 h 751408"/>
                <a:gd name="connsiteX65" fmla="*/ 309530 w 723543"/>
                <a:gd name="connsiteY65" fmla="*/ 228600 h 751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723543" h="751408">
                  <a:moveTo>
                    <a:pt x="423830" y="457200"/>
                  </a:moveTo>
                  <a:cubicBezTo>
                    <a:pt x="451908" y="457470"/>
                    <a:pt x="479877" y="453694"/>
                    <a:pt x="506878" y="445989"/>
                  </a:cubicBezTo>
                  <a:lnTo>
                    <a:pt x="503516" y="504825"/>
                  </a:lnTo>
                  <a:lnTo>
                    <a:pt x="723543" y="504825"/>
                  </a:lnTo>
                  <a:cubicBezTo>
                    <a:pt x="717823" y="487733"/>
                    <a:pt x="707227" y="472689"/>
                    <a:pt x="693064" y="461543"/>
                  </a:cubicBezTo>
                  <a:cubicBezTo>
                    <a:pt x="657440" y="432387"/>
                    <a:pt x="615559" y="414395"/>
                    <a:pt x="571591" y="398678"/>
                  </a:cubicBezTo>
                  <a:lnTo>
                    <a:pt x="525023" y="379562"/>
                  </a:lnTo>
                  <a:cubicBezTo>
                    <a:pt x="521454" y="378091"/>
                    <a:pt x="519126" y="374612"/>
                    <a:pt x="519127" y="370751"/>
                  </a:cubicBezTo>
                  <a:lnTo>
                    <a:pt x="519127" y="347424"/>
                  </a:lnTo>
                  <a:cubicBezTo>
                    <a:pt x="555230" y="318551"/>
                    <a:pt x="576246" y="274829"/>
                    <a:pt x="576239" y="228600"/>
                  </a:cubicBezTo>
                  <a:lnTo>
                    <a:pt x="576239" y="214313"/>
                  </a:lnTo>
                  <a:cubicBezTo>
                    <a:pt x="584547" y="197423"/>
                    <a:pt x="589819" y="179203"/>
                    <a:pt x="591813" y="160487"/>
                  </a:cubicBezTo>
                  <a:cubicBezTo>
                    <a:pt x="591708" y="96488"/>
                    <a:pt x="551112" y="44768"/>
                    <a:pt x="496134" y="17983"/>
                  </a:cubicBezTo>
                  <a:cubicBezTo>
                    <a:pt x="491592" y="15852"/>
                    <a:pt x="486254" y="16328"/>
                    <a:pt x="482161" y="19231"/>
                  </a:cubicBezTo>
                  <a:lnTo>
                    <a:pt x="472541" y="25898"/>
                  </a:lnTo>
                  <a:lnTo>
                    <a:pt x="461911" y="11430"/>
                  </a:lnTo>
                  <a:cubicBezTo>
                    <a:pt x="458638" y="6840"/>
                    <a:pt x="453710" y="3702"/>
                    <a:pt x="448166" y="2677"/>
                  </a:cubicBezTo>
                  <a:cubicBezTo>
                    <a:pt x="438254" y="928"/>
                    <a:pt x="428209" y="33"/>
                    <a:pt x="418143" y="0"/>
                  </a:cubicBezTo>
                  <a:cubicBezTo>
                    <a:pt x="351192" y="0"/>
                    <a:pt x="295871" y="36290"/>
                    <a:pt x="272944" y="91440"/>
                  </a:cubicBezTo>
                  <a:cubicBezTo>
                    <a:pt x="257875" y="132671"/>
                    <a:pt x="257251" y="177796"/>
                    <a:pt x="271173" y="219427"/>
                  </a:cubicBezTo>
                  <a:lnTo>
                    <a:pt x="271439" y="221428"/>
                  </a:lnTo>
                  <a:lnTo>
                    <a:pt x="271439" y="228600"/>
                  </a:lnTo>
                  <a:cubicBezTo>
                    <a:pt x="271439" y="274795"/>
                    <a:pt x="292431" y="318488"/>
                    <a:pt x="328494" y="347358"/>
                  </a:cubicBezTo>
                  <a:lnTo>
                    <a:pt x="328494" y="370751"/>
                  </a:lnTo>
                  <a:cubicBezTo>
                    <a:pt x="328494" y="374613"/>
                    <a:pt x="326161" y="378094"/>
                    <a:pt x="322589" y="379562"/>
                  </a:cubicBezTo>
                  <a:lnTo>
                    <a:pt x="275754" y="398783"/>
                  </a:lnTo>
                  <a:cubicBezTo>
                    <a:pt x="231939" y="414471"/>
                    <a:pt x="190172" y="432416"/>
                    <a:pt x="154901" y="461286"/>
                  </a:cubicBezTo>
                  <a:cubicBezTo>
                    <a:pt x="132675" y="478678"/>
                    <a:pt x="119498" y="505182"/>
                    <a:pt x="119049" y="533400"/>
                  </a:cubicBezTo>
                  <a:lnTo>
                    <a:pt x="119049" y="597056"/>
                  </a:lnTo>
                  <a:cubicBezTo>
                    <a:pt x="114821" y="596698"/>
                    <a:pt x="110571" y="596698"/>
                    <a:pt x="106343" y="597056"/>
                  </a:cubicBezTo>
                  <a:lnTo>
                    <a:pt x="27876" y="339881"/>
                  </a:lnTo>
                  <a:cubicBezTo>
                    <a:pt x="25431" y="332378"/>
                    <a:pt x="17368" y="328277"/>
                    <a:pt x="9865" y="330721"/>
                  </a:cubicBezTo>
                  <a:cubicBezTo>
                    <a:pt x="2562" y="333100"/>
                    <a:pt x="-1553" y="340827"/>
                    <a:pt x="548" y="348215"/>
                  </a:cubicBezTo>
                  <a:lnTo>
                    <a:pt x="78425" y="603485"/>
                  </a:lnTo>
                  <a:cubicBezTo>
                    <a:pt x="49383" y="613191"/>
                    <a:pt x="31200" y="629964"/>
                    <a:pt x="45506" y="685305"/>
                  </a:cubicBezTo>
                  <a:cubicBezTo>
                    <a:pt x="51078" y="706850"/>
                    <a:pt x="59499" y="730072"/>
                    <a:pt x="79711" y="739150"/>
                  </a:cubicBezTo>
                  <a:cubicBezTo>
                    <a:pt x="85516" y="741728"/>
                    <a:pt x="91809" y="743024"/>
                    <a:pt x="98161" y="742950"/>
                  </a:cubicBezTo>
                  <a:cubicBezTo>
                    <a:pt x="108271" y="742475"/>
                    <a:pt x="118284" y="740737"/>
                    <a:pt x="127964" y="737778"/>
                  </a:cubicBezTo>
                  <a:cubicBezTo>
                    <a:pt x="139862" y="735166"/>
                    <a:pt x="150920" y="729624"/>
                    <a:pt x="160130" y="721652"/>
                  </a:cubicBezTo>
                  <a:cubicBezTo>
                    <a:pt x="205993" y="737759"/>
                    <a:pt x="277726" y="747674"/>
                    <a:pt x="355297" y="751408"/>
                  </a:cubicBezTo>
                  <a:lnTo>
                    <a:pt x="340686" y="445999"/>
                  </a:lnTo>
                  <a:cubicBezTo>
                    <a:pt x="367718" y="453711"/>
                    <a:pt x="395721" y="457484"/>
                    <a:pt x="423830" y="457200"/>
                  </a:cubicBezTo>
                  <a:close/>
                  <a:moveTo>
                    <a:pt x="119097" y="700726"/>
                  </a:moveTo>
                  <a:cubicBezTo>
                    <a:pt x="111478" y="703509"/>
                    <a:pt x="103388" y="704767"/>
                    <a:pt x="95284" y="704431"/>
                  </a:cubicBezTo>
                  <a:cubicBezTo>
                    <a:pt x="94246" y="703964"/>
                    <a:pt x="88740" y="700392"/>
                    <a:pt x="82387" y="675808"/>
                  </a:cubicBezTo>
                  <a:cubicBezTo>
                    <a:pt x="74119" y="643823"/>
                    <a:pt x="74043" y="643547"/>
                    <a:pt x="101675" y="636403"/>
                  </a:cubicBezTo>
                  <a:lnTo>
                    <a:pt x="104095" y="635784"/>
                  </a:lnTo>
                  <a:cubicBezTo>
                    <a:pt x="109496" y="634551"/>
                    <a:pt x="115106" y="634531"/>
                    <a:pt x="120516" y="635727"/>
                  </a:cubicBezTo>
                  <a:lnTo>
                    <a:pt x="122687" y="636203"/>
                  </a:lnTo>
                  <a:cubicBezTo>
                    <a:pt x="134279" y="638795"/>
                    <a:pt x="143536" y="647500"/>
                    <a:pt x="146833" y="658911"/>
                  </a:cubicBezTo>
                  <a:cubicBezTo>
                    <a:pt x="150632" y="678100"/>
                    <a:pt x="138252" y="696763"/>
                    <a:pt x="119097" y="700726"/>
                  </a:cubicBezTo>
                  <a:close/>
                  <a:moveTo>
                    <a:pt x="423830" y="419100"/>
                  </a:moveTo>
                  <a:cubicBezTo>
                    <a:pt x="398178" y="419370"/>
                    <a:pt x="372633" y="415747"/>
                    <a:pt x="348068" y="408356"/>
                  </a:cubicBezTo>
                  <a:cubicBezTo>
                    <a:pt x="359752" y="399381"/>
                    <a:pt x="366599" y="385484"/>
                    <a:pt x="366594" y="370751"/>
                  </a:cubicBezTo>
                  <a:lnTo>
                    <a:pt x="366594" y="369799"/>
                  </a:lnTo>
                  <a:cubicBezTo>
                    <a:pt x="403244" y="384766"/>
                    <a:pt x="444301" y="384766"/>
                    <a:pt x="480951" y="369799"/>
                  </a:cubicBezTo>
                  <a:lnTo>
                    <a:pt x="480951" y="370751"/>
                  </a:lnTo>
                  <a:cubicBezTo>
                    <a:pt x="480937" y="385503"/>
                    <a:pt x="487797" y="399420"/>
                    <a:pt x="499506" y="408394"/>
                  </a:cubicBezTo>
                  <a:cubicBezTo>
                    <a:pt x="474966" y="415764"/>
                    <a:pt x="449451" y="419374"/>
                    <a:pt x="423830" y="419100"/>
                  </a:cubicBezTo>
                  <a:close/>
                  <a:moveTo>
                    <a:pt x="309530" y="228600"/>
                  </a:moveTo>
                  <a:lnTo>
                    <a:pt x="309530" y="196215"/>
                  </a:lnTo>
                  <a:cubicBezTo>
                    <a:pt x="357698" y="138113"/>
                    <a:pt x="409295" y="177384"/>
                    <a:pt x="494620" y="117872"/>
                  </a:cubicBezTo>
                  <a:cubicBezTo>
                    <a:pt x="506221" y="109785"/>
                    <a:pt x="518042" y="163497"/>
                    <a:pt x="538130" y="182261"/>
                  </a:cubicBezTo>
                  <a:lnTo>
                    <a:pt x="538130" y="228600"/>
                  </a:lnTo>
                  <a:cubicBezTo>
                    <a:pt x="538130" y="291726"/>
                    <a:pt x="486956" y="342900"/>
                    <a:pt x="423830" y="342900"/>
                  </a:cubicBezTo>
                  <a:cubicBezTo>
                    <a:pt x="360704" y="342900"/>
                    <a:pt x="309530" y="291726"/>
                    <a:pt x="309530" y="228600"/>
                  </a:cubicBezTo>
                  <a:close/>
                </a:path>
              </a:pathLst>
            </a:custGeom>
            <a:grpFill/>
            <a:ln w="9525" cap="flat">
              <a:noFill/>
              <a:prstDash val="solid"/>
              <a:miter/>
            </a:ln>
          </p:spPr>
          <p:txBody>
            <a:bodyPr rtlCol="0" anchor="ctr"/>
            <a:lstStyle/>
            <a:p>
              <a:endParaRPr lang="en-US"/>
            </a:p>
          </p:txBody>
        </p:sp>
        <p:sp>
          <p:nvSpPr>
            <p:cNvPr id="88" name="Ελεύθερη σχεδίαση: Σχήμα 87">
              <a:extLst>
                <a:ext uri="{FF2B5EF4-FFF2-40B4-BE49-F238E27FC236}">
                  <a16:creationId xmlns:a16="http://schemas.microsoft.com/office/drawing/2014/main" id="{0EB657A3-D22F-ACAD-DA8D-15C8DAF13C9A}"/>
                </a:ext>
              </a:extLst>
            </p:cNvPr>
            <p:cNvSpPr/>
            <p:nvPr/>
          </p:nvSpPr>
          <p:spPr>
            <a:xfrm>
              <a:off x="7646021" y="4212528"/>
              <a:ext cx="348234" cy="276225"/>
            </a:xfrm>
            <a:custGeom>
              <a:avLst/>
              <a:gdLst>
                <a:gd name="connsiteX0" fmla="*/ 0 w 348234"/>
                <a:gd name="connsiteY0" fmla="*/ 0 h 276225"/>
                <a:gd name="connsiteX1" fmla="*/ 0 w 348234"/>
                <a:gd name="connsiteY1" fmla="*/ 260890 h 276225"/>
                <a:gd name="connsiteX2" fmla="*/ 133350 w 348234"/>
                <a:gd name="connsiteY2" fmla="*/ 260890 h 276225"/>
                <a:gd name="connsiteX3" fmla="*/ 148304 w 348234"/>
                <a:gd name="connsiteY3" fmla="*/ 276225 h 276225"/>
                <a:gd name="connsiteX4" fmla="*/ 199453 w 348234"/>
                <a:gd name="connsiteY4" fmla="*/ 276225 h 276225"/>
                <a:gd name="connsiteX5" fmla="*/ 214884 w 348234"/>
                <a:gd name="connsiteY5" fmla="*/ 260890 h 276225"/>
                <a:gd name="connsiteX6" fmla="*/ 348234 w 348234"/>
                <a:gd name="connsiteY6" fmla="*/ 260890 h 276225"/>
                <a:gd name="connsiteX7" fmla="*/ 348234 w 348234"/>
                <a:gd name="connsiteY7" fmla="*/ 0 h 276225"/>
                <a:gd name="connsiteX8" fmla="*/ 164020 w 348234"/>
                <a:gd name="connsiteY8" fmla="*/ 230219 h 276225"/>
                <a:gd name="connsiteX9" fmla="*/ 30671 w 348234"/>
                <a:gd name="connsiteY9" fmla="*/ 230219 h 276225"/>
                <a:gd name="connsiteX10" fmla="*/ 30671 w 348234"/>
                <a:gd name="connsiteY10" fmla="*/ 30194 h 276225"/>
                <a:gd name="connsiteX11" fmla="*/ 164020 w 348234"/>
                <a:gd name="connsiteY11" fmla="*/ 30194 h 276225"/>
                <a:gd name="connsiteX12" fmla="*/ 317183 w 348234"/>
                <a:gd name="connsiteY12" fmla="*/ 230219 h 276225"/>
                <a:gd name="connsiteX13" fmla="*/ 183833 w 348234"/>
                <a:gd name="connsiteY13" fmla="*/ 230219 h 276225"/>
                <a:gd name="connsiteX14" fmla="*/ 183833 w 348234"/>
                <a:gd name="connsiteY14" fmla="*/ 30194 h 276225"/>
                <a:gd name="connsiteX15" fmla="*/ 317183 w 348234"/>
                <a:gd name="connsiteY15" fmla="*/ 30194 h 276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48234" h="276225">
                  <a:moveTo>
                    <a:pt x="0" y="0"/>
                  </a:moveTo>
                  <a:lnTo>
                    <a:pt x="0" y="260890"/>
                  </a:lnTo>
                  <a:lnTo>
                    <a:pt x="133350" y="260890"/>
                  </a:lnTo>
                  <a:cubicBezTo>
                    <a:pt x="133347" y="269213"/>
                    <a:pt x="139984" y="276018"/>
                    <a:pt x="148304" y="276225"/>
                  </a:cubicBezTo>
                  <a:lnTo>
                    <a:pt x="199453" y="276225"/>
                  </a:lnTo>
                  <a:cubicBezTo>
                    <a:pt x="207938" y="276225"/>
                    <a:pt x="214832" y="269375"/>
                    <a:pt x="214884" y="260890"/>
                  </a:cubicBezTo>
                  <a:lnTo>
                    <a:pt x="348234" y="260890"/>
                  </a:lnTo>
                  <a:lnTo>
                    <a:pt x="348234" y="0"/>
                  </a:lnTo>
                  <a:close/>
                  <a:moveTo>
                    <a:pt x="164020" y="230219"/>
                  </a:moveTo>
                  <a:lnTo>
                    <a:pt x="30671" y="230219"/>
                  </a:lnTo>
                  <a:lnTo>
                    <a:pt x="30671" y="30194"/>
                  </a:lnTo>
                  <a:lnTo>
                    <a:pt x="164020" y="30194"/>
                  </a:lnTo>
                  <a:close/>
                  <a:moveTo>
                    <a:pt x="317183" y="230219"/>
                  </a:moveTo>
                  <a:lnTo>
                    <a:pt x="183833" y="230219"/>
                  </a:lnTo>
                  <a:lnTo>
                    <a:pt x="183833" y="30194"/>
                  </a:lnTo>
                  <a:lnTo>
                    <a:pt x="317183" y="30194"/>
                  </a:lnTo>
                  <a:close/>
                </a:path>
              </a:pathLst>
            </a:custGeom>
            <a:grpFill/>
            <a:ln w="9525" cap="flat">
              <a:noFill/>
              <a:prstDash val="solid"/>
              <a:miter/>
            </a:ln>
          </p:spPr>
          <p:txBody>
            <a:bodyPr rtlCol="0" anchor="ctr"/>
            <a:lstStyle/>
            <a:p>
              <a:endParaRPr lang="en-US"/>
            </a:p>
          </p:txBody>
        </p:sp>
        <p:sp>
          <p:nvSpPr>
            <p:cNvPr id="89" name="Ελεύθερη σχεδίαση: Σχήμα 88">
              <a:extLst>
                <a:ext uri="{FF2B5EF4-FFF2-40B4-BE49-F238E27FC236}">
                  <a16:creationId xmlns:a16="http://schemas.microsoft.com/office/drawing/2014/main" id="{CE33A170-7865-BB5E-0FE5-F1D15F2FB93C}"/>
                </a:ext>
              </a:extLst>
            </p:cNvPr>
            <p:cNvSpPr/>
            <p:nvPr/>
          </p:nvSpPr>
          <p:spPr>
            <a:xfrm>
              <a:off x="7860905" y="4294347"/>
              <a:ext cx="71627" cy="15335"/>
            </a:xfrm>
            <a:custGeom>
              <a:avLst/>
              <a:gdLst>
                <a:gd name="connsiteX0" fmla="*/ 0 w 71627"/>
                <a:gd name="connsiteY0" fmla="*/ 0 h 15335"/>
                <a:gd name="connsiteX1" fmla="*/ 71628 w 71627"/>
                <a:gd name="connsiteY1" fmla="*/ 0 h 15335"/>
                <a:gd name="connsiteX2" fmla="*/ 71628 w 71627"/>
                <a:gd name="connsiteY2" fmla="*/ 15335 h 15335"/>
                <a:gd name="connsiteX3" fmla="*/ 0 w 71627"/>
                <a:gd name="connsiteY3" fmla="*/ 15335 h 15335"/>
              </a:gdLst>
              <a:ahLst/>
              <a:cxnLst>
                <a:cxn ang="0">
                  <a:pos x="connsiteX0" y="connsiteY0"/>
                </a:cxn>
                <a:cxn ang="0">
                  <a:pos x="connsiteX1" y="connsiteY1"/>
                </a:cxn>
                <a:cxn ang="0">
                  <a:pos x="connsiteX2" y="connsiteY2"/>
                </a:cxn>
                <a:cxn ang="0">
                  <a:pos x="connsiteX3" y="connsiteY3"/>
                </a:cxn>
              </a:cxnLst>
              <a:rect l="l" t="t" r="r" b="b"/>
              <a:pathLst>
                <a:path w="71627" h="15335">
                  <a:moveTo>
                    <a:pt x="0" y="0"/>
                  </a:moveTo>
                  <a:lnTo>
                    <a:pt x="71628" y="0"/>
                  </a:lnTo>
                  <a:lnTo>
                    <a:pt x="71628" y="15335"/>
                  </a:lnTo>
                  <a:lnTo>
                    <a:pt x="0" y="15335"/>
                  </a:lnTo>
                  <a:close/>
                </a:path>
              </a:pathLst>
            </a:custGeom>
            <a:grpFill/>
            <a:ln w="9525" cap="flat">
              <a:noFill/>
              <a:prstDash val="solid"/>
              <a:miter/>
            </a:ln>
          </p:spPr>
          <p:txBody>
            <a:bodyPr rtlCol="0" anchor="ctr"/>
            <a:lstStyle/>
            <a:p>
              <a:endParaRPr lang="en-US"/>
            </a:p>
          </p:txBody>
        </p:sp>
        <p:sp>
          <p:nvSpPr>
            <p:cNvPr id="90" name="Ελεύθερη σχεδίαση: Σχήμα 89">
              <a:extLst>
                <a:ext uri="{FF2B5EF4-FFF2-40B4-BE49-F238E27FC236}">
                  <a16:creationId xmlns:a16="http://schemas.microsoft.com/office/drawing/2014/main" id="{BC0C5EEA-884F-2A73-05BA-D45444238748}"/>
                </a:ext>
              </a:extLst>
            </p:cNvPr>
            <p:cNvSpPr/>
            <p:nvPr/>
          </p:nvSpPr>
          <p:spPr>
            <a:xfrm>
              <a:off x="7860905" y="4325018"/>
              <a:ext cx="71627" cy="15335"/>
            </a:xfrm>
            <a:custGeom>
              <a:avLst/>
              <a:gdLst>
                <a:gd name="connsiteX0" fmla="*/ 0 w 71627"/>
                <a:gd name="connsiteY0" fmla="*/ 0 h 15335"/>
                <a:gd name="connsiteX1" fmla="*/ 71628 w 71627"/>
                <a:gd name="connsiteY1" fmla="*/ 0 h 15335"/>
                <a:gd name="connsiteX2" fmla="*/ 71628 w 71627"/>
                <a:gd name="connsiteY2" fmla="*/ 15335 h 15335"/>
                <a:gd name="connsiteX3" fmla="*/ 0 w 71627"/>
                <a:gd name="connsiteY3" fmla="*/ 15335 h 15335"/>
              </a:gdLst>
              <a:ahLst/>
              <a:cxnLst>
                <a:cxn ang="0">
                  <a:pos x="connsiteX0" y="connsiteY0"/>
                </a:cxn>
                <a:cxn ang="0">
                  <a:pos x="connsiteX1" y="connsiteY1"/>
                </a:cxn>
                <a:cxn ang="0">
                  <a:pos x="connsiteX2" y="connsiteY2"/>
                </a:cxn>
                <a:cxn ang="0">
                  <a:pos x="connsiteX3" y="connsiteY3"/>
                </a:cxn>
              </a:cxnLst>
              <a:rect l="l" t="t" r="r" b="b"/>
              <a:pathLst>
                <a:path w="71627" h="15335">
                  <a:moveTo>
                    <a:pt x="0" y="0"/>
                  </a:moveTo>
                  <a:lnTo>
                    <a:pt x="71628" y="0"/>
                  </a:lnTo>
                  <a:lnTo>
                    <a:pt x="71628" y="15335"/>
                  </a:lnTo>
                  <a:lnTo>
                    <a:pt x="0" y="15335"/>
                  </a:lnTo>
                  <a:close/>
                </a:path>
              </a:pathLst>
            </a:custGeom>
            <a:grpFill/>
            <a:ln w="9525" cap="flat">
              <a:noFill/>
              <a:prstDash val="solid"/>
              <a:miter/>
            </a:ln>
          </p:spPr>
          <p:txBody>
            <a:bodyPr rtlCol="0" anchor="ctr"/>
            <a:lstStyle/>
            <a:p>
              <a:endParaRPr lang="en-US"/>
            </a:p>
          </p:txBody>
        </p:sp>
        <p:sp>
          <p:nvSpPr>
            <p:cNvPr id="91" name="Ελεύθερη σχεδίαση: Σχήμα 90">
              <a:extLst>
                <a:ext uri="{FF2B5EF4-FFF2-40B4-BE49-F238E27FC236}">
                  <a16:creationId xmlns:a16="http://schemas.microsoft.com/office/drawing/2014/main" id="{3F8CD2EF-7108-56BF-3E49-7D7D4A0780BA}"/>
                </a:ext>
              </a:extLst>
            </p:cNvPr>
            <p:cNvSpPr/>
            <p:nvPr/>
          </p:nvSpPr>
          <p:spPr>
            <a:xfrm>
              <a:off x="7860905" y="4355784"/>
              <a:ext cx="49625" cy="15335"/>
            </a:xfrm>
            <a:custGeom>
              <a:avLst/>
              <a:gdLst>
                <a:gd name="connsiteX0" fmla="*/ 0 w 49625"/>
                <a:gd name="connsiteY0" fmla="*/ 0 h 15335"/>
                <a:gd name="connsiteX1" fmla="*/ 49625 w 49625"/>
                <a:gd name="connsiteY1" fmla="*/ 0 h 15335"/>
                <a:gd name="connsiteX2" fmla="*/ 49625 w 49625"/>
                <a:gd name="connsiteY2" fmla="*/ 15335 h 15335"/>
                <a:gd name="connsiteX3" fmla="*/ 0 w 49625"/>
                <a:gd name="connsiteY3" fmla="*/ 15335 h 15335"/>
              </a:gdLst>
              <a:ahLst/>
              <a:cxnLst>
                <a:cxn ang="0">
                  <a:pos x="connsiteX0" y="connsiteY0"/>
                </a:cxn>
                <a:cxn ang="0">
                  <a:pos x="connsiteX1" y="connsiteY1"/>
                </a:cxn>
                <a:cxn ang="0">
                  <a:pos x="connsiteX2" y="connsiteY2"/>
                </a:cxn>
                <a:cxn ang="0">
                  <a:pos x="connsiteX3" y="connsiteY3"/>
                </a:cxn>
              </a:cxnLst>
              <a:rect l="l" t="t" r="r" b="b"/>
              <a:pathLst>
                <a:path w="49625" h="15335">
                  <a:moveTo>
                    <a:pt x="0" y="0"/>
                  </a:moveTo>
                  <a:lnTo>
                    <a:pt x="49625" y="0"/>
                  </a:lnTo>
                  <a:lnTo>
                    <a:pt x="49625" y="15335"/>
                  </a:lnTo>
                  <a:lnTo>
                    <a:pt x="0" y="15335"/>
                  </a:lnTo>
                  <a:close/>
                </a:path>
              </a:pathLst>
            </a:custGeom>
            <a:grpFill/>
            <a:ln w="9525" cap="flat">
              <a:noFill/>
              <a:prstDash val="solid"/>
              <a:miter/>
            </a:ln>
          </p:spPr>
          <p:txBody>
            <a:bodyPr rtlCol="0" anchor="ctr"/>
            <a:lstStyle/>
            <a:p>
              <a:endParaRPr lang="en-US"/>
            </a:p>
          </p:txBody>
        </p:sp>
      </p:grpSp>
      <p:sp>
        <p:nvSpPr>
          <p:cNvPr id="97" name="Ελεύθερη σχεδίαση: Σχήμα 96">
            <a:extLst>
              <a:ext uri="{FF2B5EF4-FFF2-40B4-BE49-F238E27FC236}">
                <a16:creationId xmlns:a16="http://schemas.microsoft.com/office/drawing/2014/main" id="{E67498C1-0B8B-C5A3-988C-9EBA9CC42C03}"/>
              </a:ext>
            </a:extLst>
          </p:cNvPr>
          <p:cNvSpPr/>
          <p:nvPr/>
        </p:nvSpPr>
        <p:spPr>
          <a:xfrm>
            <a:off x="9985536" y="268721"/>
            <a:ext cx="399482" cy="366140"/>
          </a:xfrm>
          <a:custGeom>
            <a:avLst/>
            <a:gdLst>
              <a:gd name="connsiteX0" fmla="*/ 379575 w 399482"/>
              <a:gd name="connsiteY0" fmla="*/ 0 h 366140"/>
              <a:gd name="connsiteX1" fmla="*/ 19816 w 399482"/>
              <a:gd name="connsiteY1" fmla="*/ 0 h 366140"/>
              <a:gd name="connsiteX2" fmla="*/ 3 w 399482"/>
              <a:gd name="connsiteY2" fmla="*/ 20002 h 366140"/>
              <a:gd name="connsiteX3" fmla="*/ 4 w 399482"/>
              <a:gd name="connsiteY3" fmla="*/ 20098 h 366140"/>
              <a:gd name="connsiteX4" fmla="*/ 4 w 399482"/>
              <a:gd name="connsiteY4" fmla="*/ 265367 h 366140"/>
              <a:gd name="connsiteX5" fmla="*/ 19618 w 399482"/>
              <a:gd name="connsiteY5" fmla="*/ 285750 h 366140"/>
              <a:gd name="connsiteX6" fmla="*/ 19625 w 399482"/>
              <a:gd name="connsiteY6" fmla="*/ 285750 h 366140"/>
              <a:gd name="connsiteX7" fmla="*/ 76775 w 399482"/>
              <a:gd name="connsiteY7" fmla="*/ 285750 h 366140"/>
              <a:gd name="connsiteX8" fmla="*/ 76775 w 399482"/>
              <a:gd name="connsiteY8" fmla="*/ 366141 h 366140"/>
              <a:gd name="connsiteX9" fmla="*/ 155928 w 399482"/>
              <a:gd name="connsiteY9" fmla="*/ 285750 h 366140"/>
              <a:gd name="connsiteX10" fmla="*/ 379575 w 399482"/>
              <a:gd name="connsiteY10" fmla="*/ 285750 h 366140"/>
              <a:gd name="connsiteX11" fmla="*/ 399482 w 399482"/>
              <a:gd name="connsiteY11" fmla="*/ 265652 h 366140"/>
              <a:gd name="connsiteX12" fmla="*/ 399482 w 399482"/>
              <a:gd name="connsiteY12" fmla="*/ 20098 h 366140"/>
              <a:gd name="connsiteX13" fmla="*/ 379575 w 399482"/>
              <a:gd name="connsiteY13" fmla="*/ 0 h 366140"/>
              <a:gd name="connsiteX14" fmla="*/ 198029 w 399482"/>
              <a:gd name="connsiteY14" fmla="*/ 250031 h 366140"/>
              <a:gd name="connsiteX15" fmla="*/ 198029 w 399482"/>
              <a:gd name="connsiteY15" fmla="*/ 250031 h 366140"/>
              <a:gd name="connsiteX16" fmla="*/ 176885 w 399482"/>
              <a:gd name="connsiteY16" fmla="*/ 228884 h 366140"/>
              <a:gd name="connsiteX17" fmla="*/ 198032 w 399482"/>
              <a:gd name="connsiteY17" fmla="*/ 207740 h 366140"/>
              <a:gd name="connsiteX18" fmla="*/ 219174 w 399482"/>
              <a:gd name="connsiteY18" fmla="*/ 228600 h 366140"/>
              <a:gd name="connsiteX19" fmla="*/ 198516 w 399482"/>
              <a:gd name="connsiteY19" fmla="*/ 250035 h 366140"/>
              <a:gd name="connsiteX20" fmla="*/ 197552 w 399482"/>
              <a:gd name="connsiteY20" fmla="*/ 250031 h 366140"/>
              <a:gd name="connsiteX21" fmla="*/ 263942 w 399482"/>
              <a:gd name="connsiteY21" fmla="*/ 101727 h 366140"/>
              <a:gd name="connsiteX22" fmla="*/ 263942 w 399482"/>
              <a:gd name="connsiteY22" fmla="*/ 104108 h 366140"/>
              <a:gd name="connsiteX23" fmla="*/ 236795 w 399482"/>
              <a:gd name="connsiteY23" fmla="*/ 104108 h 366140"/>
              <a:gd name="connsiteX24" fmla="*/ 236795 w 399482"/>
              <a:gd name="connsiteY24" fmla="*/ 101727 h 366140"/>
              <a:gd name="connsiteX25" fmla="*/ 236795 w 399482"/>
              <a:gd name="connsiteY25" fmla="*/ 95155 h 366140"/>
              <a:gd name="connsiteX26" fmla="*/ 198047 w 399482"/>
              <a:gd name="connsiteY26" fmla="*/ 62958 h 366140"/>
              <a:gd name="connsiteX27" fmla="*/ 198029 w 399482"/>
              <a:gd name="connsiteY27" fmla="*/ 62960 h 366140"/>
              <a:gd name="connsiteX28" fmla="*/ 196600 w 399482"/>
              <a:gd name="connsiteY28" fmla="*/ 62960 h 366140"/>
              <a:gd name="connsiteX29" fmla="*/ 159167 w 399482"/>
              <a:gd name="connsiteY29" fmla="*/ 101716 h 366140"/>
              <a:gd name="connsiteX30" fmla="*/ 159167 w 399482"/>
              <a:gd name="connsiteY30" fmla="*/ 101727 h 366140"/>
              <a:gd name="connsiteX31" fmla="*/ 198029 w 399482"/>
              <a:gd name="connsiteY31" fmla="*/ 136779 h 366140"/>
              <a:gd name="connsiteX32" fmla="*/ 211554 w 399482"/>
              <a:gd name="connsiteY32" fmla="*/ 136779 h 366140"/>
              <a:gd name="connsiteX33" fmla="*/ 211554 w 399482"/>
              <a:gd name="connsiteY33" fmla="*/ 192881 h 366140"/>
              <a:gd name="connsiteX34" fmla="*/ 184408 w 399482"/>
              <a:gd name="connsiteY34" fmla="*/ 192881 h 366140"/>
              <a:gd name="connsiteX35" fmla="*/ 184408 w 399482"/>
              <a:gd name="connsiteY35" fmla="*/ 162878 h 366140"/>
              <a:gd name="connsiteX36" fmla="*/ 132020 w 399482"/>
              <a:gd name="connsiteY36" fmla="*/ 101727 h 366140"/>
              <a:gd name="connsiteX37" fmla="*/ 132020 w 399482"/>
              <a:gd name="connsiteY37" fmla="*/ 100203 h 366140"/>
              <a:gd name="connsiteX38" fmla="*/ 198029 w 399482"/>
              <a:gd name="connsiteY38" fmla="*/ 35719 h 366140"/>
              <a:gd name="connsiteX39" fmla="*/ 263947 w 399482"/>
              <a:gd name="connsiteY39" fmla="*/ 94366 h 366140"/>
              <a:gd name="connsiteX40" fmla="*/ 263942 w 399482"/>
              <a:gd name="connsiteY40" fmla="*/ 101727 h 366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399482" h="366140">
                <a:moveTo>
                  <a:pt x="379575" y="0"/>
                </a:moveTo>
                <a:lnTo>
                  <a:pt x="19816" y="0"/>
                </a:lnTo>
                <a:cubicBezTo>
                  <a:pt x="8821" y="52"/>
                  <a:pt x="-49" y="9007"/>
                  <a:pt x="3" y="20002"/>
                </a:cubicBezTo>
                <a:cubicBezTo>
                  <a:pt x="3" y="20034"/>
                  <a:pt x="4" y="20065"/>
                  <a:pt x="4" y="20098"/>
                </a:cubicBezTo>
                <a:lnTo>
                  <a:pt x="4" y="265367"/>
                </a:lnTo>
                <a:cubicBezTo>
                  <a:pt x="-209" y="276412"/>
                  <a:pt x="8573" y="285538"/>
                  <a:pt x="19618" y="285750"/>
                </a:cubicBezTo>
                <a:cubicBezTo>
                  <a:pt x="19621" y="285750"/>
                  <a:pt x="19622" y="285750"/>
                  <a:pt x="19625" y="285750"/>
                </a:cubicBezTo>
                <a:lnTo>
                  <a:pt x="76775" y="285750"/>
                </a:lnTo>
                <a:lnTo>
                  <a:pt x="76775" y="366141"/>
                </a:lnTo>
                <a:lnTo>
                  <a:pt x="155928" y="285750"/>
                </a:lnTo>
                <a:lnTo>
                  <a:pt x="379575" y="285750"/>
                </a:lnTo>
                <a:cubicBezTo>
                  <a:pt x="390600" y="285645"/>
                  <a:pt x="399482" y="276678"/>
                  <a:pt x="399482" y="265652"/>
                </a:cubicBezTo>
                <a:lnTo>
                  <a:pt x="399482" y="20098"/>
                </a:lnTo>
                <a:cubicBezTo>
                  <a:pt x="399483" y="9072"/>
                  <a:pt x="390600" y="104"/>
                  <a:pt x="379575" y="0"/>
                </a:cubicBezTo>
                <a:close/>
                <a:moveTo>
                  <a:pt x="198029" y="250031"/>
                </a:moveTo>
                <a:lnTo>
                  <a:pt x="198029" y="250031"/>
                </a:lnTo>
                <a:cubicBezTo>
                  <a:pt x="186350" y="250030"/>
                  <a:pt x="176884" y="240562"/>
                  <a:pt x="176885" y="228884"/>
                </a:cubicBezTo>
                <a:cubicBezTo>
                  <a:pt x="176886" y="217205"/>
                  <a:pt x="186354" y="207739"/>
                  <a:pt x="198032" y="207740"/>
                </a:cubicBezTo>
                <a:cubicBezTo>
                  <a:pt x="209599" y="207741"/>
                  <a:pt x="219018" y="217035"/>
                  <a:pt x="219174" y="228600"/>
                </a:cubicBezTo>
                <a:cubicBezTo>
                  <a:pt x="219388" y="240223"/>
                  <a:pt x="210140" y="249821"/>
                  <a:pt x="198516" y="250035"/>
                </a:cubicBezTo>
                <a:cubicBezTo>
                  <a:pt x="198195" y="250042"/>
                  <a:pt x="197873" y="250040"/>
                  <a:pt x="197552" y="250031"/>
                </a:cubicBezTo>
                <a:close/>
                <a:moveTo>
                  <a:pt x="263942" y="101727"/>
                </a:moveTo>
                <a:lnTo>
                  <a:pt x="263942" y="104108"/>
                </a:lnTo>
                <a:lnTo>
                  <a:pt x="236795" y="104108"/>
                </a:lnTo>
                <a:lnTo>
                  <a:pt x="236795" y="101727"/>
                </a:lnTo>
                <a:cubicBezTo>
                  <a:pt x="236985" y="99540"/>
                  <a:pt x="236985" y="97342"/>
                  <a:pt x="236795" y="95155"/>
                </a:cubicBezTo>
                <a:cubicBezTo>
                  <a:pt x="234986" y="75564"/>
                  <a:pt x="217638" y="61150"/>
                  <a:pt x="198047" y="62958"/>
                </a:cubicBezTo>
                <a:cubicBezTo>
                  <a:pt x="198041" y="62959"/>
                  <a:pt x="198034" y="62959"/>
                  <a:pt x="198029" y="62960"/>
                </a:cubicBezTo>
                <a:lnTo>
                  <a:pt x="196600" y="62960"/>
                </a:lnTo>
                <a:cubicBezTo>
                  <a:pt x="175561" y="63325"/>
                  <a:pt x="158802" y="80677"/>
                  <a:pt x="159167" y="101716"/>
                </a:cubicBezTo>
                <a:cubicBezTo>
                  <a:pt x="159167" y="101719"/>
                  <a:pt x="159167" y="101723"/>
                  <a:pt x="159167" y="101727"/>
                </a:cubicBezTo>
                <a:cubicBezTo>
                  <a:pt x="159167" y="122968"/>
                  <a:pt x="174407" y="136779"/>
                  <a:pt x="198029" y="136779"/>
                </a:cubicBezTo>
                <a:lnTo>
                  <a:pt x="211554" y="136779"/>
                </a:lnTo>
                <a:lnTo>
                  <a:pt x="211554" y="192881"/>
                </a:lnTo>
                <a:lnTo>
                  <a:pt x="184408" y="192881"/>
                </a:lnTo>
                <a:lnTo>
                  <a:pt x="184408" y="162878"/>
                </a:lnTo>
                <a:cubicBezTo>
                  <a:pt x="153786" y="159059"/>
                  <a:pt x="131095" y="132572"/>
                  <a:pt x="132020" y="101727"/>
                </a:cubicBezTo>
                <a:lnTo>
                  <a:pt x="132020" y="100203"/>
                </a:lnTo>
                <a:cubicBezTo>
                  <a:pt x="132491" y="64190"/>
                  <a:pt x="162014" y="35348"/>
                  <a:pt x="198029" y="35719"/>
                </a:cubicBezTo>
                <a:cubicBezTo>
                  <a:pt x="232426" y="33711"/>
                  <a:pt x="261939" y="59968"/>
                  <a:pt x="263947" y="94366"/>
                </a:cubicBezTo>
                <a:cubicBezTo>
                  <a:pt x="264090" y="96818"/>
                  <a:pt x="264088" y="99275"/>
                  <a:pt x="263942" y="101727"/>
                </a:cubicBezTo>
                <a:close/>
              </a:path>
            </a:pathLst>
          </a:custGeom>
          <a:solidFill>
            <a:srgbClr val="000000"/>
          </a:solidFill>
          <a:ln w="9525" cap="flat">
            <a:noFill/>
            <a:prstDash val="solid"/>
            <a:miter/>
          </a:ln>
        </p:spPr>
        <p:txBody>
          <a:bodyPr rtlCol="0" anchor="ctr"/>
          <a:lstStyle/>
          <a:p>
            <a:endParaRPr lang="en-US"/>
          </a:p>
        </p:txBody>
      </p:sp>
      <p:sp>
        <p:nvSpPr>
          <p:cNvPr id="4" name="TextBox 3">
            <a:extLst>
              <a:ext uri="{FF2B5EF4-FFF2-40B4-BE49-F238E27FC236}">
                <a16:creationId xmlns:a16="http://schemas.microsoft.com/office/drawing/2014/main" id="{28A8C5FA-9689-F842-A88C-494A3189B629}"/>
              </a:ext>
            </a:extLst>
          </p:cNvPr>
          <p:cNvSpPr txBox="1"/>
          <p:nvPr/>
        </p:nvSpPr>
        <p:spPr>
          <a:xfrm>
            <a:off x="1440325" y="4633916"/>
            <a:ext cx="9625781" cy="1077218"/>
          </a:xfrm>
          <a:prstGeom prst="rect">
            <a:avLst/>
          </a:prstGeom>
          <a:noFill/>
        </p:spPr>
        <p:txBody>
          <a:bodyPr wrap="square" rtlCol="0">
            <a:spAutoFit/>
          </a:bodyPr>
          <a:lstStyle/>
          <a:p>
            <a:pPr marL="0" indent="0" algn="just">
              <a:buNone/>
            </a:pPr>
            <a:r>
              <a:rPr lang="el-GR" sz="1600" dirty="0">
                <a:latin typeface="Aptos" panose="020B0004020202020204" pitchFamily="34" charset="0"/>
              </a:rPr>
              <a:t>Μετά από αυτό, σταθεροποιήθηκε και προχώρησε σε στρατηγική ανάπτυξης αγορών, εστιάζοντας στις εξωτερικές αγορές για να αυξήσει τις πωλήσεις της. Χρησιμοποίησε ομολογιακά δάνεια για να επενδύσει στο εξωτερικό και να εγκαθιδρύσει εργοστάσια, όπως στην Αμερική. Επίσης, επένδυσε στον τομέα του μάρκετινγκ για να ανακτήσει το μερίδιο αγοράς του γιαουρτιού στην Ελλάδα. </a:t>
            </a:r>
          </a:p>
        </p:txBody>
      </p:sp>
      <p:sp>
        <p:nvSpPr>
          <p:cNvPr id="5" name="TextBox 4">
            <a:extLst>
              <a:ext uri="{FF2B5EF4-FFF2-40B4-BE49-F238E27FC236}">
                <a16:creationId xmlns:a16="http://schemas.microsoft.com/office/drawing/2014/main" id="{275727EF-770D-22F9-9AFB-D77325FEFC20}"/>
              </a:ext>
            </a:extLst>
          </p:cNvPr>
          <p:cNvSpPr txBox="1"/>
          <p:nvPr/>
        </p:nvSpPr>
        <p:spPr>
          <a:xfrm>
            <a:off x="4994685" y="4162664"/>
            <a:ext cx="2517058" cy="338554"/>
          </a:xfrm>
          <a:prstGeom prst="rect">
            <a:avLst/>
          </a:prstGeom>
          <a:noFill/>
        </p:spPr>
        <p:txBody>
          <a:bodyPr wrap="square" rtlCol="0">
            <a:spAutoFit/>
          </a:bodyPr>
          <a:lstStyle/>
          <a:p>
            <a:r>
              <a:rPr lang="el-GR" sz="1600" b="1" dirty="0">
                <a:solidFill>
                  <a:schemeClr val="bg1"/>
                </a:solidFill>
                <a:latin typeface="Aptos" panose="020B0004020202020204" pitchFamily="34" charset="0"/>
              </a:rPr>
              <a:t>ΣΤΡΑΤΗΓΙΚΗ ΑΝΑΠΤΥΞΗΣ</a:t>
            </a:r>
          </a:p>
        </p:txBody>
      </p:sp>
      <p:sp>
        <p:nvSpPr>
          <p:cNvPr id="6" name="TextBox 5">
            <a:extLst>
              <a:ext uri="{FF2B5EF4-FFF2-40B4-BE49-F238E27FC236}">
                <a16:creationId xmlns:a16="http://schemas.microsoft.com/office/drawing/2014/main" id="{A2FECD41-61F1-26F0-2511-BE303B4D25AA}"/>
              </a:ext>
            </a:extLst>
          </p:cNvPr>
          <p:cNvSpPr txBox="1"/>
          <p:nvPr/>
        </p:nvSpPr>
        <p:spPr>
          <a:xfrm>
            <a:off x="4983434" y="1906695"/>
            <a:ext cx="2517058" cy="338554"/>
          </a:xfrm>
          <a:prstGeom prst="rect">
            <a:avLst/>
          </a:prstGeom>
          <a:noFill/>
        </p:spPr>
        <p:txBody>
          <a:bodyPr wrap="square" rtlCol="0">
            <a:spAutoFit/>
          </a:bodyPr>
          <a:lstStyle/>
          <a:p>
            <a:pPr algn="ctr"/>
            <a:r>
              <a:rPr lang="el-GR" sz="1600" b="1" dirty="0">
                <a:solidFill>
                  <a:schemeClr val="bg1"/>
                </a:solidFill>
                <a:latin typeface="Aptos" panose="020B0004020202020204" pitchFamily="34" charset="0"/>
              </a:rPr>
              <a:t>ΣΥΡΡΙΚΝΩΣΗ</a:t>
            </a:r>
          </a:p>
        </p:txBody>
      </p:sp>
    </p:spTree>
    <p:extLst>
      <p:ext uri="{BB962C8B-B14F-4D97-AF65-F5344CB8AC3E}">
        <p14:creationId xmlns:p14="http://schemas.microsoft.com/office/powerpoint/2010/main" val="153785020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par>
                                <p:cTn id="8" presetID="22" presetClass="entr" presetSubtype="4" fill="hold" nodeType="withEffect">
                                  <p:stCondLst>
                                    <p:cond delay="0"/>
                                  </p:stCondLst>
                                  <p:childTnLst>
                                    <p:set>
                                      <p:cBhvr>
                                        <p:cTn id="9" dur="1" fill="hold">
                                          <p:stCondLst>
                                            <p:cond delay="0"/>
                                          </p:stCondLst>
                                        </p:cTn>
                                        <p:tgtEl>
                                          <p:spTgt spid="86"/>
                                        </p:tgtEl>
                                        <p:attrNameLst>
                                          <p:attrName>style.visibility</p:attrName>
                                        </p:attrNameLst>
                                      </p:cBhvr>
                                      <p:to>
                                        <p:strVal val="visible"/>
                                      </p:to>
                                    </p:set>
                                    <p:animEffect transition="in" filter="wipe(down)">
                                      <p:cBhvr>
                                        <p:cTn id="10" dur="500"/>
                                        <p:tgtEl>
                                          <p:spTgt spid="86"/>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97"/>
                                        </p:tgtEl>
                                        <p:attrNameLst>
                                          <p:attrName>style.visibility</p:attrName>
                                        </p:attrNameLst>
                                      </p:cBhvr>
                                      <p:to>
                                        <p:strVal val="visible"/>
                                      </p:to>
                                    </p:set>
                                    <p:animEffect transition="in" filter="wipe(down)">
                                      <p:cBhvr>
                                        <p:cTn id="13" dur="500"/>
                                        <p:tgtEl>
                                          <p:spTgt spid="9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childTnLst>
                          </p:cTn>
                        </p:par>
                        <p:par>
                          <p:cTn id="19" fill="hold">
                            <p:stCondLst>
                              <p:cond delay="500"/>
                            </p:stCondLst>
                            <p:childTnLst>
                              <p:par>
                                <p:cTn id="20" presetID="42" presetClass="entr" presetSubtype="0" fill="hold" grpId="0" nodeType="afterEffect">
                                  <p:stCondLst>
                                    <p:cond delay="0"/>
                                  </p:stCondLst>
                                  <p:childTnLst>
                                    <p:set>
                                      <p:cBhvr>
                                        <p:cTn id="21" dur="1" fill="hold">
                                          <p:stCondLst>
                                            <p:cond delay="0"/>
                                          </p:stCondLst>
                                        </p:cTn>
                                        <p:tgtEl>
                                          <p:spTgt spid="3">
                                            <p:txEl>
                                              <p:pRg st="0" end="0"/>
                                            </p:txEl>
                                          </p:spTgt>
                                        </p:tgtEl>
                                        <p:attrNameLst>
                                          <p:attrName>style.visibility</p:attrName>
                                        </p:attrNameLst>
                                      </p:cBhvr>
                                      <p:to>
                                        <p:strVal val="visible"/>
                                      </p:to>
                                    </p:set>
                                    <p:animEffect transition="in" filter="fade">
                                      <p:cBhvr>
                                        <p:cTn id="22" dur="1000"/>
                                        <p:tgtEl>
                                          <p:spTgt spid="3">
                                            <p:txEl>
                                              <p:pRg st="0" end="0"/>
                                            </p:txEl>
                                          </p:spTgt>
                                        </p:tgtEl>
                                      </p:cBhvr>
                                    </p:animEffect>
                                    <p:anim calcmode="lin" valueType="num">
                                      <p:cBhvr>
                                        <p:cTn id="2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fade">
                                      <p:cBhvr>
                                        <p:cTn id="29" dur="500"/>
                                        <p:tgtEl>
                                          <p:spTgt spid="5"/>
                                        </p:tgtEl>
                                      </p:cBhvr>
                                    </p:animEffect>
                                  </p:childTnLst>
                                </p:cTn>
                              </p:par>
                            </p:childTnLst>
                          </p:cTn>
                        </p:par>
                        <p:par>
                          <p:cTn id="30" fill="hold">
                            <p:stCondLst>
                              <p:cond delay="500"/>
                            </p:stCondLst>
                            <p:childTnLst>
                              <p:par>
                                <p:cTn id="31" presetID="42" presetClass="entr" presetSubtype="0" fill="hold" grpId="0" nodeType="afterEffect">
                                  <p:stCondLst>
                                    <p:cond delay="0"/>
                                  </p:stCondLst>
                                  <p:childTnLst>
                                    <p:set>
                                      <p:cBhvr>
                                        <p:cTn id="32" dur="1" fill="hold">
                                          <p:stCondLst>
                                            <p:cond delay="0"/>
                                          </p:stCondLst>
                                        </p:cTn>
                                        <p:tgtEl>
                                          <p:spTgt spid="4"/>
                                        </p:tgtEl>
                                        <p:attrNameLst>
                                          <p:attrName>style.visibility</p:attrName>
                                        </p:attrNameLst>
                                      </p:cBhvr>
                                      <p:to>
                                        <p:strVal val="visible"/>
                                      </p:to>
                                    </p:set>
                                    <p:animEffect transition="in" filter="fade">
                                      <p:cBhvr>
                                        <p:cTn id="33" dur="1000"/>
                                        <p:tgtEl>
                                          <p:spTgt spid="4"/>
                                        </p:tgtEl>
                                      </p:cBhvr>
                                    </p:animEffect>
                                    <p:anim calcmode="lin" valueType="num">
                                      <p:cBhvr>
                                        <p:cTn id="34" dur="1000" fill="hold"/>
                                        <p:tgtEl>
                                          <p:spTgt spid="4"/>
                                        </p:tgtEl>
                                        <p:attrNameLst>
                                          <p:attrName>ppt_x</p:attrName>
                                        </p:attrNameLst>
                                      </p:cBhvr>
                                      <p:tavLst>
                                        <p:tav tm="0">
                                          <p:val>
                                            <p:strVal val="#ppt_x"/>
                                          </p:val>
                                        </p:tav>
                                        <p:tav tm="100000">
                                          <p:val>
                                            <p:strVal val="#ppt_x"/>
                                          </p:val>
                                        </p:tav>
                                      </p:tavLst>
                                    </p:anim>
                                    <p:anim calcmode="lin" valueType="num">
                                      <p:cBhvr>
                                        <p:cTn id="35"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p:bldP spid="97" grpId="0" animBg="1"/>
      <p:bldP spid="4" grpId="0"/>
      <p:bldP spid="5" grpId="0"/>
      <p:bldP spid="6" grpId="0"/>
    </p:bldLst>
  </p:timing>
</p:sld>
</file>

<file path=ppt/slides/slide16.xml><?xml version="1.0" encoding="utf-8"?>
<p:sld xmlns:a="http://schemas.openxmlformats.org/drawingml/2006/main" xmlns:r="http://schemas.openxmlformats.org/officeDocument/2006/relationships" xmlns:p="http://schemas.openxmlformats.org/presentationml/2006/main">
  <p:cSld>
    <p:bg bwMode="blackGray">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00C6FBF8-8071-918D-1164-9B77E099E8CD}"/>
              </a:ext>
            </a:extLst>
          </p:cNvPr>
          <p:cNvSpPr txBox="1"/>
          <p:nvPr/>
        </p:nvSpPr>
        <p:spPr>
          <a:xfrm>
            <a:off x="0" y="462587"/>
            <a:ext cx="12192000" cy="986926"/>
          </a:xfrm>
          <a:prstGeom prst="rect">
            <a:avLst/>
          </a:prstGeom>
          <a:solidFill>
            <a:schemeClr val="tx2">
              <a:lumMod val="60000"/>
              <a:lumOff val="40000"/>
            </a:schemeClr>
          </a:solidFill>
        </p:spPr>
        <p:txBody>
          <a:bodyPr wrap="square" rtlCol="0">
            <a:spAutoFit/>
          </a:bodyPr>
          <a:lstStyle/>
          <a:p>
            <a:endParaRPr lang="en-US" dirty="0"/>
          </a:p>
        </p:txBody>
      </p:sp>
      <p:sp>
        <p:nvSpPr>
          <p:cNvPr id="24" name="Rectangle 23">
            <a:extLst>
              <a:ext uri="{FF2B5EF4-FFF2-40B4-BE49-F238E27FC236}">
                <a16:creationId xmlns:a16="http://schemas.microsoft.com/office/drawing/2014/main" id="{0CABCAE3-64FC-4149-819F-2C18128241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26" name="Picture 25">
            <a:extLst>
              <a:ext uri="{FF2B5EF4-FFF2-40B4-BE49-F238E27FC236}">
                <a16:creationId xmlns:a16="http://schemas.microsoft.com/office/drawing/2014/main" id="{012FDCFE-9AD2-4D8A-8CBF-B3AA37EBF6D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28" name="Straight Connector 27">
            <a:extLst>
              <a:ext uri="{FF2B5EF4-FFF2-40B4-BE49-F238E27FC236}">
                <a16:creationId xmlns:a16="http://schemas.microsoft.com/office/drawing/2014/main" id="{FBD463FC-4CA8-4FF4-85A3-AF9F4B98D21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21" name="Γραφικό 20" descr="Αίθουσα τάξης με συμπαγές γέμισμα">
            <a:extLst>
              <a:ext uri="{FF2B5EF4-FFF2-40B4-BE49-F238E27FC236}">
                <a16:creationId xmlns:a16="http://schemas.microsoft.com/office/drawing/2014/main" id="{2833988E-1961-B35F-4D74-9BB9DD68532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5584" y="3566526"/>
            <a:ext cx="1841956" cy="1841956"/>
          </a:xfrm>
          <a:prstGeom prst="rect">
            <a:avLst/>
          </a:prstGeom>
        </p:spPr>
      </p:pic>
      <p:cxnSp>
        <p:nvCxnSpPr>
          <p:cNvPr id="30" name="Straight Connector 29">
            <a:extLst>
              <a:ext uri="{FF2B5EF4-FFF2-40B4-BE49-F238E27FC236}">
                <a16:creationId xmlns:a16="http://schemas.microsoft.com/office/drawing/2014/main" id="{A56012FD-74A8-4C91-B318-435CF2B7192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4" name="Τίτλος 3">
            <a:extLst>
              <a:ext uri="{FF2B5EF4-FFF2-40B4-BE49-F238E27FC236}">
                <a16:creationId xmlns:a16="http://schemas.microsoft.com/office/drawing/2014/main" id="{93E1D308-E75A-688B-A438-17AE326E51AC}"/>
              </a:ext>
            </a:extLst>
          </p:cNvPr>
          <p:cNvSpPr>
            <a:spLocks noGrp="1"/>
          </p:cNvSpPr>
          <p:nvPr>
            <p:ph type="title"/>
          </p:nvPr>
        </p:nvSpPr>
        <p:spPr>
          <a:xfrm>
            <a:off x="1523071" y="729586"/>
            <a:ext cx="9607522" cy="807387"/>
          </a:xfrm>
        </p:spPr>
        <p:txBody>
          <a:bodyPr vert="horz" lIns="91440" tIns="45720" rIns="91440" bIns="45720" rtlCol="0" anchor="t">
            <a:normAutofit/>
          </a:bodyPr>
          <a:lstStyle/>
          <a:p>
            <a:r>
              <a:rPr lang="en-US" sz="2800" dirty="0" err="1">
                <a:effectLst>
                  <a:outerShdw blurRad="38100" dist="38100" dir="2700000" algn="tl">
                    <a:srgbClr val="000000">
                      <a:alpha val="43137"/>
                    </a:srgbClr>
                  </a:outerShdw>
                </a:effectLst>
                <a:latin typeface="Georgia" panose="02040502050405020303" pitchFamily="18" charset="0"/>
              </a:rPr>
              <a:t>Στρ</a:t>
            </a:r>
            <a:r>
              <a:rPr lang="en-US" sz="2800" dirty="0">
                <a:effectLst>
                  <a:outerShdw blurRad="38100" dist="38100" dir="2700000" algn="tl">
                    <a:srgbClr val="000000">
                      <a:alpha val="43137"/>
                    </a:srgbClr>
                  </a:outerShdw>
                </a:effectLst>
                <a:latin typeface="Georgia" panose="02040502050405020303" pitchFamily="18" charset="0"/>
              </a:rPr>
              <a:t>ατηγικ</a:t>
            </a:r>
            <a:r>
              <a:rPr lang="el-GR" sz="2800" dirty="0">
                <a:effectLst>
                  <a:outerShdw blurRad="38100" dist="38100" dir="2700000" algn="tl">
                    <a:srgbClr val="000000">
                      <a:alpha val="43137"/>
                    </a:srgbClr>
                  </a:outerShdw>
                </a:effectLst>
                <a:latin typeface="Georgia" panose="02040502050405020303" pitchFamily="18" charset="0"/>
              </a:rPr>
              <a:t>Η</a:t>
            </a:r>
            <a:r>
              <a:rPr lang="en-US" sz="2800" dirty="0">
                <a:effectLst>
                  <a:outerShdw blurRad="38100" dist="38100" dir="2700000" algn="tl">
                    <a:srgbClr val="000000">
                      <a:alpha val="43137"/>
                    </a:srgbClr>
                  </a:outerShdw>
                </a:effectLst>
                <a:latin typeface="Georgia" panose="02040502050405020303" pitchFamily="18" charset="0"/>
              </a:rPr>
              <a:t> </a:t>
            </a:r>
            <a:r>
              <a:rPr lang="en-US" sz="2800" dirty="0" err="1">
                <a:effectLst>
                  <a:outerShdw blurRad="38100" dist="38100" dir="2700000" algn="tl">
                    <a:srgbClr val="000000">
                      <a:alpha val="43137"/>
                    </a:srgbClr>
                  </a:outerShdw>
                </a:effectLst>
                <a:latin typeface="Georgia" panose="02040502050405020303" pitchFamily="18" charset="0"/>
              </a:rPr>
              <a:t>Αντ</a:t>
            </a:r>
            <a:r>
              <a:rPr lang="en-US" sz="2800" dirty="0">
                <a:effectLst>
                  <a:outerShdw blurRad="38100" dist="38100" dir="2700000" algn="tl">
                    <a:srgbClr val="000000">
                      <a:alpha val="43137"/>
                    </a:srgbClr>
                  </a:outerShdw>
                </a:effectLst>
                <a:latin typeface="Georgia" panose="02040502050405020303" pitchFamily="18" charset="0"/>
              </a:rPr>
              <a:t>αγωνιστικoυ Πλεονεκτματος</a:t>
            </a:r>
          </a:p>
        </p:txBody>
      </p:sp>
      <p:sp>
        <p:nvSpPr>
          <p:cNvPr id="5" name="Θέση περιεχομένου 4">
            <a:extLst>
              <a:ext uri="{FF2B5EF4-FFF2-40B4-BE49-F238E27FC236}">
                <a16:creationId xmlns:a16="http://schemas.microsoft.com/office/drawing/2014/main" id="{00D42DDB-F640-4563-9976-0ECBBA7A7778}"/>
              </a:ext>
            </a:extLst>
          </p:cNvPr>
          <p:cNvSpPr>
            <a:spLocks noGrp="1"/>
          </p:cNvSpPr>
          <p:nvPr>
            <p:ph sz="half" idx="1"/>
          </p:nvPr>
        </p:nvSpPr>
        <p:spPr>
          <a:xfrm>
            <a:off x="2136154" y="2151235"/>
            <a:ext cx="6195784" cy="2056971"/>
          </a:xfrm>
        </p:spPr>
        <p:txBody>
          <a:bodyPr vert="horz" lIns="91440" tIns="45720" rIns="91440" bIns="45720" rtlCol="0" anchor="t">
            <a:normAutofit/>
          </a:bodyPr>
          <a:lstStyle/>
          <a:p>
            <a:pPr marL="0" indent="0" algn="just">
              <a:buNone/>
              <a:defRPr/>
            </a:pPr>
            <a:r>
              <a:rPr kumimoji="0" lang="en-US" sz="1600" b="0" i="0" u="none" strike="noStrike" cap="none" spc="0" normalizeH="0" baseline="0" noProof="0" dirty="0">
                <a:ln>
                  <a:noFill/>
                </a:ln>
                <a:uLnTx/>
                <a:uFillTx/>
                <a:latin typeface="Aptos" panose="020B0004020202020204" pitchFamily="34" charset="0"/>
              </a:rPr>
              <a:t>Η ΦΑΓΕ επ</a:t>
            </a:r>
            <a:r>
              <a:rPr kumimoji="0" lang="en-US" sz="1600" b="0" i="0" u="none" strike="noStrike" cap="none" spc="0" normalizeH="0" baseline="0" noProof="0" dirty="0" err="1">
                <a:ln>
                  <a:noFill/>
                </a:ln>
                <a:uLnTx/>
                <a:uFillTx/>
                <a:latin typeface="Aptos" panose="020B0004020202020204" pitchFamily="34" charset="0"/>
              </a:rPr>
              <a:t>έλεξε</a:t>
            </a:r>
            <a:r>
              <a:rPr kumimoji="0" lang="en-US" sz="1600" b="0" i="0" u="none" strike="noStrike" cap="none" spc="0" normalizeH="0" baseline="0" noProof="0" dirty="0">
                <a:ln>
                  <a:noFill/>
                </a:ln>
                <a:uLnTx/>
                <a:uFillTx/>
                <a:latin typeface="Aptos" panose="020B0004020202020204" pitchFamily="34" charset="0"/>
              </a:rPr>
              <a:t> </a:t>
            </a:r>
            <a:r>
              <a:rPr kumimoji="0" lang="en-US" sz="1600" b="0" i="0" u="none" strike="noStrike" cap="none" spc="0" normalizeH="0" baseline="0" noProof="0" dirty="0" err="1">
                <a:ln>
                  <a:noFill/>
                </a:ln>
                <a:uLnTx/>
                <a:uFillTx/>
                <a:latin typeface="Aptos" panose="020B0004020202020204" pitchFamily="34" charset="0"/>
              </a:rPr>
              <a:t>μι</a:t>
            </a:r>
            <a:r>
              <a:rPr kumimoji="0" lang="en-US" sz="1600" b="0" i="0" u="none" strike="noStrike" cap="none" spc="0" normalizeH="0" baseline="0" noProof="0" dirty="0">
                <a:ln>
                  <a:noFill/>
                </a:ln>
                <a:uLnTx/>
                <a:uFillTx/>
                <a:latin typeface="Aptos" panose="020B0004020202020204" pitchFamily="34" charset="0"/>
              </a:rPr>
              <a:t>α στρατηγική διαφοροποίησης για το γιαούρτι, εκμεταλλευόμενη την ανώτερη ποιότητα και το γνωστό όνομα της εταιρείας, προωθώντας προϊόντα ως υγιεινά και μεσογειακά. </a:t>
            </a:r>
            <a:r>
              <a:rPr kumimoji="0" lang="en-US" sz="1600" b="0" i="0" u="none" strike="noStrike" cap="none" spc="0" normalizeH="0" baseline="0" noProof="0" dirty="0" err="1">
                <a:ln>
                  <a:noFill/>
                </a:ln>
                <a:uLnTx/>
                <a:uFillTx/>
                <a:latin typeface="Aptos" panose="020B0004020202020204" pitchFamily="34" charset="0"/>
              </a:rPr>
              <a:t>Αν</a:t>
            </a:r>
            <a:r>
              <a:rPr kumimoji="0" lang="en-US" sz="1600" b="0" i="0" u="none" strike="noStrike" cap="none" spc="0" normalizeH="0" baseline="0" noProof="0" dirty="0">
                <a:ln>
                  <a:noFill/>
                </a:ln>
                <a:uLnTx/>
                <a:uFillTx/>
                <a:latin typeface="Aptos" panose="020B0004020202020204" pitchFamily="34" charset="0"/>
              </a:rPr>
              <a:t> και α</a:t>
            </a:r>
            <a:r>
              <a:rPr kumimoji="0" lang="en-US" sz="1600" b="0" i="0" u="none" strike="noStrike" cap="none" spc="0" normalizeH="0" baseline="0" noProof="0" dirty="0" err="1">
                <a:ln>
                  <a:noFill/>
                </a:ln>
                <a:uLnTx/>
                <a:uFillTx/>
                <a:latin typeface="Aptos" panose="020B0004020202020204" pitchFamily="34" charset="0"/>
              </a:rPr>
              <a:t>κρι</a:t>
            </a:r>
            <a:r>
              <a:rPr kumimoji="0" lang="en-US" sz="1600" b="0" i="0" u="none" strike="noStrike" cap="none" spc="0" normalizeH="0" baseline="0" noProof="0" dirty="0">
                <a:ln>
                  <a:noFill/>
                </a:ln>
                <a:uLnTx/>
                <a:uFillTx/>
                <a:latin typeface="Aptos" panose="020B0004020202020204" pitchFamily="34" charset="0"/>
              </a:rPr>
              <a:t>βότερα, τα προϊόντα της έγιναν δημοφιλή και η εταιρεία κατάφερε να επεκταθεί σε πάνω από 40 χώρες, αφήνοντας το στίγμα της στον παγκόσμιο γαλακτοκομικό κλάδο.</a:t>
            </a:r>
          </a:p>
        </p:txBody>
      </p:sp>
      <p:pic>
        <p:nvPicPr>
          <p:cNvPr id="19" name="Θέση περιεχομένου 18" descr="Πιόνια σκακιού με συμπαγές γέμισμα">
            <a:extLst>
              <a:ext uri="{FF2B5EF4-FFF2-40B4-BE49-F238E27FC236}">
                <a16:creationId xmlns:a16="http://schemas.microsoft.com/office/drawing/2014/main" id="{8B9B3B2A-6B73-C489-1598-E6DDB704C0E2}"/>
              </a:ext>
            </a:extLst>
          </p:cNvPr>
          <p:cNvPicPr>
            <a:picLocks noGrp="1" noChangeAspect="1"/>
          </p:cNvPicPr>
          <p:nvPr>
            <p:ph sz="half" idx="2"/>
          </p:nvPr>
        </p:nvPicPr>
        <p:blipFill>
          <a:blip r:embed="rId5">
            <a:extLst>
              <a:ext uri="{96DAC541-7B7A-43D3-8B79-37D633B846F1}">
                <asvg:svgBlip xmlns:asvg="http://schemas.microsoft.com/office/drawing/2016/SVG/main" r:embed="rId6"/>
              </a:ext>
            </a:extLst>
          </a:blip>
          <a:stretch>
            <a:fillRect/>
          </a:stretch>
        </p:blipFill>
        <p:spPr>
          <a:xfrm>
            <a:off x="8437788" y="1803973"/>
            <a:ext cx="2517780" cy="2517780"/>
          </a:xfrm>
          <a:prstGeom prst="rect">
            <a:avLst/>
          </a:prstGeom>
        </p:spPr>
      </p:pic>
    </p:spTree>
    <p:extLst>
      <p:ext uri="{BB962C8B-B14F-4D97-AF65-F5344CB8AC3E}">
        <p14:creationId xmlns:p14="http://schemas.microsoft.com/office/powerpoint/2010/main" val="95006195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down)">
                                      <p:cBhvr>
                                        <p:cTn id="7" dur="500"/>
                                        <p:tgtEl>
                                          <p:spTgt spid="25"/>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down)">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grpId="0" nodeType="click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animEffect transition="in" filter="fade">
                                      <p:cBhvr>
                                        <p:cTn id="15" dur="1000"/>
                                        <p:tgtEl>
                                          <p:spTgt spid="5">
                                            <p:txEl>
                                              <p:pRg st="0" end="0"/>
                                            </p:txEl>
                                          </p:spTgt>
                                        </p:tgtEl>
                                      </p:cBhvr>
                                    </p:animEffect>
                                    <p:anim calcmode="lin" valueType="num">
                                      <p:cBhvr>
                                        <p:cTn id="16"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17"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4" grpId="0"/>
      <p:bldP spid="5"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ign in a field">
            <a:extLst>
              <a:ext uri="{FF2B5EF4-FFF2-40B4-BE49-F238E27FC236}">
                <a16:creationId xmlns:a16="http://schemas.microsoft.com/office/drawing/2014/main" id="{DD0567A9-079F-79BF-772E-00713805B06E}"/>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0" y="0"/>
            <a:ext cx="5378245" cy="6705039"/>
          </a:xfrm>
          <a:prstGeom prst="rect">
            <a:avLst/>
          </a:prstGeom>
        </p:spPr>
      </p:pic>
      <p:grpSp>
        <p:nvGrpSpPr>
          <p:cNvPr id="8" name="Group 7">
            <a:extLst>
              <a:ext uri="{FF2B5EF4-FFF2-40B4-BE49-F238E27FC236}">
                <a16:creationId xmlns:a16="http://schemas.microsoft.com/office/drawing/2014/main" id="{6B560E96-543D-FDF7-3C08-2B2511B9E519}"/>
              </a:ext>
            </a:extLst>
          </p:cNvPr>
          <p:cNvGrpSpPr/>
          <p:nvPr/>
        </p:nvGrpSpPr>
        <p:grpSpPr>
          <a:xfrm>
            <a:off x="7023190" y="71413"/>
            <a:ext cx="3605482" cy="688258"/>
            <a:chOff x="3778544" y="2587"/>
            <a:chExt cx="3929946" cy="688258"/>
          </a:xfrm>
        </p:grpSpPr>
        <p:sp>
          <p:nvSpPr>
            <p:cNvPr id="6" name="Rectangle: Rounded Corners 5">
              <a:extLst>
                <a:ext uri="{FF2B5EF4-FFF2-40B4-BE49-F238E27FC236}">
                  <a16:creationId xmlns:a16="http://schemas.microsoft.com/office/drawing/2014/main" id="{9B291BFA-80C1-5E88-E034-92BB80BEB7B7}"/>
                </a:ext>
              </a:extLst>
            </p:cNvPr>
            <p:cNvSpPr/>
            <p:nvPr/>
          </p:nvSpPr>
          <p:spPr>
            <a:xfrm>
              <a:off x="3778544" y="2587"/>
              <a:ext cx="3802127" cy="688258"/>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5" name="TextBox 4">
              <a:extLst>
                <a:ext uri="{FF2B5EF4-FFF2-40B4-BE49-F238E27FC236}">
                  <a16:creationId xmlns:a16="http://schemas.microsoft.com/office/drawing/2014/main" id="{47F94491-8105-B497-D469-C0DE7D14DD28}"/>
                </a:ext>
              </a:extLst>
            </p:cNvPr>
            <p:cNvSpPr txBox="1"/>
            <p:nvPr/>
          </p:nvSpPr>
          <p:spPr>
            <a:xfrm>
              <a:off x="3778544" y="113330"/>
              <a:ext cx="3929946" cy="466773"/>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l-GR" sz="2200" b="1" dirty="0">
                  <a:latin typeface="+mj-lt"/>
                  <a:ea typeface="+mj-ea"/>
                  <a:cs typeface="+mj-cs"/>
                </a:rPr>
                <a:t>ΠΡΟΤΑΣΕΙΣ ΓΙΑ ΤΟ ΜΕΛΛΟΝ</a:t>
              </a:r>
              <a:endParaRPr lang="en-US" sz="2200" b="1" kern="1200" dirty="0">
                <a:solidFill>
                  <a:schemeClr val="tx1"/>
                </a:solidFill>
                <a:latin typeface="+mj-lt"/>
                <a:ea typeface="+mj-ea"/>
                <a:cs typeface="+mj-cs"/>
              </a:endParaRPr>
            </a:p>
          </p:txBody>
        </p:sp>
      </p:grpSp>
      <p:sp>
        <p:nvSpPr>
          <p:cNvPr id="10" name="TextBox 9">
            <a:extLst>
              <a:ext uri="{FF2B5EF4-FFF2-40B4-BE49-F238E27FC236}">
                <a16:creationId xmlns:a16="http://schemas.microsoft.com/office/drawing/2014/main" id="{F109D6D3-8152-8264-19AC-BD477F973363}"/>
              </a:ext>
            </a:extLst>
          </p:cNvPr>
          <p:cNvSpPr txBox="1"/>
          <p:nvPr/>
        </p:nvSpPr>
        <p:spPr>
          <a:xfrm>
            <a:off x="5673213" y="1067769"/>
            <a:ext cx="5722374" cy="307777"/>
          </a:xfrm>
          <a:prstGeom prst="rect">
            <a:avLst/>
          </a:prstGeom>
          <a:noFill/>
        </p:spPr>
        <p:txBody>
          <a:bodyPr wrap="square" rtlCol="0">
            <a:spAutoFit/>
          </a:bodyPr>
          <a:lstStyle/>
          <a:p>
            <a:r>
              <a:rPr lang="el-GR" sz="1400" b="1" dirty="0"/>
              <a:t>1. Επέκταση σε νέες αγορές </a:t>
            </a:r>
            <a:r>
              <a:rPr lang="el-GR" sz="1400" dirty="0"/>
              <a:t>όπως : η Λατινική Αμερική και η Ασία. </a:t>
            </a:r>
            <a:endParaRPr lang="el-GR" sz="1400" b="1" dirty="0"/>
          </a:p>
        </p:txBody>
      </p:sp>
      <p:pic>
        <p:nvPicPr>
          <p:cNvPr id="1026" name="Picture 2" descr="Map Continents And Oceans">
            <a:extLst>
              <a:ext uri="{FF2B5EF4-FFF2-40B4-BE49-F238E27FC236}">
                <a16:creationId xmlns:a16="http://schemas.microsoft.com/office/drawing/2014/main" id="{6938E137-D014-3561-28F6-D0D09469040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40063" y="1443142"/>
            <a:ext cx="2102260" cy="1474720"/>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Straight Arrow Connector 11">
            <a:extLst>
              <a:ext uri="{FF2B5EF4-FFF2-40B4-BE49-F238E27FC236}">
                <a16:creationId xmlns:a16="http://schemas.microsoft.com/office/drawing/2014/main" id="{D2060A83-B3AF-D5A3-DDD4-9E1C098785B2}"/>
              </a:ext>
            </a:extLst>
          </p:cNvPr>
          <p:cNvCxnSpPr>
            <a:cxnSpLocks/>
          </p:cNvCxnSpPr>
          <p:nvPr/>
        </p:nvCxnSpPr>
        <p:spPr>
          <a:xfrm flipH="1">
            <a:off x="7826477" y="1280715"/>
            <a:ext cx="999454" cy="98937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3" name="Oval 12">
            <a:extLst>
              <a:ext uri="{FF2B5EF4-FFF2-40B4-BE49-F238E27FC236}">
                <a16:creationId xmlns:a16="http://schemas.microsoft.com/office/drawing/2014/main" id="{FCEF8BAA-D9B2-2FFB-A3A3-0194F0A35078}"/>
              </a:ext>
            </a:extLst>
          </p:cNvPr>
          <p:cNvSpPr/>
          <p:nvPr/>
        </p:nvSpPr>
        <p:spPr>
          <a:xfrm>
            <a:off x="7612403" y="2270092"/>
            <a:ext cx="393290" cy="52111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l-GR"/>
          </a:p>
        </p:txBody>
      </p:sp>
      <p:cxnSp>
        <p:nvCxnSpPr>
          <p:cNvPr id="16" name="Straight Arrow Connector 15">
            <a:extLst>
              <a:ext uri="{FF2B5EF4-FFF2-40B4-BE49-F238E27FC236}">
                <a16:creationId xmlns:a16="http://schemas.microsoft.com/office/drawing/2014/main" id="{D771AD7D-1CB1-EC5D-89F4-DFDB9A4F0912}"/>
              </a:ext>
            </a:extLst>
          </p:cNvPr>
          <p:cNvCxnSpPr>
            <a:cxnSpLocks/>
          </p:cNvCxnSpPr>
          <p:nvPr/>
        </p:nvCxnSpPr>
        <p:spPr>
          <a:xfrm flipH="1">
            <a:off x="9004870" y="1280714"/>
            <a:ext cx="1551538" cy="62674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8" name="Oval 17">
            <a:extLst>
              <a:ext uri="{FF2B5EF4-FFF2-40B4-BE49-F238E27FC236}">
                <a16:creationId xmlns:a16="http://schemas.microsoft.com/office/drawing/2014/main" id="{1058D93D-6A51-5665-2FA4-24571F7B16C8}"/>
              </a:ext>
            </a:extLst>
          </p:cNvPr>
          <p:cNvSpPr/>
          <p:nvPr/>
        </p:nvSpPr>
        <p:spPr>
          <a:xfrm>
            <a:off x="8270612" y="1683644"/>
            <a:ext cx="769223" cy="741537"/>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21" name="TextBox 20">
            <a:extLst>
              <a:ext uri="{FF2B5EF4-FFF2-40B4-BE49-F238E27FC236}">
                <a16:creationId xmlns:a16="http://schemas.microsoft.com/office/drawing/2014/main" id="{627DD85D-2CDF-0EB5-C9F9-DE038E3B7F71}"/>
              </a:ext>
            </a:extLst>
          </p:cNvPr>
          <p:cNvSpPr txBox="1"/>
          <p:nvPr/>
        </p:nvSpPr>
        <p:spPr>
          <a:xfrm>
            <a:off x="5633884" y="3158364"/>
            <a:ext cx="5722374" cy="307777"/>
          </a:xfrm>
          <a:prstGeom prst="rect">
            <a:avLst/>
          </a:prstGeom>
          <a:noFill/>
        </p:spPr>
        <p:txBody>
          <a:bodyPr wrap="square" rtlCol="0">
            <a:spAutoFit/>
          </a:bodyPr>
          <a:lstStyle/>
          <a:p>
            <a:pPr algn="ctr"/>
            <a:r>
              <a:rPr lang="el-GR" sz="1400" b="1" dirty="0"/>
              <a:t>2. Επένδυση στην Καινοτομία μέσω:</a:t>
            </a:r>
          </a:p>
        </p:txBody>
      </p:sp>
      <p:sp>
        <p:nvSpPr>
          <p:cNvPr id="22" name="TextBox 21">
            <a:extLst>
              <a:ext uri="{FF2B5EF4-FFF2-40B4-BE49-F238E27FC236}">
                <a16:creationId xmlns:a16="http://schemas.microsoft.com/office/drawing/2014/main" id="{192D183C-317D-F0BE-40F1-B9E5E25A48B7}"/>
              </a:ext>
            </a:extLst>
          </p:cNvPr>
          <p:cNvSpPr txBox="1"/>
          <p:nvPr/>
        </p:nvSpPr>
        <p:spPr>
          <a:xfrm>
            <a:off x="5673213" y="3727751"/>
            <a:ext cx="1602658" cy="523220"/>
          </a:xfrm>
          <a:prstGeom prst="rect">
            <a:avLst/>
          </a:prstGeom>
          <a:noFill/>
        </p:spPr>
        <p:txBody>
          <a:bodyPr wrap="square" rtlCol="0">
            <a:spAutoFit/>
          </a:bodyPr>
          <a:lstStyle/>
          <a:p>
            <a:r>
              <a:rPr lang="el-GR" sz="1400" dirty="0"/>
              <a:t>Εισαγωγής νέων προϊόντων </a:t>
            </a:r>
          </a:p>
        </p:txBody>
      </p:sp>
      <p:sp>
        <p:nvSpPr>
          <p:cNvPr id="23" name="TextBox 22">
            <a:extLst>
              <a:ext uri="{FF2B5EF4-FFF2-40B4-BE49-F238E27FC236}">
                <a16:creationId xmlns:a16="http://schemas.microsoft.com/office/drawing/2014/main" id="{D87D7412-41C5-0E8B-9016-130F23DB0904}"/>
              </a:ext>
            </a:extLst>
          </p:cNvPr>
          <p:cNvSpPr txBox="1"/>
          <p:nvPr/>
        </p:nvSpPr>
        <p:spPr>
          <a:xfrm>
            <a:off x="7643431" y="3716357"/>
            <a:ext cx="2072372" cy="523220"/>
          </a:xfrm>
          <a:prstGeom prst="rect">
            <a:avLst/>
          </a:prstGeom>
          <a:noFill/>
        </p:spPr>
        <p:txBody>
          <a:bodyPr wrap="square" rtlCol="0">
            <a:spAutoFit/>
          </a:bodyPr>
          <a:lstStyle/>
          <a:p>
            <a:r>
              <a:rPr lang="el-GR" sz="1400" dirty="0"/>
              <a:t>Βελτίωσης των γραμμών παραγωγής</a:t>
            </a:r>
          </a:p>
        </p:txBody>
      </p:sp>
      <p:sp>
        <p:nvSpPr>
          <p:cNvPr id="24" name="TextBox 23">
            <a:extLst>
              <a:ext uri="{FF2B5EF4-FFF2-40B4-BE49-F238E27FC236}">
                <a16:creationId xmlns:a16="http://schemas.microsoft.com/office/drawing/2014/main" id="{0CD0A047-6602-B289-3B6B-2C64139324C6}"/>
              </a:ext>
            </a:extLst>
          </p:cNvPr>
          <p:cNvSpPr txBox="1"/>
          <p:nvPr/>
        </p:nvSpPr>
        <p:spPr>
          <a:xfrm>
            <a:off x="9908617" y="3690276"/>
            <a:ext cx="2072372" cy="523220"/>
          </a:xfrm>
          <a:prstGeom prst="rect">
            <a:avLst/>
          </a:prstGeom>
          <a:noFill/>
        </p:spPr>
        <p:txBody>
          <a:bodyPr wrap="square" rtlCol="0">
            <a:spAutoFit/>
          </a:bodyPr>
          <a:lstStyle/>
          <a:p>
            <a:r>
              <a:rPr lang="el-GR" sz="1400" dirty="0"/>
              <a:t>Ανάπτυξης βιώσιμων πρακτικών παραγωγής </a:t>
            </a:r>
          </a:p>
        </p:txBody>
      </p:sp>
      <p:sp>
        <p:nvSpPr>
          <p:cNvPr id="28" name="TextBox 27">
            <a:extLst>
              <a:ext uri="{FF2B5EF4-FFF2-40B4-BE49-F238E27FC236}">
                <a16:creationId xmlns:a16="http://schemas.microsoft.com/office/drawing/2014/main" id="{AEE92C86-6637-1457-5AC3-0228871A686E}"/>
              </a:ext>
            </a:extLst>
          </p:cNvPr>
          <p:cNvSpPr txBox="1"/>
          <p:nvPr/>
        </p:nvSpPr>
        <p:spPr>
          <a:xfrm>
            <a:off x="5673213" y="4420131"/>
            <a:ext cx="5722374" cy="307777"/>
          </a:xfrm>
          <a:prstGeom prst="rect">
            <a:avLst/>
          </a:prstGeom>
          <a:noFill/>
        </p:spPr>
        <p:txBody>
          <a:bodyPr wrap="square" rtlCol="0">
            <a:spAutoFit/>
          </a:bodyPr>
          <a:lstStyle/>
          <a:p>
            <a:pPr algn="ctr"/>
            <a:r>
              <a:rPr lang="en-US" sz="1400" b="1" dirty="0"/>
              <a:t>3</a:t>
            </a:r>
            <a:r>
              <a:rPr lang="el-GR" sz="1400" b="1" dirty="0"/>
              <a:t>.</a:t>
            </a:r>
            <a:r>
              <a:rPr lang="en-US" sz="1400" b="1" dirty="0"/>
              <a:t> </a:t>
            </a:r>
            <a:r>
              <a:rPr lang="el-GR" sz="1400" b="1" dirty="0"/>
              <a:t>Έμφαση προστασία του περιβάλλοντος :</a:t>
            </a:r>
          </a:p>
        </p:txBody>
      </p:sp>
      <p:pic>
        <p:nvPicPr>
          <p:cNvPr id="30" name="Picture 29" descr="A field of flowers with windmills">
            <a:extLst>
              <a:ext uri="{FF2B5EF4-FFF2-40B4-BE49-F238E27FC236}">
                <a16:creationId xmlns:a16="http://schemas.microsoft.com/office/drawing/2014/main" id="{91E24CD2-96F3-8008-4EF4-DDFDE82AE8B8}"/>
              </a:ext>
            </a:extLst>
          </p:cNvPr>
          <p:cNvPicPr>
            <a:picLocks noChangeAspect="1"/>
          </p:cNvPicPr>
          <p:nvPr/>
        </p:nvPicPr>
        <p:blipFill>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tretch>
            <a:fillRect/>
          </a:stretch>
        </p:blipFill>
        <p:spPr>
          <a:xfrm>
            <a:off x="5824814" y="5193567"/>
            <a:ext cx="1800919" cy="1014202"/>
          </a:xfrm>
          <a:prstGeom prst="rect">
            <a:avLst/>
          </a:prstGeom>
        </p:spPr>
      </p:pic>
      <p:sp>
        <p:nvSpPr>
          <p:cNvPr id="32" name="TextBox 31">
            <a:extLst>
              <a:ext uri="{FF2B5EF4-FFF2-40B4-BE49-F238E27FC236}">
                <a16:creationId xmlns:a16="http://schemas.microsoft.com/office/drawing/2014/main" id="{36B4395F-71E9-0689-CBF8-C04F7E085FA5}"/>
              </a:ext>
            </a:extLst>
          </p:cNvPr>
          <p:cNvSpPr txBox="1"/>
          <p:nvPr/>
        </p:nvSpPr>
        <p:spPr>
          <a:xfrm>
            <a:off x="5711426" y="4690165"/>
            <a:ext cx="2204661" cy="523220"/>
          </a:xfrm>
          <a:prstGeom prst="rect">
            <a:avLst/>
          </a:prstGeom>
          <a:noFill/>
        </p:spPr>
        <p:txBody>
          <a:bodyPr wrap="square" rtlCol="0">
            <a:spAutoFit/>
          </a:bodyPr>
          <a:lstStyle/>
          <a:p>
            <a:r>
              <a:rPr lang="el-GR" sz="1400" dirty="0"/>
              <a:t>Ανανεώσιμοι ενεργειακοί πόροι</a:t>
            </a:r>
          </a:p>
        </p:txBody>
      </p:sp>
      <p:sp>
        <p:nvSpPr>
          <p:cNvPr id="33" name="TextBox 32">
            <a:extLst>
              <a:ext uri="{FF2B5EF4-FFF2-40B4-BE49-F238E27FC236}">
                <a16:creationId xmlns:a16="http://schemas.microsoft.com/office/drawing/2014/main" id="{C2FB879A-DB51-D099-1FC5-B19F6EF65E77}"/>
              </a:ext>
            </a:extLst>
          </p:cNvPr>
          <p:cNvSpPr txBox="1"/>
          <p:nvPr/>
        </p:nvSpPr>
        <p:spPr>
          <a:xfrm>
            <a:off x="8110128" y="4715398"/>
            <a:ext cx="1859414" cy="523220"/>
          </a:xfrm>
          <a:prstGeom prst="rect">
            <a:avLst/>
          </a:prstGeom>
          <a:noFill/>
        </p:spPr>
        <p:txBody>
          <a:bodyPr wrap="square" rtlCol="0">
            <a:spAutoFit/>
          </a:bodyPr>
          <a:lstStyle/>
          <a:p>
            <a:r>
              <a:rPr lang="el-GR" sz="1400" dirty="0"/>
              <a:t>Περιορισμός  χρήσης πλαστικού </a:t>
            </a:r>
          </a:p>
        </p:txBody>
      </p:sp>
      <p:pic>
        <p:nvPicPr>
          <p:cNvPr id="38" name="Picture 37" descr="A group of empty plastic bottles">
            <a:extLst>
              <a:ext uri="{FF2B5EF4-FFF2-40B4-BE49-F238E27FC236}">
                <a16:creationId xmlns:a16="http://schemas.microsoft.com/office/drawing/2014/main" id="{676EDA88-573D-AAB0-8872-D7D1086BB66A}"/>
              </a:ext>
            </a:extLst>
          </p:cNvPr>
          <p:cNvPicPr>
            <a:picLocks noChangeAspect="1"/>
          </p:cNvPicPr>
          <p:nvPr/>
        </p:nvPicPr>
        <p:blipFill>
          <a:blip r:embed="rId7">
            <a:extLst>
              <a:ext uri="{28A0092B-C50C-407E-A947-70E740481C1C}">
                <a14:useLocalDpi xmlns:a14="http://schemas.microsoft.com/office/drawing/2010/main" val="0"/>
              </a:ext>
              <a:ext uri="{837473B0-CC2E-450A-ABE3-18F120FF3D39}">
                <a1611:picAttrSrcUrl xmlns:a1611="http://schemas.microsoft.com/office/drawing/2016/11/main" r:id="rId8"/>
              </a:ext>
            </a:extLst>
          </a:blip>
          <a:stretch>
            <a:fillRect/>
          </a:stretch>
        </p:blipFill>
        <p:spPr>
          <a:xfrm>
            <a:off x="7778586" y="5164099"/>
            <a:ext cx="2130031" cy="1439384"/>
          </a:xfrm>
          <a:prstGeom prst="rect">
            <a:avLst/>
          </a:prstGeom>
        </p:spPr>
      </p:pic>
      <p:sp>
        <p:nvSpPr>
          <p:cNvPr id="36" name="Multiplication Sign 35">
            <a:extLst>
              <a:ext uri="{FF2B5EF4-FFF2-40B4-BE49-F238E27FC236}">
                <a16:creationId xmlns:a16="http://schemas.microsoft.com/office/drawing/2014/main" id="{524D07FC-7B20-59ED-9A5F-4BBADEC07F01}"/>
              </a:ext>
            </a:extLst>
          </p:cNvPr>
          <p:cNvSpPr/>
          <p:nvPr/>
        </p:nvSpPr>
        <p:spPr>
          <a:xfrm>
            <a:off x="8050573" y="5164098"/>
            <a:ext cx="1665230" cy="1511745"/>
          </a:xfrm>
          <a:prstGeom prst="mathMultiply">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40" name="TextBox 39">
            <a:extLst>
              <a:ext uri="{FF2B5EF4-FFF2-40B4-BE49-F238E27FC236}">
                <a16:creationId xmlns:a16="http://schemas.microsoft.com/office/drawing/2014/main" id="{4225254F-146F-A3D8-825E-E238CB693035}"/>
              </a:ext>
            </a:extLst>
          </p:cNvPr>
          <p:cNvSpPr txBox="1"/>
          <p:nvPr/>
        </p:nvSpPr>
        <p:spPr>
          <a:xfrm>
            <a:off x="10043103" y="4690165"/>
            <a:ext cx="1859414" cy="307777"/>
          </a:xfrm>
          <a:prstGeom prst="rect">
            <a:avLst/>
          </a:prstGeom>
          <a:noFill/>
        </p:spPr>
        <p:txBody>
          <a:bodyPr wrap="square" rtlCol="0">
            <a:spAutoFit/>
          </a:bodyPr>
          <a:lstStyle/>
          <a:p>
            <a:r>
              <a:rPr lang="el-GR" sz="1400" dirty="0"/>
              <a:t>Μείωση αποβλήτων</a:t>
            </a:r>
          </a:p>
        </p:txBody>
      </p:sp>
      <p:pic>
        <p:nvPicPr>
          <p:cNvPr id="2" name="Picture 2" descr="Επικίνδυνα τοξικά απόβλητα - Recyle Greece Tserkezidis">
            <a:extLst>
              <a:ext uri="{FF2B5EF4-FFF2-40B4-BE49-F238E27FC236}">
                <a16:creationId xmlns:a16="http://schemas.microsoft.com/office/drawing/2014/main" id="{D4796448-2374-9190-771B-138447ED21FF}"/>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882059" y="5148649"/>
            <a:ext cx="2125488" cy="1491014"/>
          </a:xfrm>
          <a:prstGeom prst="rect">
            <a:avLst/>
          </a:prstGeom>
          <a:noFill/>
          <a:extLst>
            <a:ext uri="{909E8E84-426E-40DD-AFC4-6F175D3DCCD1}">
              <a14:hiddenFill xmlns:a14="http://schemas.microsoft.com/office/drawing/2010/main">
                <a:solidFill>
                  <a:srgbClr val="FFFFFF"/>
                </a:solidFill>
              </a14:hiddenFill>
            </a:ext>
          </a:extLst>
        </p:spPr>
      </p:pic>
      <p:sp>
        <p:nvSpPr>
          <p:cNvPr id="4" name="Multiplication Sign 3">
            <a:extLst>
              <a:ext uri="{FF2B5EF4-FFF2-40B4-BE49-F238E27FC236}">
                <a16:creationId xmlns:a16="http://schemas.microsoft.com/office/drawing/2014/main" id="{64960925-64F3-B34D-A670-025BDFA99350}"/>
              </a:ext>
            </a:extLst>
          </p:cNvPr>
          <p:cNvSpPr/>
          <p:nvPr/>
        </p:nvSpPr>
        <p:spPr>
          <a:xfrm>
            <a:off x="9882059" y="5023175"/>
            <a:ext cx="2125488" cy="1747361"/>
          </a:xfrm>
          <a:prstGeom prst="mathMultiply">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l-GR"/>
          </a:p>
        </p:txBody>
      </p:sp>
    </p:spTree>
    <p:extLst>
      <p:ext uri="{BB962C8B-B14F-4D97-AF65-F5344CB8AC3E}">
        <p14:creationId xmlns:p14="http://schemas.microsoft.com/office/powerpoint/2010/main" val="74289280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down)">
                                      <p:cBhvr>
                                        <p:cTn id="11" dur="500"/>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grpId="0" nodeType="clickEffect">
                                  <p:stCondLst>
                                    <p:cond delay="0"/>
                                  </p:stCondLst>
                                  <p:childTnLst>
                                    <p:set>
                                      <p:cBhvr>
                                        <p:cTn id="15" dur="1" fill="hold">
                                          <p:stCondLst>
                                            <p:cond delay="0"/>
                                          </p:stCondLst>
                                        </p:cTn>
                                        <p:tgtEl>
                                          <p:spTgt spid="10"/>
                                        </p:tgtEl>
                                        <p:attrNameLst>
                                          <p:attrName>style.visibility</p:attrName>
                                        </p:attrNameLst>
                                      </p:cBhvr>
                                      <p:to>
                                        <p:strVal val="visible"/>
                                      </p:to>
                                    </p:set>
                                    <p:anim calcmode="lin" valueType="num">
                                      <p:cBhvr additive="base">
                                        <p:cTn id="16" dur="500" fill="hold"/>
                                        <p:tgtEl>
                                          <p:spTgt spid="10"/>
                                        </p:tgtEl>
                                        <p:attrNameLst>
                                          <p:attrName>ppt_x</p:attrName>
                                        </p:attrNameLst>
                                      </p:cBhvr>
                                      <p:tavLst>
                                        <p:tav tm="0">
                                          <p:val>
                                            <p:strVal val="#ppt_x"/>
                                          </p:val>
                                        </p:tav>
                                        <p:tav tm="100000">
                                          <p:val>
                                            <p:strVal val="#ppt_x"/>
                                          </p:val>
                                        </p:tav>
                                      </p:tavLst>
                                    </p:anim>
                                    <p:anim calcmode="lin" valueType="num">
                                      <p:cBhvr additive="base">
                                        <p:cTn id="17" dur="500" fill="hold"/>
                                        <p:tgtEl>
                                          <p:spTgt spid="10"/>
                                        </p:tgtEl>
                                        <p:attrNameLst>
                                          <p:attrName>ppt_y</p:attrName>
                                        </p:attrNameLst>
                                      </p:cBhvr>
                                      <p:tavLst>
                                        <p:tav tm="0">
                                          <p:val>
                                            <p:strVal val="1+#ppt_h/2"/>
                                          </p:val>
                                        </p:tav>
                                        <p:tav tm="100000">
                                          <p:val>
                                            <p:strVal val="#ppt_y"/>
                                          </p:val>
                                        </p:tav>
                                      </p:tavLst>
                                    </p:anim>
                                  </p:childTnLst>
                                </p:cTn>
                              </p:par>
                              <p:par>
                                <p:cTn id="18" presetID="2" presetClass="entr" presetSubtype="4" fill="hold" nodeType="withEffect">
                                  <p:stCondLst>
                                    <p:cond delay="0"/>
                                  </p:stCondLst>
                                  <p:childTnLst>
                                    <p:set>
                                      <p:cBhvr>
                                        <p:cTn id="19" dur="1" fill="hold">
                                          <p:stCondLst>
                                            <p:cond delay="0"/>
                                          </p:stCondLst>
                                        </p:cTn>
                                        <p:tgtEl>
                                          <p:spTgt spid="1026"/>
                                        </p:tgtEl>
                                        <p:attrNameLst>
                                          <p:attrName>style.visibility</p:attrName>
                                        </p:attrNameLst>
                                      </p:cBhvr>
                                      <p:to>
                                        <p:strVal val="visible"/>
                                      </p:to>
                                    </p:set>
                                    <p:anim calcmode="lin" valueType="num">
                                      <p:cBhvr additive="base">
                                        <p:cTn id="20" dur="500" fill="hold"/>
                                        <p:tgtEl>
                                          <p:spTgt spid="1026"/>
                                        </p:tgtEl>
                                        <p:attrNameLst>
                                          <p:attrName>ppt_x</p:attrName>
                                        </p:attrNameLst>
                                      </p:cBhvr>
                                      <p:tavLst>
                                        <p:tav tm="0">
                                          <p:val>
                                            <p:strVal val="#ppt_x"/>
                                          </p:val>
                                        </p:tav>
                                        <p:tav tm="100000">
                                          <p:val>
                                            <p:strVal val="#ppt_x"/>
                                          </p:val>
                                        </p:tav>
                                      </p:tavLst>
                                    </p:anim>
                                    <p:anim calcmode="lin" valueType="num">
                                      <p:cBhvr additive="base">
                                        <p:cTn id="21" dur="500" fill="hold"/>
                                        <p:tgtEl>
                                          <p:spTgt spid="1026"/>
                                        </p:tgtEl>
                                        <p:attrNameLst>
                                          <p:attrName>ppt_y</p:attrName>
                                        </p:attrNameLst>
                                      </p:cBhvr>
                                      <p:tavLst>
                                        <p:tav tm="0">
                                          <p:val>
                                            <p:strVal val="1+#ppt_h/2"/>
                                          </p:val>
                                        </p:tav>
                                        <p:tav tm="100000">
                                          <p:val>
                                            <p:strVal val="#ppt_y"/>
                                          </p:val>
                                        </p:tav>
                                      </p:tavLst>
                                    </p:anim>
                                  </p:childTnLst>
                                </p:cTn>
                              </p:par>
                              <p:par>
                                <p:cTn id="22" presetID="2" presetClass="entr" presetSubtype="4" fill="hold" nodeType="withEffect">
                                  <p:stCondLst>
                                    <p:cond delay="0"/>
                                  </p:stCondLst>
                                  <p:childTnLst>
                                    <p:set>
                                      <p:cBhvr>
                                        <p:cTn id="23" dur="1" fill="hold">
                                          <p:stCondLst>
                                            <p:cond delay="0"/>
                                          </p:stCondLst>
                                        </p:cTn>
                                        <p:tgtEl>
                                          <p:spTgt spid="12"/>
                                        </p:tgtEl>
                                        <p:attrNameLst>
                                          <p:attrName>style.visibility</p:attrName>
                                        </p:attrNameLst>
                                      </p:cBhvr>
                                      <p:to>
                                        <p:strVal val="visible"/>
                                      </p:to>
                                    </p:set>
                                    <p:anim calcmode="lin" valueType="num">
                                      <p:cBhvr additive="base">
                                        <p:cTn id="24" dur="500" fill="hold"/>
                                        <p:tgtEl>
                                          <p:spTgt spid="12"/>
                                        </p:tgtEl>
                                        <p:attrNameLst>
                                          <p:attrName>ppt_x</p:attrName>
                                        </p:attrNameLst>
                                      </p:cBhvr>
                                      <p:tavLst>
                                        <p:tav tm="0">
                                          <p:val>
                                            <p:strVal val="#ppt_x"/>
                                          </p:val>
                                        </p:tav>
                                        <p:tav tm="100000">
                                          <p:val>
                                            <p:strVal val="#ppt_x"/>
                                          </p:val>
                                        </p:tav>
                                      </p:tavLst>
                                    </p:anim>
                                    <p:anim calcmode="lin" valueType="num">
                                      <p:cBhvr additive="base">
                                        <p:cTn id="25" dur="500" fill="hold"/>
                                        <p:tgtEl>
                                          <p:spTgt spid="12"/>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 calcmode="lin" valueType="num">
                                      <p:cBhvr additive="base">
                                        <p:cTn id="28" dur="500" fill="hold"/>
                                        <p:tgtEl>
                                          <p:spTgt spid="13"/>
                                        </p:tgtEl>
                                        <p:attrNameLst>
                                          <p:attrName>ppt_x</p:attrName>
                                        </p:attrNameLst>
                                      </p:cBhvr>
                                      <p:tavLst>
                                        <p:tav tm="0">
                                          <p:val>
                                            <p:strVal val="#ppt_x"/>
                                          </p:val>
                                        </p:tav>
                                        <p:tav tm="100000">
                                          <p:val>
                                            <p:strVal val="#ppt_x"/>
                                          </p:val>
                                        </p:tav>
                                      </p:tavLst>
                                    </p:anim>
                                    <p:anim calcmode="lin" valueType="num">
                                      <p:cBhvr additive="base">
                                        <p:cTn id="29" dur="500" fill="hold"/>
                                        <p:tgtEl>
                                          <p:spTgt spid="13"/>
                                        </p:tgtEl>
                                        <p:attrNameLst>
                                          <p:attrName>ppt_y</p:attrName>
                                        </p:attrNameLst>
                                      </p:cBhvr>
                                      <p:tavLst>
                                        <p:tav tm="0">
                                          <p:val>
                                            <p:strVal val="1+#ppt_h/2"/>
                                          </p:val>
                                        </p:tav>
                                        <p:tav tm="100000">
                                          <p:val>
                                            <p:strVal val="#ppt_y"/>
                                          </p:val>
                                        </p:tav>
                                      </p:tavLst>
                                    </p:anim>
                                  </p:childTnLst>
                                </p:cTn>
                              </p:par>
                              <p:par>
                                <p:cTn id="30" presetID="2" presetClass="entr" presetSubtype="4" fill="hold" nodeType="withEffect">
                                  <p:stCondLst>
                                    <p:cond delay="0"/>
                                  </p:stCondLst>
                                  <p:childTnLst>
                                    <p:set>
                                      <p:cBhvr>
                                        <p:cTn id="31" dur="1" fill="hold">
                                          <p:stCondLst>
                                            <p:cond delay="0"/>
                                          </p:stCondLst>
                                        </p:cTn>
                                        <p:tgtEl>
                                          <p:spTgt spid="16"/>
                                        </p:tgtEl>
                                        <p:attrNameLst>
                                          <p:attrName>style.visibility</p:attrName>
                                        </p:attrNameLst>
                                      </p:cBhvr>
                                      <p:to>
                                        <p:strVal val="visible"/>
                                      </p:to>
                                    </p:set>
                                    <p:anim calcmode="lin" valueType="num">
                                      <p:cBhvr additive="base">
                                        <p:cTn id="32" dur="500" fill="hold"/>
                                        <p:tgtEl>
                                          <p:spTgt spid="16"/>
                                        </p:tgtEl>
                                        <p:attrNameLst>
                                          <p:attrName>ppt_x</p:attrName>
                                        </p:attrNameLst>
                                      </p:cBhvr>
                                      <p:tavLst>
                                        <p:tav tm="0">
                                          <p:val>
                                            <p:strVal val="#ppt_x"/>
                                          </p:val>
                                        </p:tav>
                                        <p:tav tm="100000">
                                          <p:val>
                                            <p:strVal val="#ppt_x"/>
                                          </p:val>
                                        </p:tav>
                                      </p:tavLst>
                                    </p:anim>
                                    <p:anim calcmode="lin" valueType="num">
                                      <p:cBhvr additive="base">
                                        <p:cTn id="33" dur="500" fill="hold"/>
                                        <p:tgtEl>
                                          <p:spTgt spid="16"/>
                                        </p:tgtEl>
                                        <p:attrNameLst>
                                          <p:attrName>ppt_y</p:attrName>
                                        </p:attrNameLst>
                                      </p:cBhvr>
                                      <p:tavLst>
                                        <p:tav tm="0">
                                          <p:val>
                                            <p:strVal val="1+#ppt_h/2"/>
                                          </p:val>
                                        </p:tav>
                                        <p:tav tm="100000">
                                          <p:val>
                                            <p:strVal val="#ppt_y"/>
                                          </p:val>
                                        </p:tav>
                                      </p:tavLst>
                                    </p:anim>
                                  </p:childTnLst>
                                </p:cTn>
                              </p:par>
                              <p:par>
                                <p:cTn id="34" presetID="2" presetClass="entr" presetSubtype="4" fill="hold" grpId="0" nodeType="withEffect">
                                  <p:stCondLst>
                                    <p:cond delay="0"/>
                                  </p:stCondLst>
                                  <p:childTnLst>
                                    <p:set>
                                      <p:cBhvr>
                                        <p:cTn id="35" dur="1" fill="hold">
                                          <p:stCondLst>
                                            <p:cond delay="0"/>
                                          </p:stCondLst>
                                        </p:cTn>
                                        <p:tgtEl>
                                          <p:spTgt spid="18"/>
                                        </p:tgtEl>
                                        <p:attrNameLst>
                                          <p:attrName>style.visibility</p:attrName>
                                        </p:attrNameLst>
                                      </p:cBhvr>
                                      <p:to>
                                        <p:strVal val="visible"/>
                                      </p:to>
                                    </p:set>
                                    <p:anim calcmode="lin" valueType="num">
                                      <p:cBhvr additive="base">
                                        <p:cTn id="36" dur="500" fill="hold"/>
                                        <p:tgtEl>
                                          <p:spTgt spid="18"/>
                                        </p:tgtEl>
                                        <p:attrNameLst>
                                          <p:attrName>ppt_x</p:attrName>
                                        </p:attrNameLst>
                                      </p:cBhvr>
                                      <p:tavLst>
                                        <p:tav tm="0">
                                          <p:val>
                                            <p:strVal val="#ppt_x"/>
                                          </p:val>
                                        </p:tav>
                                        <p:tav tm="100000">
                                          <p:val>
                                            <p:strVal val="#ppt_x"/>
                                          </p:val>
                                        </p:tav>
                                      </p:tavLst>
                                    </p:anim>
                                    <p:anim calcmode="lin" valueType="num">
                                      <p:cBhvr additive="base">
                                        <p:cTn id="37"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grpId="0" nodeType="clickEffect">
                                  <p:stCondLst>
                                    <p:cond delay="0"/>
                                  </p:stCondLst>
                                  <p:childTnLst>
                                    <p:set>
                                      <p:cBhvr>
                                        <p:cTn id="41" dur="1" fill="hold">
                                          <p:stCondLst>
                                            <p:cond delay="0"/>
                                          </p:stCondLst>
                                        </p:cTn>
                                        <p:tgtEl>
                                          <p:spTgt spid="21"/>
                                        </p:tgtEl>
                                        <p:attrNameLst>
                                          <p:attrName>style.visibility</p:attrName>
                                        </p:attrNameLst>
                                      </p:cBhvr>
                                      <p:to>
                                        <p:strVal val="visible"/>
                                      </p:to>
                                    </p:set>
                                    <p:anim calcmode="lin" valueType="num">
                                      <p:cBhvr additive="base">
                                        <p:cTn id="42" dur="500" fill="hold"/>
                                        <p:tgtEl>
                                          <p:spTgt spid="21"/>
                                        </p:tgtEl>
                                        <p:attrNameLst>
                                          <p:attrName>ppt_x</p:attrName>
                                        </p:attrNameLst>
                                      </p:cBhvr>
                                      <p:tavLst>
                                        <p:tav tm="0">
                                          <p:val>
                                            <p:strVal val="#ppt_x"/>
                                          </p:val>
                                        </p:tav>
                                        <p:tav tm="100000">
                                          <p:val>
                                            <p:strVal val="#ppt_x"/>
                                          </p:val>
                                        </p:tav>
                                      </p:tavLst>
                                    </p:anim>
                                    <p:anim calcmode="lin" valueType="num">
                                      <p:cBhvr additive="base">
                                        <p:cTn id="43"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53" presetClass="entr" presetSubtype="16" fill="hold" grpId="0" nodeType="clickEffect">
                                  <p:stCondLst>
                                    <p:cond delay="0"/>
                                  </p:stCondLst>
                                  <p:childTnLst>
                                    <p:set>
                                      <p:cBhvr>
                                        <p:cTn id="47" dur="1" fill="hold">
                                          <p:stCondLst>
                                            <p:cond delay="0"/>
                                          </p:stCondLst>
                                        </p:cTn>
                                        <p:tgtEl>
                                          <p:spTgt spid="22"/>
                                        </p:tgtEl>
                                        <p:attrNameLst>
                                          <p:attrName>style.visibility</p:attrName>
                                        </p:attrNameLst>
                                      </p:cBhvr>
                                      <p:to>
                                        <p:strVal val="visible"/>
                                      </p:to>
                                    </p:set>
                                    <p:anim calcmode="lin" valueType="num">
                                      <p:cBhvr>
                                        <p:cTn id="48" dur="500" fill="hold"/>
                                        <p:tgtEl>
                                          <p:spTgt spid="22"/>
                                        </p:tgtEl>
                                        <p:attrNameLst>
                                          <p:attrName>ppt_w</p:attrName>
                                        </p:attrNameLst>
                                      </p:cBhvr>
                                      <p:tavLst>
                                        <p:tav tm="0">
                                          <p:val>
                                            <p:fltVal val="0"/>
                                          </p:val>
                                        </p:tav>
                                        <p:tav tm="100000">
                                          <p:val>
                                            <p:strVal val="#ppt_w"/>
                                          </p:val>
                                        </p:tav>
                                      </p:tavLst>
                                    </p:anim>
                                    <p:anim calcmode="lin" valueType="num">
                                      <p:cBhvr>
                                        <p:cTn id="49" dur="500" fill="hold"/>
                                        <p:tgtEl>
                                          <p:spTgt spid="22"/>
                                        </p:tgtEl>
                                        <p:attrNameLst>
                                          <p:attrName>ppt_h</p:attrName>
                                        </p:attrNameLst>
                                      </p:cBhvr>
                                      <p:tavLst>
                                        <p:tav tm="0">
                                          <p:val>
                                            <p:fltVal val="0"/>
                                          </p:val>
                                        </p:tav>
                                        <p:tav tm="100000">
                                          <p:val>
                                            <p:strVal val="#ppt_h"/>
                                          </p:val>
                                        </p:tav>
                                      </p:tavLst>
                                    </p:anim>
                                    <p:animEffect transition="in" filter="fade">
                                      <p:cBhvr>
                                        <p:cTn id="50" dur="500"/>
                                        <p:tgtEl>
                                          <p:spTgt spid="22"/>
                                        </p:tgtEl>
                                      </p:cBhvr>
                                    </p:animEffect>
                                  </p:childTnLst>
                                </p:cTn>
                              </p:par>
                            </p:childTnLst>
                          </p:cTn>
                        </p:par>
                      </p:childTnLst>
                    </p:cTn>
                  </p:par>
                  <p:par>
                    <p:cTn id="51" fill="hold">
                      <p:stCondLst>
                        <p:cond delay="indefinite"/>
                      </p:stCondLst>
                      <p:childTnLst>
                        <p:par>
                          <p:cTn id="52" fill="hold">
                            <p:stCondLst>
                              <p:cond delay="0"/>
                            </p:stCondLst>
                            <p:childTnLst>
                              <p:par>
                                <p:cTn id="53" presetID="53" presetClass="entr" presetSubtype="16" fill="hold" grpId="0" nodeType="clickEffect">
                                  <p:stCondLst>
                                    <p:cond delay="0"/>
                                  </p:stCondLst>
                                  <p:childTnLst>
                                    <p:set>
                                      <p:cBhvr>
                                        <p:cTn id="54" dur="1" fill="hold">
                                          <p:stCondLst>
                                            <p:cond delay="0"/>
                                          </p:stCondLst>
                                        </p:cTn>
                                        <p:tgtEl>
                                          <p:spTgt spid="23"/>
                                        </p:tgtEl>
                                        <p:attrNameLst>
                                          <p:attrName>style.visibility</p:attrName>
                                        </p:attrNameLst>
                                      </p:cBhvr>
                                      <p:to>
                                        <p:strVal val="visible"/>
                                      </p:to>
                                    </p:set>
                                    <p:anim calcmode="lin" valueType="num">
                                      <p:cBhvr>
                                        <p:cTn id="55" dur="500" fill="hold"/>
                                        <p:tgtEl>
                                          <p:spTgt spid="23"/>
                                        </p:tgtEl>
                                        <p:attrNameLst>
                                          <p:attrName>ppt_w</p:attrName>
                                        </p:attrNameLst>
                                      </p:cBhvr>
                                      <p:tavLst>
                                        <p:tav tm="0">
                                          <p:val>
                                            <p:fltVal val="0"/>
                                          </p:val>
                                        </p:tav>
                                        <p:tav tm="100000">
                                          <p:val>
                                            <p:strVal val="#ppt_w"/>
                                          </p:val>
                                        </p:tav>
                                      </p:tavLst>
                                    </p:anim>
                                    <p:anim calcmode="lin" valueType="num">
                                      <p:cBhvr>
                                        <p:cTn id="56" dur="500" fill="hold"/>
                                        <p:tgtEl>
                                          <p:spTgt spid="23"/>
                                        </p:tgtEl>
                                        <p:attrNameLst>
                                          <p:attrName>ppt_h</p:attrName>
                                        </p:attrNameLst>
                                      </p:cBhvr>
                                      <p:tavLst>
                                        <p:tav tm="0">
                                          <p:val>
                                            <p:fltVal val="0"/>
                                          </p:val>
                                        </p:tav>
                                        <p:tav tm="100000">
                                          <p:val>
                                            <p:strVal val="#ppt_h"/>
                                          </p:val>
                                        </p:tav>
                                      </p:tavLst>
                                    </p:anim>
                                    <p:animEffect transition="in" filter="fade">
                                      <p:cBhvr>
                                        <p:cTn id="57" dur="500"/>
                                        <p:tgtEl>
                                          <p:spTgt spid="23"/>
                                        </p:tgtEl>
                                      </p:cBhvr>
                                    </p:animEffect>
                                  </p:childTnLst>
                                </p:cTn>
                              </p:par>
                            </p:childTnLst>
                          </p:cTn>
                        </p:par>
                      </p:childTnLst>
                    </p:cTn>
                  </p:par>
                  <p:par>
                    <p:cTn id="58" fill="hold">
                      <p:stCondLst>
                        <p:cond delay="indefinite"/>
                      </p:stCondLst>
                      <p:childTnLst>
                        <p:par>
                          <p:cTn id="59" fill="hold">
                            <p:stCondLst>
                              <p:cond delay="0"/>
                            </p:stCondLst>
                            <p:childTnLst>
                              <p:par>
                                <p:cTn id="60" presetID="53" presetClass="entr" presetSubtype="16" fill="hold" grpId="0" nodeType="clickEffect">
                                  <p:stCondLst>
                                    <p:cond delay="0"/>
                                  </p:stCondLst>
                                  <p:childTnLst>
                                    <p:set>
                                      <p:cBhvr>
                                        <p:cTn id="61" dur="1" fill="hold">
                                          <p:stCondLst>
                                            <p:cond delay="0"/>
                                          </p:stCondLst>
                                        </p:cTn>
                                        <p:tgtEl>
                                          <p:spTgt spid="24"/>
                                        </p:tgtEl>
                                        <p:attrNameLst>
                                          <p:attrName>style.visibility</p:attrName>
                                        </p:attrNameLst>
                                      </p:cBhvr>
                                      <p:to>
                                        <p:strVal val="visible"/>
                                      </p:to>
                                    </p:set>
                                    <p:anim calcmode="lin" valueType="num">
                                      <p:cBhvr>
                                        <p:cTn id="62" dur="500" fill="hold"/>
                                        <p:tgtEl>
                                          <p:spTgt spid="24"/>
                                        </p:tgtEl>
                                        <p:attrNameLst>
                                          <p:attrName>ppt_w</p:attrName>
                                        </p:attrNameLst>
                                      </p:cBhvr>
                                      <p:tavLst>
                                        <p:tav tm="0">
                                          <p:val>
                                            <p:fltVal val="0"/>
                                          </p:val>
                                        </p:tav>
                                        <p:tav tm="100000">
                                          <p:val>
                                            <p:strVal val="#ppt_w"/>
                                          </p:val>
                                        </p:tav>
                                      </p:tavLst>
                                    </p:anim>
                                    <p:anim calcmode="lin" valueType="num">
                                      <p:cBhvr>
                                        <p:cTn id="63" dur="500" fill="hold"/>
                                        <p:tgtEl>
                                          <p:spTgt spid="24"/>
                                        </p:tgtEl>
                                        <p:attrNameLst>
                                          <p:attrName>ppt_h</p:attrName>
                                        </p:attrNameLst>
                                      </p:cBhvr>
                                      <p:tavLst>
                                        <p:tav tm="0">
                                          <p:val>
                                            <p:fltVal val="0"/>
                                          </p:val>
                                        </p:tav>
                                        <p:tav tm="100000">
                                          <p:val>
                                            <p:strVal val="#ppt_h"/>
                                          </p:val>
                                        </p:tav>
                                      </p:tavLst>
                                    </p:anim>
                                    <p:animEffect transition="in" filter="fade">
                                      <p:cBhvr>
                                        <p:cTn id="64" dur="500"/>
                                        <p:tgtEl>
                                          <p:spTgt spid="24"/>
                                        </p:tgtEl>
                                      </p:cBhvr>
                                    </p:animEffect>
                                  </p:childTnLst>
                                </p:cTn>
                              </p:par>
                            </p:childTnLst>
                          </p:cTn>
                        </p:par>
                      </p:childTnLst>
                    </p:cTn>
                  </p:par>
                  <p:par>
                    <p:cTn id="65" fill="hold">
                      <p:stCondLst>
                        <p:cond delay="indefinite"/>
                      </p:stCondLst>
                      <p:childTnLst>
                        <p:par>
                          <p:cTn id="66" fill="hold">
                            <p:stCondLst>
                              <p:cond delay="0"/>
                            </p:stCondLst>
                            <p:childTnLst>
                              <p:par>
                                <p:cTn id="67" presetID="2" presetClass="entr" presetSubtype="4" fill="hold" grpId="0" nodeType="clickEffect">
                                  <p:stCondLst>
                                    <p:cond delay="0"/>
                                  </p:stCondLst>
                                  <p:childTnLst>
                                    <p:set>
                                      <p:cBhvr>
                                        <p:cTn id="68" dur="1" fill="hold">
                                          <p:stCondLst>
                                            <p:cond delay="0"/>
                                          </p:stCondLst>
                                        </p:cTn>
                                        <p:tgtEl>
                                          <p:spTgt spid="28"/>
                                        </p:tgtEl>
                                        <p:attrNameLst>
                                          <p:attrName>style.visibility</p:attrName>
                                        </p:attrNameLst>
                                      </p:cBhvr>
                                      <p:to>
                                        <p:strVal val="visible"/>
                                      </p:to>
                                    </p:set>
                                    <p:anim calcmode="lin" valueType="num">
                                      <p:cBhvr additive="base">
                                        <p:cTn id="69" dur="500" fill="hold"/>
                                        <p:tgtEl>
                                          <p:spTgt spid="28"/>
                                        </p:tgtEl>
                                        <p:attrNameLst>
                                          <p:attrName>ppt_x</p:attrName>
                                        </p:attrNameLst>
                                      </p:cBhvr>
                                      <p:tavLst>
                                        <p:tav tm="0">
                                          <p:val>
                                            <p:strVal val="#ppt_x"/>
                                          </p:val>
                                        </p:tav>
                                        <p:tav tm="100000">
                                          <p:val>
                                            <p:strVal val="#ppt_x"/>
                                          </p:val>
                                        </p:tav>
                                      </p:tavLst>
                                    </p:anim>
                                    <p:anim calcmode="lin" valueType="num">
                                      <p:cBhvr additive="base">
                                        <p:cTn id="70"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2" presetClass="entr" presetSubtype="4" fill="hold" nodeType="clickEffect">
                                  <p:stCondLst>
                                    <p:cond delay="0"/>
                                  </p:stCondLst>
                                  <p:childTnLst>
                                    <p:set>
                                      <p:cBhvr>
                                        <p:cTn id="74" dur="1" fill="hold">
                                          <p:stCondLst>
                                            <p:cond delay="0"/>
                                          </p:stCondLst>
                                        </p:cTn>
                                        <p:tgtEl>
                                          <p:spTgt spid="30"/>
                                        </p:tgtEl>
                                        <p:attrNameLst>
                                          <p:attrName>style.visibility</p:attrName>
                                        </p:attrNameLst>
                                      </p:cBhvr>
                                      <p:to>
                                        <p:strVal val="visible"/>
                                      </p:to>
                                    </p:set>
                                    <p:anim calcmode="lin" valueType="num">
                                      <p:cBhvr additive="base">
                                        <p:cTn id="75" dur="500" fill="hold"/>
                                        <p:tgtEl>
                                          <p:spTgt spid="30"/>
                                        </p:tgtEl>
                                        <p:attrNameLst>
                                          <p:attrName>ppt_x</p:attrName>
                                        </p:attrNameLst>
                                      </p:cBhvr>
                                      <p:tavLst>
                                        <p:tav tm="0">
                                          <p:val>
                                            <p:strVal val="#ppt_x"/>
                                          </p:val>
                                        </p:tav>
                                        <p:tav tm="100000">
                                          <p:val>
                                            <p:strVal val="#ppt_x"/>
                                          </p:val>
                                        </p:tav>
                                      </p:tavLst>
                                    </p:anim>
                                    <p:anim calcmode="lin" valueType="num">
                                      <p:cBhvr additive="base">
                                        <p:cTn id="76" dur="500" fill="hold"/>
                                        <p:tgtEl>
                                          <p:spTgt spid="30"/>
                                        </p:tgtEl>
                                        <p:attrNameLst>
                                          <p:attrName>ppt_y</p:attrName>
                                        </p:attrNameLst>
                                      </p:cBhvr>
                                      <p:tavLst>
                                        <p:tav tm="0">
                                          <p:val>
                                            <p:strVal val="1+#ppt_h/2"/>
                                          </p:val>
                                        </p:tav>
                                        <p:tav tm="100000">
                                          <p:val>
                                            <p:strVal val="#ppt_y"/>
                                          </p:val>
                                        </p:tav>
                                      </p:tavLst>
                                    </p:anim>
                                  </p:childTnLst>
                                </p:cTn>
                              </p:par>
                              <p:par>
                                <p:cTn id="77" presetID="2" presetClass="entr" presetSubtype="4" fill="hold" grpId="0" nodeType="withEffect">
                                  <p:stCondLst>
                                    <p:cond delay="0"/>
                                  </p:stCondLst>
                                  <p:childTnLst>
                                    <p:set>
                                      <p:cBhvr>
                                        <p:cTn id="78" dur="1" fill="hold">
                                          <p:stCondLst>
                                            <p:cond delay="0"/>
                                          </p:stCondLst>
                                        </p:cTn>
                                        <p:tgtEl>
                                          <p:spTgt spid="32"/>
                                        </p:tgtEl>
                                        <p:attrNameLst>
                                          <p:attrName>style.visibility</p:attrName>
                                        </p:attrNameLst>
                                      </p:cBhvr>
                                      <p:to>
                                        <p:strVal val="visible"/>
                                      </p:to>
                                    </p:set>
                                    <p:anim calcmode="lin" valueType="num">
                                      <p:cBhvr additive="base">
                                        <p:cTn id="79" dur="500" fill="hold"/>
                                        <p:tgtEl>
                                          <p:spTgt spid="32"/>
                                        </p:tgtEl>
                                        <p:attrNameLst>
                                          <p:attrName>ppt_x</p:attrName>
                                        </p:attrNameLst>
                                      </p:cBhvr>
                                      <p:tavLst>
                                        <p:tav tm="0">
                                          <p:val>
                                            <p:strVal val="#ppt_x"/>
                                          </p:val>
                                        </p:tav>
                                        <p:tav tm="100000">
                                          <p:val>
                                            <p:strVal val="#ppt_x"/>
                                          </p:val>
                                        </p:tav>
                                      </p:tavLst>
                                    </p:anim>
                                    <p:anim calcmode="lin" valueType="num">
                                      <p:cBhvr additive="base">
                                        <p:cTn id="80"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grpId="0" nodeType="clickEffect">
                                  <p:stCondLst>
                                    <p:cond delay="0"/>
                                  </p:stCondLst>
                                  <p:childTnLst>
                                    <p:set>
                                      <p:cBhvr>
                                        <p:cTn id="84" dur="1" fill="hold">
                                          <p:stCondLst>
                                            <p:cond delay="0"/>
                                          </p:stCondLst>
                                        </p:cTn>
                                        <p:tgtEl>
                                          <p:spTgt spid="33"/>
                                        </p:tgtEl>
                                        <p:attrNameLst>
                                          <p:attrName>style.visibility</p:attrName>
                                        </p:attrNameLst>
                                      </p:cBhvr>
                                      <p:to>
                                        <p:strVal val="visible"/>
                                      </p:to>
                                    </p:set>
                                    <p:anim calcmode="lin" valueType="num">
                                      <p:cBhvr additive="base">
                                        <p:cTn id="85" dur="500" fill="hold"/>
                                        <p:tgtEl>
                                          <p:spTgt spid="33"/>
                                        </p:tgtEl>
                                        <p:attrNameLst>
                                          <p:attrName>ppt_x</p:attrName>
                                        </p:attrNameLst>
                                      </p:cBhvr>
                                      <p:tavLst>
                                        <p:tav tm="0">
                                          <p:val>
                                            <p:strVal val="#ppt_x"/>
                                          </p:val>
                                        </p:tav>
                                        <p:tav tm="100000">
                                          <p:val>
                                            <p:strVal val="#ppt_x"/>
                                          </p:val>
                                        </p:tav>
                                      </p:tavLst>
                                    </p:anim>
                                    <p:anim calcmode="lin" valueType="num">
                                      <p:cBhvr additive="base">
                                        <p:cTn id="86"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nodeType="clickEffect">
                                  <p:stCondLst>
                                    <p:cond delay="0"/>
                                  </p:stCondLst>
                                  <p:childTnLst>
                                    <p:set>
                                      <p:cBhvr>
                                        <p:cTn id="90" dur="1" fill="hold">
                                          <p:stCondLst>
                                            <p:cond delay="0"/>
                                          </p:stCondLst>
                                        </p:cTn>
                                        <p:tgtEl>
                                          <p:spTgt spid="38"/>
                                        </p:tgtEl>
                                        <p:attrNameLst>
                                          <p:attrName>style.visibility</p:attrName>
                                        </p:attrNameLst>
                                      </p:cBhvr>
                                      <p:to>
                                        <p:strVal val="visible"/>
                                      </p:to>
                                    </p:set>
                                    <p:anim calcmode="lin" valueType="num">
                                      <p:cBhvr additive="base">
                                        <p:cTn id="91" dur="500" fill="hold"/>
                                        <p:tgtEl>
                                          <p:spTgt spid="38"/>
                                        </p:tgtEl>
                                        <p:attrNameLst>
                                          <p:attrName>ppt_x</p:attrName>
                                        </p:attrNameLst>
                                      </p:cBhvr>
                                      <p:tavLst>
                                        <p:tav tm="0">
                                          <p:val>
                                            <p:strVal val="#ppt_x"/>
                                          </p:val>
                                        </p:tav>
                                        <p:tav tm="100000">
                                          <p:val>
                                            <p:strVal val="#ppt_x"/>
                                          </p:val>
                                        </p:tav>
                                      </p:tavLst>
                                    </p:anim>
                                    <p:anim calcmode="lin" valueType="num">
                                      <p:cBhvr additive="base">
                                        <p:cTn id="92" dur="500" fill="hold"/>
                                        <p:tgtEl>
                                          <p:spTgt spid="38"/>
                                        </p:tgtEl>
                                        <p:attrNameLst>
                                          <p:attrName>ppt_y</p:attrName>
                                        </p:attrNameLst>
                                      </p:cBhvr>
                                      <p:tavLst>
                                        <p:tav tm="0">
                                          <p:val>
                                            <p:strVal val="1+#ppt_h/2"/>
                                          </p:val>
                                        </p:tav>
                                        <p:tav tm="100000">
                                          <p:val>
                                            <p:strVal val="#ppt_y"/>
                                          </p:val>
                                        </p:tav>
                                      </p:tavLst>
                                    </p:anim>
                                  </p:childTnLst>
                                </p:cTn>
                              </p:par>
                              <p:par>
                                <p:cTn id="93" presetID="8" presetClass="entr" presetSubtype="16" fill="hold" grpId="1" nodeType="withEffect">
                                  <p:stCondLst>
                                    <p:cond delay="0"/>
                                  </p:stCondLst>
                                  <p:childTnLst>
                                    <p:set>
                                      <p:cBhvr>
                                        <p:cTn id="94" dur="1" fill="hold">
                                          <p:stCondLst>
                                            <p:cond delay="0"/>
                                          </p:stCondLst>
                                        </p:cTn>
                                        <p:tgtEl>
                                          <p:spTgt spid="36"/>
                                        </p:tgtEl>
                                        <p:attrNameLst>
                                          <p:attrName>style.visibility</p:attrName>
                                        </p:attrNameLst>
                                      </p:cBhvr>
                                      <p:to>
                                        <p:strVal val="visible"/>
                                      </p:to>
                                    </p:set>
                                    <p:animEffect transition="in" filter="diamond(in)">
                                      <p:cBhvr>
                                        <p:cTn id="95" dur="2000"/>
                                        <p:tgtEl>
                                          <p:spTgt spid="36"/>
                                        </p:tgtEl>
                                      </p:cBhvr>
                                    </p:animEffect>
                                  </p:childTnLst>
                                </p:cTn>
                              </p:par>
                            </p:childTnLst>
                          </p:cTn>
                        </p:par>
                      </p:childTnLst>
                    </p:cTn>
                  </p:par>
                  <p:par>
                    <p:cTn id="96" fill="hold">
                      <p:stCondLst>
                        <p:cond delay="indefinite"/>
                      </p:stCondLst>
                      <p:childTnLst>
                        <p:par>
                          <p:cTn id="97" fill="hold">
                            <p:stCondLst>
                              <p:cond delay="0"/>
                            </p:stCondLst>
                            <p:childTnLst>
                              <p:par>
                                <p:cTn id="98" presetID="2" presetClass="entr" presetSubtype="4" fill="hold" grpId="0" nodeType="clickEffect">
                                  <p:stCondLst>
                                    <p:cond delay="0"/>
                                  </p:stCondLst>
                                  <p:childTnLst>
                                    <p:set>
                                      <p:cBhvr>
                                        <p:cTn id="99" dur="1" fill="hold">
                                          <p:stCondLst>
                                            <p:cond delay="0"/>
                                          </p:stCondLst>
                                        </p:cTn>
                                        <p:tgtEl>
                                          <p:spTgt spid="40"/>
                                        </p:tgtEl>
                                        <p:attrNameLst>
                                          <p:attrName>style.visibility</p:attrName>
                                        </p:attrNameLst>
                                      </p:cBhvr>
                                      <p:to>
                                        <p:strVal val="visible"/>
                                      </p:to>
                                    </p:set>
                                    <p:anim calcmode="lin" valueType="num">
                                      <p:cBhvr additive="base">
                                        <p:cTn id="100" dur="500" fill="hold"/>
                                        <p:tgtEl>
                                          <p:spTgt spid="40"/>
                                        </p:tgtEl>
                                        <p:attrNameLst>
                                          <p:attrName>ppt_x</p:attrName>
                                        </p:attrNameLst>
                                      </p:cBhvr>
                                      <p:tavLst>
                                        <p:tav tm="0">
                                          <p:val>
                                            <p:strVal val="#ppt_x"/>
                                          </p:val>
                                        </p:tav>
                                        <p:tav tm="100000">
                                          <p:val>
                                            <p:strVal val="#ppt_x"/>
                                          </p:val>
                                        </p:tav>
                                      </p:tavLst>
                                    </p:anim>
                                    <p:anim calcmode="lin" valueType="num">
                                      <p:cBhvr additive="base">
                                        <p:cTn id="101"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par>
                    <p:cTn id="102" fill="hold">
                      <p:stCondLst>
                        <p:cond delay="indefinite"/>
                      </p:stCondLst>
                      <p:childTnLst>
                        <p:par>
                          <p:cTn id="103" fill="hold">
                            <p:stCondLst>
                              <p:cond delay="0"/>
                            </p:stCondLst>
                            <p:childTnLst>
                              <p:par>
                                <p:cTn id="104" presetID="8" presetClass="entr" presetSubtype="16" fill="hold" grpId="0" nodeType="clickEffect">
                                  <p:stCondLst>
                                    <p:cond delay="0"/>
                                  </p:stCondLst>
                                  <p:childTnLst>
                                    <p:set>
                                      <p:cBhvr>
                                        <p:cTn id="105" dur="1" fill="hold">
                                          <p:stCondLst>
                                            <p:cond delay="0"/>
                                          </p:stCondLst>
                                        </p:cTn>
                                        <p:tgtEl>
                                          <p:spTgt spid="4"/>
                                        </p:tgtEl>
                                        <p:attrNameLst>
                                          <p:attrName>style.visibility</p:attrName>
                                        </p:attrNameLst>
                                      </p:cBhvr>
                                      <p:to>
                                        <p:strVal val="visible"/>
                                      </p:to>
                                    </p:set>
                                    <p:animEffect transition="in" filter="diamond(in)">
                                      <p:cBhvr>
                                        <p:cTn id="106" dur="2000"/>
                                        <p:tgtEl>
                                          <p:spTgt spid="4"/>
                                        </p:tgtEl>
                                      </p:cBhvr>
                                    </p:animEffect>
                                  </p:childTnLst>
                                </p:cTn>
                              </p:par>
                              <p:par>
                                <p:cTn id="107" presetID="2" presetClass="entr" presetSubtype="4" fill="hold" nodeType="withEffect">
                                  <p:stCondLst>
                                    <p:cond delay="0"/>
                                  </p:stCondLst>
                                  <p:childTnLst>
                                    <p:set>
                                      <p:cBhvr>
                                        <p:cTn id="108" dur="1" fill="hold">
                                          <p:stCondLst>
                                            <p:cond delay="0"/>
                                          </p:stCondLst>
                                        </p:cTn>
                                        <p:tgtEl>
                                          <p:spTgt spid="2"/>
                                        </p:tgtEl>
                                        <p:attrNameLst>
                                          <p:attrName>style.visibility</p:attrName>
                                        </p:attrNameLst>
                                      </p:cBhvr>
                                      <p:to>
                                        <p:strVal val="visible"/>
                                      </p:to>
                                    </p:set>
                                    <p:anim calcmode="lin" valueType="num">
                                      <p:cBhvr additive="base">
                                        <p:cTn id="109" dur="500" fill="hold"/>
                                        <p:tgtEl>
                                          <p:spTgt spid="2"/>
                                        </p:tgtEl>
                                        <p:attrNameLst>
                                          <p:attrName>ppt_x</p:attrName>
                                        </p:attrNameLst>
                                      </p:cBhvr>
                                      <p:tavLst>
                                        <p:tav tm="0">
                                          <p:val>
                                            <p:strVal val="#ppt_x"/>
                                          </p:val>
                                        </p:tav>
                                        <p:tav tm="100000">
                                          <p:val>
                                            <p:strVal val="#ppt_x"/>
                                          </p:val>
                                        </p:tav>
                                      </p:tavLst>
                                    </p:anim>
                                    <p:anim calcmode="lin" valueType="num">
                                      <p:cBhvr additive="base">
                                        <p:cTn id="11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animBg="1"/>
      <p:bldP spid="18" grpId="0" animBg="1"/>
      <p:bldP spid="21" grpId="0"/>
      <p:bldP spid="22" grpId="0"/>
      <p:bldP spid="23" grpId="0"/>
      <p:bldP spid="24" grpId="0"/>
      <p:bldP spid="28" grpId="0"/>
      <p:bldP spid="32" grpId="0"/>
      <p:bldP spid="33" grpId="0"/>
      <p:bldP spid="36" grpId="1" animBg="1"/>
      <p:bldP spid="40" grpId="0"/>
      <p:bldP spid="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ign in a field">
            <a:extLst>
              <a:ext uri="{FF2B5EF4-FFF2-40B4-BE49-F238E27FC236}">
                <a16:creationId xmlns:a16="http://schemas.microsoft.com/office/drawing/2014/main" id="{DD0567A9-079F-79BF-772E-00713805B06E}"/>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0" y="0"/>
            <a:ext cx="5378245" cy="6705039"/>
          </a:xfrm>
          <a:prstGeom prst="rect">
            <a:avLst/>
          </a:prstGeom>
        </p:spPr>
      </p:pic>
      <p:grpSp>
        <p:nvGrpSpPr>
          <p:cNvPr id="8" name="Group 7">
            <a:extLst>
              <a:ext uri="{FF2B5EF4-FFF2-40B4-BE49-F238E27FC236}">
                <a16:creationId xmlns:a16="http://schemas.microsoft.com/office/drawing/2014/main" id="{6B560E96-543D-FDF7-3C08-2B2511B9E519}"/>
              </a:ext>
            </a:extLst>
          </p:cNvPr>
          <p:cNvGrpSpPr/>
          <p:nvPr/>
        </p:nvGrpSpPr>
        <p:grpSpPr>
          <a:xfrm>
            <a:off x="7023190" y="71413"/>
            <a:ext cx="3605482" cy="688258"/>
            <a:chOff x="3778544" y="2587"/>
            <a:chExt cx="3929946" cy="688258"/>
          </a:xfrm>
        </p:grpSpPr>
        <p:sp>
          <p:nvSpPr>
            <p:cNvPr id="6" name="Rectangle: Rounded Corners 5">
              <a:extLst>
                <a:ext uri="{FF2B5EF4-FFF2-40B4-BE49-F238E27FC236}">
                  <a16:creationId xmlns:a16="http://schemas.microsoft.com/office/drawing/2014/main" id="{9B291BFA-80C1-5E88-E034-92BB80BEB7B7}"/>
                </a:ext>
              </a:extLst>
            </p:cNvPr>
            <p:cNvSpPr/>
            <p:nvPr/>
          </p:nvSpPr>
          <p:spPr>
            <a:xfrm>
              <a:off x="3778544" y="2587"/>
              <a:ext cx="3802127" cy="688258"/>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5" name="TextBox 4">
              <a:extLst>
                <a:ext uri="{FF2B5EF4-FFF2-40B4-BE49-F238E27FC236}">
                  <a16:creationId xmlns:a16="http://schemas.microsoft.com/office/drawing/2014/main" id="{47F94491-8105-B497-D469-C0DE7D14DD28}"/>
                </a:ext>
              </a:extLst>
            </p:cNvPr>
            <p:cNvSpPr txBox="1"/>
            <p:nvPr/>
          </p:nvSpPr>
          <p:spPr>
            <a:xfrm>
              <a:off x="3778544" y="113330"/>
              <a:ext cx="3929946" cy="466773"/>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l-GR" sz="2200" b="1" dirty="0">
                  <a:latin typeface="+mj-lt"/>
                  <a:ea typeface="+mj-ea"/>
                  <a:cs typeface="+mj-cs"/>
                </a:rPr>
                <a:t>ΠΡΟΤΑΣΕΙΣ ΓΙΑ ΤΟ ΜΕΛΛΟΝ</a:t>
              </a:r>
              <a:endParaRPr lang="en-US" sz="2200" b="1" kern="1200" dirty="0">
                <a:solidFill>
                  <a:schemeClr val="tx1"/>
                </a:solidFill>
                <a:latin typeface="+mj-lt"/>
                <a:ea typeface="+mj-ea"/>
                <a:cs typeface="+mj-cs"/>
              </a:endParaRPr>
            </a:p>
          </p:txBody>
        </p:sp>
      </p:grpSp>
      <p:sp>
        <p:nvSpPr>
          <p:cNvPr id="7" name="TextBox 6">
            <a:extLst>
              <a:ext uri="{FF2B5EF4-FFF2-40B4-BE49-F238E27FC236}">
                <a16:creationId xmlns:a16="http://schemas.microsoft.com/office/drawing/2014/main" id="{03151DDF-7C01-CF56-3CBC-5407B5659D5B}"/>
              </a:ext>
            </a:extLst>
          </p:cNvPr>
          <p:cNvSpPr txBox="1"/>
          <p:nvPr/>
        </p:nvSpPr>
        <p:spPr>
          <a:xfrm>
            <a:off x="5673213" y="1067769"/>
            <a:ext cx="2684206" cy="307777"/>
          </a:xfrm>
          <a:prstGeom prst="rect">
            <a:avLst/>
          </a:prstGeom>
          <a:noFill/>
        </p:spPr>
        <p:txBody>
          <a:bodyPr wrap="square" rtlCol="0">
            <a:spAutoFit/>
          </a:bodyPr>
          <a:lstStyle/>
          <a:p>
            <a:r>
              <a:rPr lang="el-GR" sz="1400" b="1" dirty="0"/>
              <a:t>4. </a:t>
            </a:r>
            <a:r>
              <a:rPr lang="el-GR" sz="1400" dirty="0"/>
              <a:t>Διεύρυνση γκάμας προϊόντων </a:t>
            </a:r>
            <a:r>
              <a:rPr lang="el-GR" sz="1400" b="1" dirty="0"/>
              <a:t> </a:t>
            </a:r>
          </a:p>
        </p:txBody>
      </p:sp>
      <p:sp>
        <p:nvSpPr>
          <p:cNvPr id="9" name="Arrow: Right 8">
            <a:extLst>
              <a:ext uri="{FF2B5EF4-FFF2-40B4-BE49-F238E27FC236}">
                <a16:creationId xmlns:a16="http://schemas.microsoft.com/office/drawing/2014/main" id="{05E98659-E742-ADD7-A837-DB324581639B}"/>
              </a:ext>
            </a:extLst>
          </p:cNvPr>
          <p:cNvSpPr/>
          <p:nvPr/>
        </p:nvSpPr>
        <p:spPr>
          <a:xfrm>
            <a:off x="8481802" y="1133651"/>
            <a:ext cx="688258" cy="17601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11" name="TextBox 10">
            <a:extLst>
              <a:ext uri="{FF2B5EF4-FFF2-40B4-BE49-F238E27FC236}">
                <a16:creationId xmlns:a16="http://schemas.microsoft.com/office/drawing/2014/main" id="{61D72176-DA19-A816-B992-6FE1E5E8EBCF}"/>
              </a:ext>
            </a:extLst>
          </p:cNvPr>
          <p:cNvSpPr txBox="1"/>
          <p:nvPr/>
        </p:nvSpPr>
        <p:spPr>
          <a:xfrm>
            <a:off x="9286569" y="1053990"/>
            <a:ext cx="2684206" cy="307777"/>
          </a:xfrm>
          <a:prstGeom prst="rect">
            <a:avLst/>
          </a:prstGeom>
          <a:noFill/>
        </p:spPr>
        <p:txBody>
          <a:bodyPr wrap="square" rtlCol="0">
            <a:spAutoFit/>
          </a:bodyPr>
          <a:lstStyle/>
          <a:p>
            <a:r>
              <a:rPr lang="el-GR" sz="1400" dirty="0"/>
              <a:t>Προσέλκυση νέων πελατών</a:t>
            </a:r>
          </a:p>
        </p:txBody>
      </p:sp>
      <p:sp>
        <p:nvSpPr>
          <p:cNvPr id="14" name="TextBox 13">
            <a:extLst>
              <a:ext uri="{FF2B5EF4-FFF2-40B4-BE49-F238E27FC236}">
                <a16:creationId xmlns:a16="http://schemas.microsoft.com/office/drawing/2014/main" id="{AD6913D4-2928-D4B5-F40C-1760CA82B542}"/>
              </a:ext>
            </a:extLst>
          </p:cNvPr>
          <p:cNvSpPr txBox="1"/>
          <p:nvPr/>
        </p:nvSpPr>
        <p:spPr>
          <a:xfrm>
            <a:off x="5673213" y="2035278"/>
            <a:ext cx="4650658" cy="307777"/>
          </a:xfrm>
          <a:prstGeom prst="rect">
            <a:avLst/>
          </a:prstGeom>
          <a:noFill/>
        </p:spPr>
        <p:txBody>
          <a:bodyPr wrap="square" rtlCol="0">
            <a:spAutoFit/>
          </a:bodyPr>
          <a:lstStyle/>
          <a:p>
            <a:r>
              <a:rPr lang="el-GR" sz="1400" b="1" dirty="0"/>
              <a:t>5.</a:t>
            </a:r>
            <a:r>
              <a:rPr lang="el-GR" sz="1400" dirty="0"/>
              <a:t> </a:t>
            </a:r>
            <a:r>
              <a:rPr lang="el-GR" sz="1400" b="1" dirty="0"/>
              <a:t>Ανάπτυξη Στρατηγικών Συμμαχιών</a:t>
            </a:r>
            <a:r>
              <a:rPr lang="el-GR" sz="1400" dirty="0"/>
              <a:t>  με άλλες εταιρείες</a:t>
            </a:r>
          </a:p>
        </p:txBody>
      </p:sp>
      <p:sp>
        <p:nvSpPr>
          <p:cNvPr id="15" name="Arrow: Right 14">
            <a:extLst>
              <a:ext uri="{FF2B5EF4-FFF2-40B4-BE49-F238E27FC236}">
                <a16:creationId xmlns:a16="http://schemas.microsoft.com/office/drawing/2014/main" id="{D4884A10-7C7E-BCBC-F8A7-C6EE6F4EEA0B}"/>
              </a:ext>
            </a:extLst>
          </p:cNvPr>
          <p:cNvSpPr/>
          <p:nvPr/>
        </p:nvSpPr>
        <p:spPr>
          <a:xfrm rot="5400000">
            <a:off x="7649012" y="2727225"/>
            <a:ext cx="688258" cy="17601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17" name="TextBox 16">
            <a:extLst>
              <a:ext uri="{FF2B5EF4-FFF2-40B4-BE49-F238E27FC236}">
                <a16:creationId xmlns:a16="http://schemas.microsoft.com/office/drawing/2014/main" id="{52477C8A-7DB7-C887-E276-96B3441F6FC3}"/>
              </a:ext>
            </a:extLst>
          </p:cNvPr>
          <p:cNvSpPr txBox="1"/>
          <p:nvPr/>
        </p:nvSpPr>
        <p:spPr>
          <a:xfrm>
            <a:off x="6646606" y="3287406"/>
            <a:ext cx="3057832" cy="307777"/>
          </a:xfrm>
          <a:prstGeom prst="rect">
            <a:avLst/>
          </a:prstGeom>
          <a:noFill/>
        </p:spPr>
        <p:txBody>
          <a:bodyPr wrap="square" rtlCol="0">
            <a:spAutoFit/>
          </a:bodyPr>
          <a:lstStyle/>
          <a:p>
            <a:r>
              <a:rPr lang="el-GR" sz="1400" dirty="0"/>
              <a:t>Απόκτηση περαιτέρω τεχνογνωσίας</a:t>
            </a:r>
          </a:p>
        </p:txBody>
      </p:sp>
      <p:pic>
        <p:nvPicPr>
          <p:cNvPr id="20" name="Picture 19" descr="Close-up of hands shaking">
            <a:extLst>
              <a:ext uri="{FF2B5EF4-FFF2-40B4-BE49-F238E27FC236}">
                <a16:creationId xmlns:a16="http://schemas.microsoft.com/office/drawing/2014/main" id="{A91715FB-98E5-77A0-C30F-652668C18CBB}"/>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10418757" y="1915324"/>
            <a:ext cx="1480998" cy="987814"/>
          </a:xfrm>
          <a:prstGeom prst="rect">
            <a:avLst/>
          </a:prstGeom>
        </p:spPr>
      </p:pic>
      <p:sp>
        <p:nvSpPr>
          <p:cNvPr id="2" name="Oval 1">
            <a:extLst>
              <a:ext uri="{FF2B5EF4-FFF2-40B4-BE49-F238E27FC236}">
                <a16:creationId xmlns:a16="http://schemas.microsoft.com/office/drawing/2014/main" id="{6622F8E1-5B92-2031-A9DA-390C1787C8E3}"/>
              </a:ext>
            </a:extLst>
          </p:cNvPr>
          <p:cNvSpPr/>
          <p:nvPr/>
        </p:nvSpPr>
        <p:spPr>
          <a:xfrm>
            <a:off x="6380166" y="3186646"/>
            <a:ext cx="3401961" cy="511995"/>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l-GR"/>
          </a:p>
        </p:txBody>
      </p:sp>
    </p:spTree>
    <p:extLst>
      <p:ext uri="{BB962C8B-B14F-4D97-AF65-F5344CB8AC3E}">
        <p14:creationId xmlns:p14="http://schemas.microsoft.com/office/powerpoint/2010/main" val="30226922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down)">
                                      <p:cBhvr>
                                        <p:cTn id="11" dur="500"/>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p:cTn id="21" dur="500" fill="hold"/>
                                        <p:tgtEl>
                                          <p:spTgt spid="9"/>
                                        </p:tgtEl>
                                        <p:attrNameLst>
                                          <p:attrName>ppt_w</p:attrName>
                                        </p:attrNameLst>
                                      </p:cBhvr>
                                      <p:tavLst>
                                        <p:tav tm="0">
                                          <p:val>
                                            <p:fltVal val="0"/>
                                          </p:val>
                                        </p:tav>
                                        <p:tav tm="100000">
                                          <p:val>
                                            <p:strVal val="#ppt_w"/>
                                          </p:val>
                                        </p:tav>
                                      </p:tavLst>
                                    </p:anim>
                                    <p:anim calcmode="lin" valueType="num">
                                      <p:cBhvr>
                                        <p:cTn id="22" dur="500" fill="hold"/>
                                        <p:tgtEl>
                                          <p:spTgt spid="9"/>
                                        </p:tgtEl>
                                        <p:attrNameLst>
                                          <p:attrName>ppt_h</p:attrName>
                                        </p:attrNameLst>
                                      </p:cBhvr>
                                      <p:tavLst>
                                        <p:tav tm="0">
                                          <p:val>
                                            <p:fltVal val="0"/>
                                          </p:val>
                                        </p:tav>
                                        <p:tav tm="100000">
                                          <p:val>
                                            <p:strVal val="#ppt_h"/>
                                          </p:val>
                                        </p:tav>
                                      </p:tavLst>
                                    </p:anim>
                                    <p:animEffect transition="in" filter="fade">
                                      <p:cBhvr>
                                        <p:cTn id="23" dur="500"/>
                                        <p:tgtEl>
                                          <p:spTgt spid="9"/>
                                        </p:tgtEl>
                                      </p:cBhvr>
                                    </p:animEffect>
                                  </p:childTnLst>
                                </p:cTn>
                              </p:par>
                              <p:par>
                                <p:cTn id="24" presetID="2" presetClass="entr" presetSubtype="4"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 calcmode="lin" valueType="num">
                                      <p:cBhvr additive="base">
                                        <p:cTn id="26" dur="500" fill="hold"/>
                                        <p:tgtEl>
                                          <p:spTgt spid="11"/>
                                        </p:tgtEl>
                                        <p:attrNameLst>
                                          <p:attrName>ppt_x</p:attrName>
                                        </p:attrNameLst>
                                      </p:cBhvr>
                                      <p:tavLst>
                                        <p:tav tm="0">
                                          <p:val>
                                            <p:strVal val="#ppt_x"/>
                                          </p:val>
                                        </p:tav>
                                        <p:tav tm="100000">
                                          <p:val>
                                            <p:strVal val="#ppt_x"/>
                                          </p:val>
                                        </p:tav>
                                      </p:tavLst>
                                    </p:anim>
                                    <p:anim calcmode="lin" valueType="num">
                                      <p:cBhvr additive="base">
                                        <p:cTn id="27"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00"/>
                                        <p:tgtEl>
                                          <p:spTgt spid="14"/>
                                        </p:tgtEl>
                                      </p:cBhvr>
                                    </p:animEffect>
                                  </p:childTnLst>
                                </p:cTn>
                              </p:par>
                            </p:childTnLst>
                          </p:cTn>
                        </p:par>
                        <p:par>
                          <p:cTn id="33" fill="hold">
                            <p:stCondLst>
                              <p:cond delay="500"/>
                            </p:stCondLst>
                            <p:childTnLst>
                              <p:par>
                                <p:cTn id="34" presetID="42" presetClass="entr" presetSubtype="0" fill="hold" nodeType="after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6" dur="1000"/>
                                        <p:tgtEl>
                                          <p:spTgt spid="20"/>
                                        </p:tgtEl>
                                      </p:cBhvr>
                                    </p:animEffect>
                                    <p:anim calcmode="lin" valueType="num">
                                      <p:cBhvr>
                                        <p:cTn id="37" dur="1000" fill="hold"/>
                                        <p:tgtEl>
                                          <p:spTgt spid="20"/>
                                        </p:tgtEl>
                                        <p:attrNameLst>
                                          <p:attrName>ppt_x</p:attrName>
                                        </p:attrNameLst>
                                      </p:cBhvr>
                                      <p:tavLst>
                                        <p:tav tm="0">
                                          <p:val>
                                            <p:strVal val="#ppt_x"/>
                                          </p:val>
                                        </p:tav>
                                        <p:tav tm="100000">
                                          <p:val>
                                            <p:strVal val="#ppt_x"/>
                                          </p:val>
                                        </p:tav>
                                      </p:tavLst>
                                    </p:anim>
                                    <p:anim calcmode="lin" valueType="num">
                                      <p:cBhvr>
                                        <p:cTn id="38"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53" presetClass="entr" presetSubtype="16" fill="hold" grpId="0" nodeType="clickEffect">
                                  <p:stCondLst>
                                    <p:cond delay="0"/>
                                  </p:stCondLst>
                                  <p:childTnLst>
                                    <p:set>
                                      <p:cBhvr>
                                        <p:cTn id="42" dur="1" fill="hold">
                                          <p:stCondLst>
                                            <p:cond delay="0"/>
                                          </p:stCondLst>
                                        </p:cTn>
                                        <p:tgtEl>
                                          <p:spTgt spid="15"/>
                                        </p:tgtEl>
                                        <p:attrNameLst>
                                          <p:attrName>style.visibility</p:attrName>
                                        </p:attrNameLst>
                                      </p:cBhvr>
                                      <p:to>
                                        <p:strVal val="visible"/>
                                      </p:to>
                                    </p:set>
                                    <p:anim calcmode="lin" valueType="num">
                                      <p:cBhvr>
                                        <p:cTn id="43" dur="500" fill="hold"/>
                                        <p:tgtEl>
                                          <p:spTgt spid="15"/>
                                        </p:tgtEl>
                                        <p:attrNameLst>
                                          <p:attrName>ppt_w</p:attrName>
                                        </p:attrNameLst>
                                      </p:cBhvr>
                                      <p:tavLst>
                                        <p:tav tm="0">
                                          <p:val>
                                            <p:fltVal val="0"/>
                                          </p:val>
                                        </p:tav>
                                        <p:tav tm="100000">
                                          <p:val>
                                            <p:strVal val="#ppt_w"/>
                                          </p:val>
                                        </p:tav>
                                      </p:tavLst>
                                    </p:anim>
                                    <p:anim calcmode="lin" valueType="num">
                                      <p:cBhvr>
                                        <p:cTn id="44" dur="500" fill="hold"/>
                                        <p:tgtEl>
                                          <p:spTgt spid="15"/>
                                        </p:tgtEl>
                                        <p:attrNameLst>
                                          <p:attrName>ppt_h</p:attrName>
                                        </p:attrNameLst>
                                      </p:cBhvr>
                                      <p:tavLst>
                                        <p:tav tm="0">
                                          <p:val>
                                            <p:fltVal val="0"/>
                                          </p:val>
                                        </p:tav>
                                        <p:tav tm="100000">
                                          <p:val>
                                            <p:strVal val="#ppt_h"/>
                                          </p:val>
                                        </p:tav>
                                      </p:tavLst>
                                    </p:anim>
                                    <p:animEffect transition="in" filter="fade">
                                      <p:cBhvr>
                                        <p:cTn id="45" dur="500"/>
                                        <p:tgtEl>
                                          <p:spTgt spid="15"/>
                                        </p:tgtEl>
                                      </p:cBhvr>
                                    </p:animEffect>
                                  </p:childTnLst>
                                </p:cTn>
                              </p:par>
                            </p:childTnLst>
                          </p:cTn>
                        </p:par>
                        <p:par>
                          <p:cTn id="46" fill="hold">
                            <p:stCondLst>
                              <p:cond delay="500"/>
                            </p:stCondLst>
                            <p:childTnLst>
                              <p:par>
                                <p:cTn id="47" presetID="2" presetClass="entr" presetSubtype="4" fill="hold" grpId="0" nodeType="afterEffect">
                                  <p:stCondLst>
                                    <p:cond delay="0"/>
                                  </p:stCondLst>
                                  <p:childTnLst>
                                    <p:set>
                                      <p:cBhvr>
                                        <p:cTn id="48" dur="1" fill="hold">
                                          <p:stCondLst>
                                            <p:cond delay="0"/>
                                          </p:stCondLst>
                                        </p:cTn>
                                        <p:tgtEl>
                                          <p:spTgt spid="17"/>
                                        </p:tgtEl>
                                        <p:attrNameLst>
                                          <p:attrName>style.visibility</p:attrName>
                                        </p:attrNameLst>
                                      </p:cBhvr>
                                      <p:to>
                                        <p:strVal val="visible"/>
                                      </p:to>
                                    </p:set>
                                    <p:anim calcmode="lin" valueType="num">
                                      <p:cBhvr additive="base">
                                        <p:cTn id="49" dur="500" fill="hold"/>
                                        <p:tgtEl>
                                          <p:spTgt spid="17"/>
                                        </p:tgtEl>
                                        <p:attrNameLst>
                                          <p:attrName>ppt_x</p:attrName>
                                        </p:attrNameLst>
                                      </p:cBhvr>
                                      <p:tavLst>
                                        <p:tav tm="0">
                                          <p:val>
                                            <p:strVal val="#ppt_x"/>
                                          </p:val>
                                        </p:tav>
                                        <p:tav tm="100000">
                                          <p:val>
                                            <p:strVal val="#ppt_x"/>
                                          </p:val>
                                        </p:tav>
                                      </p:tavLst>
                                    </p:anim>
                                    <p:anim calcmode="lin" valueType="num">
                                      <p:cBhvr additive="base">
                                        <p:cTn id="50" dur="500" fill="hold"/>
                                        <p:tgtEl>
                                          <p:spTgt spid="17"/>
                                        </p:tgtEl>
                                        <p:attrNameLst>
                                          <p:attrName>ppt_y</p:attrName>
                                        </p:attrNameLst>
                                      </p:cBhvr>
                                      <p:tavLst>
                                        <p:tav tm="0">
                                          <p:val>
                                            <p:strVal val="1+#ppt_h/2"/>
                                          </p:val>
                                        </p:tav>
                                        <p:tav tm="100000">
                                          <p:val>
                                            <p:strVal val="#ppt_y"/>
                                          </p:val>
                                        </p:tav>
                                      </p:tavLst>
                                    </p:anim>
                                  </p:childTnLst>
                                </p:cTn>
                              </p:par>
                            </p:childTnLst>
                          </p:cTn>
                        </p:par>
                        <p:par>
                          <p:cTn id="51" fill="hold">
                            <p:stCondLst>
                              <p:cond delay="1000"/>
                            </p:stCondLst>
                            <p:childTnLst>
                              <p:par>
                                <p:cTn id="52" presetID="21" presetClass="entr" presetSubtype="1" fill="hold" grpId="0" nodeType="afterEffect">
                                  <p:stCondLst>
                                    <p:cond delay="0"/>
                                  </p:stCondLst>
                                  <p:childTnLst>
                                    <p:set>
                                      <p:cBhvr>
                                        <p:cTn id="53" dur="1" fill="hold">
                                          <p:stCondLst>
                                            <p:cond delay="0"/>
                                          </p:stCondLst>
                                        </p:cTn>
                                        <p:tgtEl>
                                          <p:spTgt spid="2"/>
                                        </p:tgtEl>
                                        <p:attrNameLst>
                                          <p:attrName>style.visibility</p:attrName>
                                        </p:attrNameLst>
                                      </p:cBhvr>
                                      <p:to>
                                        <p:strVal val="visible"/>
                                      </p:to>
                                    </p:set>
                                    <p:animEffect transition="in" filter="wheel(1)">
                                      <p:cBhvr>
                                        <p:cTn id="54"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animBg="1"/>
      <p:bldP spid="11" grpId="0"/>
      <p:bldP spid="14" grpId="0"/>
      <p:bldP spid="15" grpId="0" animBg="1"/>
      <p:bldP spid="17" grpId="0"/>
      <p:bldP spid="2"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Θέμα του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Συλλογη">
  <a:themeElements>
    <a:clrScheme name="Συλλογη">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Συλλογη">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Συλλογη">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690</TotalTime>
  <Words>1230</Words>
  <Application>Microsoft Office PowerPoint</Application>
  <PresentationFormat>Widescreen</PresentationFormat>
  <Paragraphs>154</Paragraphs>
  <Slides>18</Slides>
  <Notes>1</Notes>
  <HiddenSlides>0</HiddenSlides>
  <MMClips>0</MMClips>
  <ScaleCrop>false</ScaleCrop>
  <HeadingPairs>
    <vt:vector size="6" baseType="variant">
      <vt:variant>
        <vt:lpstr>Fonts Used</vt:lpstr>
      </vt:variant>
      <vt:variant>
        <vt:i4>8</vt:i4>
      </vt:variant>
      <vt:variant>
        <vt:lpstr>Theme</vt:lpstr>
      </vt:variant>
      <vt:variant>
        <vt:i4>4</vt:i4>
      </vt:variant>
      <vt:variant>
        <vt:lpstr>Slide Titles</vt:lpstr>
      </vt:variant>
      <vt:variant>
        <vt:i4>18</vt:i4>
      </vt:variant>
    </vt:vector>
  </HeadingPairs>
  <TitlesOfParts>
    <vt:vector size="30" baseType="lpstr">
      <vt:lpstr>Aptos</vt:lpstr>
      <vt:lpstr>Aptos Display</vt:lpstr>
      <vt:lpstr>Arial</vt:lpstr>
      <vt:lpstr>Calibri</vt:lpstr>
      <vt:lpstr>Calibri Light</vt:lpstr>
      <vt:lpstr>Georgia</vt:lpstr>
      <vt:lpstr>Gill Sans MT</vt:lpstr>
      <vt:lpstr>Times New Roman</vt:lpstr>
      <vt:lpstr>Office Theme</vt:lpstr>
      <vt:lpstr>Θέμα του Office</vt:lpstr>
      <vt:lpstr>Office Theme</vt:lpstr>
      <vt:lpstr>Συλλογη</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ΣΥΝΟΛΙΚΗ ΕΚΤΙΜΗΣΗ ΔΥΝΑΜΕΩΝ-ΑΔΥΝΑΜΙΩΝ-ΕΥΚΑΙΡΙΩΝ-ΑΠΕΙΛΩΝ(ΑΝΑΛΥΣΗ SWOT) </vt:lpstr>
      <vt:lpstr>ΣΥΝΟΛΙΚΗ ΕΚΤΙΜΗΣΗ ΔΥΝΑΜΕΩΝ-ΑΔΥΝΑΜΙΩΝ-ΕΥΚΑΙΡΙΩΝ- ΑΠΕΙΛΩΝ(ΑΝΑΛΥΣΗ SWOT)</vt:lpstr>
      <vt:lpstr> ΕταιρικΗ στρατηγικΗ</vt:lpstr>
      <vt:lpstr>ΣτρατηγικΗ Ανταγωνιστικoυ Πλεονεκτματος</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IOANNIS MONOCHOLIAS</dc:creator>
  <cp:lastModifiedBy>IOANNIS MONOCHOLIAS</cp:lastModifiedBy>
  <cp:revision>191</cp:revision>
  <dcterms:created xsi:type="dcterms:W3CDTF">2024-06-27T16:50:59Z</dcterms:created>
  <dcterms:modified xsi:type="dcterms:W3CDTF">2025-03-19T22:07:02Z</dcterms:modified>
</cp:coreProperties>
</file>